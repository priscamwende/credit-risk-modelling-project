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6.xml" ContentType="application/vnd.openxmlformats-officedocument.drawingml.chart+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77" r:id="rId9"/>
    <p:sldId id="279" r:id="rId10"/>
    <p:sldId id="282" r:id="rId11"/>
    <p:sldId id="283" r:id="rId12"/>
    <p:sldId id="284" r:id="rId13"/>
    <p:sldId id="285" r:id="rId14"/>
    <p:sldId id="286" r:id="rId15"/>
    <p:sldId id="287" r:id="rId16"/>
    <p:sldId id="299" r:id="rId17"/>
    <p:sldId id="301" r:id="rId18"/>
    <p:sldId id="302" r:id="rId19"/>
    <p:sldId id="303" r:id="rId20"/>
    <p:sldId id="293" r:id="rId21"/>
    <p:sldId id="294" r:id="rId22"/>
    <p:sldId id="295" r:id="rId23"/>
    <p:sldId id="296" r:id="rId24"/>
    <p:sldId id="297" r:id="rId25"/>
    <p:sldId id="304" r:id="rId26"/>
    <p:sldId id="298"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2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solidFill>
                <a:srgbClr val="5B6472"/>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 with TARGET</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D250-4CED-A97B-651B984CF97D}"/>
              </c:ext>
            </c:extLst>
          </c:dPt>
          <c:dPt>
            <c:idx val="1"/>
            <c:invertIfNegative val="0"/>
            <c:bubble3D val="0"/>
            <c:extLst>
              <c:ext xmlns:c16="http://schemas.microsoft.com/office/drawing/2014/chart" uri="{C3380CC4-5D6E-409C-BE32-E72D297353CC}">
                <c16:uniqueId val="{00000003-D250-4CED-A97B-651B984CF97D}"/>
              </c:ext>
            </c:extLst>
          </c:dPt>
          <c:dPt>
            <c:idx val="2"/>
            <c:invertIfNegative val="0"/>
            <c:bubble3D val="0"/>
            <c:extLst>
              <c:ext xmlns:c16="http://schemas.microsoft.com/office/drawing/2014/chart" uri="{C3380CC4-5D6E-409C-BE32-E72D297353CC}">
                <c16:uniqueId val="{00000005-D250-4CED-A97B-651B984CF97D}"/>
              </c:ext>
            </c:extLst>
          </c:dPt>
          <c:dPt>
            <c:idx val="3"/>
            <c:invertIfNegative val="0"/>
            <c:bubble3D val="0"/>
            <c:spPr>
              <a:solidFill>
                <a:srgbClr val="0F9D8A"/>
              </a:solidFill>
              <a:effectLst/>
            </c:spPr>
            <c:extLst>
              <c:ext xmlns:c16="http://schemas.microsoft.com/office/drawing/2014/chart" uri="{C3380CC4-5D6E-409C-BE32-E72D297353CC}">
                <c16:uniqueId val="{00000007-D250-4CED-A97B-651B984CF97D}"/>
              </c:ext>
            </c:extLst>
          </c:dPt>
          <c:dPt>
            <c:idx val="4"/>
            <c:invertIfNegative val="0"/>
            <c:bubble3D val="0"/>
            <c:spPr>
              <a:solidFill>
                <a:srgbClr val="0F9D8A"/>
              </a:solidFill>
              <a:effectLst/>
            </c:spPr>
            <c:extLst>
              <c:ext xmlns:c16="http://schemas.microsoft.com/office/drawing/2014/chart" uri="{C3380CC4-5D6E-409C-BE32-E72D297353CC}">
                <c16:uniqueId val="{00000009-D250-4CED-A97B-651B984CF97D}"/>
              </c:ext>
            </c:extLst>
          </c:dPt>
          <c:dPt>
            <c:idx val="5"/>
            <c:invertIfNegative val="0"/>
            <c:bubble3D val="0"/>
            <c:spPr>
              <a:solidFill>
                <a:srgbClr val="0F9D8A"/>
              </a:solidFill>
              <a:effectLst/>
            </c:spPr>
            <c:extLst>
              <c:ext xmlns:c16="http://schemas.microsoft.com/office/drawing/2014/chart" uri="{C3380CC4-5D6E-409C-BE32-E72D297353CC}">
                <c16:uniqueId val="{0000000B-D250-4CED-A97B-651B984CF97D}"/>
              </c:ext>
            </c:extLst>
          </c:dPt>
          <c:dLbls>
            <c:numFmt formatCode="0.00" sourceLinked="0"/>
            <c:spPr>
              <a:noFill/>
              <a:ln>
                <a:noFill/>
              </a:ln>
              <a:effectLst/>
            </c:spPr>
            <c:txPr>
              <a:bodyPr/>
              <a:lstStyle/>
              <a:p>
                <a:pPr>
                  <a:defRPr sz="10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EXT_SOURCE_1 (raw)</c:v>
                </c:pt>
                <c:pt idx="1">
                  <c:v>EXT_SOURCE_3 (raw)</c:v>
                </c:pt>
                <c:pt idx="2">
                  <c:v>EXT_SOURCE_2 (raw)</c:v>
                </c:pt>
                <c:pt idx="3">
                  <c:v>EXT_SOURCE_MAX (engineered)</c:v>
                </c:pt>
                <c:pt idx="4">
                  <c:v>EXT_SOURCE_MIN (engineered)</c:v>
                </c:pt>
                <c:pt idx="5">
                  <c:v>EXT_SOURCE_SUM / MEAN (engineered)</c:v>
                </c:pt>
              </c:strCache>
            </c:strRef>
          </c:cat>
          <c:val>
            <c:numRef>
              <c:f>Sheet1!$B$2:$B$7</c:f>
              <c:numCache>
                <c:formatCode>General</c:formatCode>
                <c:ptCount val="6"/>
                <c:pt idx="0">
                  <c:v>-9.8887000000000003E-2</c:v>
                </c:pt>
                <c:pt idx="1">
                  <c:v>-0.155892</c:v>
                </c:pt>
                <c:pt idx="2">
                  <c:v>-0.16029499999999999</c:v>
                </c:pt>
                <c:pt idx="3">
                  <c:v>-0.17419299999999999</c:v>
                </c:pt>
                <c:pt idx="4">
                  <c:v>-0.19275</c:v>
                </c:pt>
                <c:pt idx="5">
                  <c:v>-0.22084000000000001</c:v>
                </c:pt>
              </c:numCache>
            </c:numRef>
          </c:val>
          <c:extLst>
            <c:ext xmlns:c16="http://schemas.microsoft.com/office/drawing/2014/chart" uri="{C3380CC4-5D6E-409C-BE32-E72D297353CC}">
              <c16:uniqueId val="{0000000C-D250-4CED-A97B-651B984CF97D}"/>
            </c:ext>
          </c:extLst>
        </c:ser>
        <c:dLbls>
          <c:dLblPos val="inEnd"/>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0"/>
          <c:min val="-0.25"/>
        </c:scaling>
        <c:delete val="0"/>
        <c:axPos val="b"/>
        <c:majorGridlines>
          <c:spPr>
            <a:ln w="6350" cap="flat">
              <a:solidFill>
                <a:srgbClr val="D8DE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4747"/>
                </a:solidFill>
                <a:latin typeface="Arial"/>
              </a:defRPr>
            </a:pPr>
            <a:endParaRPr lang="en-US"/>
          </a:p>
        </c:txPr>
        <c:crossAx val="2094734554"/>
        <c:crosses val="autoZero"/>
        <c:crossBetween val="between"/>
      </c:valAx>
      <c:spPr>
        <a:solidFill>
          <a:srgbClr val="E4EBF7"/>
        </a:solidFill>
        <a:ln>
          <a:noFill/>
        </a:ln>
        <a:effectLst>
          <a:outerShdw blurRad="50800" dist="38100" dir="18900000" algn="bl" rotWithShape="0">
            <a:prstClr val="black">
              <a:alpha val="40000"/>
            </a:prstClr>
          </a:outerShdw>
        </a:effectLst>
      </c:spPr>
    </c:plotArea>
    <c:plotVisOnly val="1"/>
    <c:dispBlanksAs val="span"/>
    <c:showDLblsOverMax val="1"/>
  </c:chart>
  <c:spPr>
    <a:solidFill>
      <a:srgbClr val="E4EBF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ROC-AUC</c:v>
                </c:pt>
              </c:strCache>
            </c:strRef>
          </c:tx>
          <c:spPr>
            <a:solidFill>
              <a:srgbClr val="1E2761"/>
            </a:solidFill>
            <a:effectLst/>
          </c:spPr>
          <c:invertIfNegative val="0"/>
          <c:dLbls>
            <c:numFmt formatCode="0.000" sourceLinked="0"/>
            <c:spPr>
              <a:noFill/>
              <a:ln>
                <a:noFill/>
              </a:ln>
              <a:effectLst/>
            </c:spPr>
            <c:txPr>
              <a:bodyPr/>
              <a:lstStyle/>
              <a:p>
                <a:pPr>
                  <a:defRPr sz="11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 Forest</c:v>
                </c:pt>
                <c:pt idx="1">
                  <c:v>XGBoost</c:v>
                </c:pt>
                <c:pt idx="2">
                  <c:v>Logistic
Regression</c:v>
                </c:pt>
                <c:pt idx="3">
                  <c:v>CatBoost</c:v>
                </c:pt>
                <c:pt idx="4">
                  <c:v>LightGBM</c:v>
                </c:pt>
              </c:strCache>
            </c:strRef>
          </c:cat>
          <c:val>
            <c:numRef>
              <c:f>Sheet1!$B$2:$B$6</c:f>
              <c:numCache>
                <c:formatCode>General</c:formatCode>
                <c:ptCount val="5"/>
                <c:pt idx="0">
                  <c:v>0.73524199999999995</c:v>
                </c:pt>
                <c:pt idx="1">
                  <c:v>0.77386699999999997</c:v>
                </c:pt>
                <c:pt idx="2">
                  <c:v>0.77863300000000002</c:v>
                </c:pt>
                <c:pt idx="3">
                  <c:v>0.78033799999999998</c:v>
                </c:pt>
                <c:pt idx="4">
                  <c:v>0.78231200000000001</c:v>
                </c:pt>
              </c:numCache>
            </c:numRef>
          </c:val>
          <c:extLst>
            <c:ext xmlns:c16="http://schemas.microsoft.com/office/drawing/2014/chart" uri="{C3380CC4-5D6E-409C-BE32-E72D297353CC}">
              <c16:uniqueId val="{00000000-861A-4794-BB28-D675833D13E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1"/>
        <c:axPos val="l"/>
        <c:numFmt formatCode="General" sourceLinked="0"/>
        <c:majorTickMark val="out"/>
        <c:minorTickMark val="none"/>
        <c:tickLblPos val="nextTo"/>
        <c:crossAx val="2094734554"/>
        <c:crosses val="autoZero"/>
        <c:crossBetween val="between"/>
      </c:valAx>
      <c:spPr>
        <a:solidFill>
          <a:srgbClr val="E4EBF7"/>
        </a:solidFill>
        <a:ln>
          <a:noFill/>
        </a:ln>
        <a:effectLst/>
      </c:spPr>
    </c:plotArea>
    <c:plotVisOnly val="1"/>
    <c:dispBlanksAs val="span"/>
    <c:showDLblsOverMax val="1"/>
  </c:chart>
  <c:spPr>
    <a:solidFill>
      <a:srgbClr val="E4EBF7"/>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CV ROC-AUC Mean</c:v>
                </c:pt>
              </c:strCache>
            </c:strRef>
          </c:tx>
          <c:spPr>
            <a:solidFill>
              <a:srgbClr val="1E2761"/>
            </a:solidFill>
            <a:effectLst>
              <a:outerShdw blurRad="50800" dist="38100" dir="18900000" algn="bl" rotWithShape="0">
                <a:prstClr val="black">
                  <a:alpha val="40000"/>
                </a:prstClr>
              </a:outerShdw>
            </a:effectLst>
          </c:spPr>
          <c:invertIfNegative val="0"/>
          <c:dLbls>
            <c:numFmt formatCode="0.0000" sourceLinked="0"/>
            <c:spPr>
              <a:noFill/>
              <a:ln>
                <a:noFill/>
              </a:ln>
              <a:effectLst/>
            </c:spPr>
            <c:txPr>
              <a:bodyPr/>
              <a:lstStyle/>
              <a:p>
                <a:pPr>
                  <a:defRPr sz="11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XGBoost</c:v>
                </c:pt>
                <c:pt idx="1">
                  <c:v>CatBoost</c:v>
                </c:pt>
                <c:pt idx="2">
                  <c:v>Logistic
Regression</c:v>
                </c:pt>
                <c:pt idx="3">
                  <c:v>LightGBM</c:v>
                </c:pt>
              </c:strCache>
            </c:strRef>
          </c:cat>
          <c:val>
            <c:numRef>
              <c:f>Sheet1!$B$2:$B$5</c:f>
              <c:numCache>
                <c:formatCode>General</c:formatCode>
                <c:ptCount val="4"/>
                <c:pt idx="0">
                  <c:v>0.76549999999999996</c:v>
                </c:pt>
                <c:pt idx="1">
                  <c:v>0.77339999999999998</c:v>
                </c:pt>
                <c:pt idx="2">
                  <c:v>0.77510000000000001</c:v>
                </c:pt>
                <c:pt idx="3">
                  <c:v>0.77700000000000002</c:v>
                </c:pt>
              </c:numCache>
            </c:numRef>
          </c:val>
          <c:extLst>
            <c:ext xmlns:c16="http://schemas.microsoft.com/office/drawing/2014/chart" uri="{C3380CC4-5D6E-409C-BE32-E72D297353CC}">
              <c16:uniqueId val="{00000000-131E-453A-B284-441084D1E51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1"/>
        <c:axPos val="l"/>
        <c:numFmt formatCode="General" sourceLinked="0"/>
        <c:majorTickMark val="out"/>
        <c:minorTickMark val="none"/>
        <c:tickLblPos val="nextTo"/>
        <c:crossAx val="2094734554"/>
        <c:crosses val="autoZero"/>
        <c:crossBetween val="between"/>
      </c:valAx>
      <c:spPr>
        <a:solidFill>
          <a:srgbClr val="E4EBF7"/>
        </a:solidFill>
        <a:ln>
          <a:noFill/>
        </a:ln>
        <a:effectLst/>
      </c:spPr>
    </c:plotArea>
    <c:plotVisOnly val="1"/>
    <c:dispBlanksAs val="span"/>
    <c:showDLblsOverMax val="1"/>
  </c:chart>
  <c:spPr>
    <a:solidFill>
      <a:srgbClr val="E4EBF7"/>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Logistic Regression</c:v>
                </c:pt>
              </c:strCache>
            </c:strRef>
          </c:tx>
          <c:spPr>
            <a:ln w="28575" cap="flat">
              <a:solidFill>
                <a:srgbClr val="D97706"/>
              </a:solidFill>
              <a:prstDash val="solid"/>
              <a:round/>
            </a:ln>
            <a:effectLst/>
          </c:spPr>
          <c:marker>
            <c:symbol val="circle"/>
            <c:size val="5"/>
            <c:spPr>
              <a:solidFill>
                <a:srgbClr val="D97706"/>
              </a:solidFill>
              <a:ln w="9525" cap="flat">
                <a:solidFill>
                  <a:srgbClr val="D97706"/>
                </a:solidFill>
                <a:prstDash val="solid"/>
                <a:round/>
              </a:ln>
              <a:effectLst/>
            </c:spPr>
          </c:marker>
          <c:cat>
            <c:strRef>
              <c:f>Sheet1!$A$2:$A$8</c:f>
              <c:strCache>
                <c:ptCount val="7"/>
                <c:pt idx="0">
                  <c:v>0.05</c:v>
                </c:pt>
                <c:pt idx="1">
                  <c:v>0.10</c:v>
                </c:pt>
                <c:pt idx="2">
                  <c:v>0.15</c:v>
                </c:pt>
                <c:pt idx="3">
                  <c:v>0.20</c:v>
                </c:pt>
                <c:pt idx="4">
                  <c:v>0.30</c:v>
                </c:pt>
                <c:pt idx="5">
                  <c:v>0.40</c:v>
                </c:pt>
                <c:pt idx="6">
                  <c:v>0.50</c:v>
                </c:pt>
              </c:strCache>
            </c:strRef>
          </c:cat>
          <c:val>
            <c:numRef>
              <c:f>Sheet1!$B$2:$B$8</c:f>
              <c:numCache>
                <c:formatCode>General</c:formatCode>
                <c:ptCount val="7"/>
                <c:pt idx="0">
                  <c:v>47504</c:v>
                </c:pt>
                <c:pt idx="1">
                  <c:v>35655</c:v>
                </c:pt>
                <c:pt idx="2">
                  <c:v>28187</c:v>
                </c:pt>
                <c:pt idx="3">
                  <c:v>23875</c:v>
                </c:pt>
                <c:pt idx="4">
                  <c:v>20406</c:v>
                </c:pt>
                <c:pt idx="5">
                  <c:v>19987</c:v>
                </c:pt>
                <c:pt idx="6">
                  <c:v>21024</c:v>
                </c:pt>
              </c:numCache>
            </c:numRef>
          </c:val>
          <c:smooth val="0"/>
          <c:extLst>
            <c:ext xmlns:c16="http://schemas.microsoft.com/office/drawing/2014/chart" uri="{C3380CC4-5D6E-409C-BE32-E72D297353CC}">
              <c16:uniqueId val="{00000000-7EED-4398-A627-2AFFC36B37DC}"/>
            </c:ext>
          </c:extLst>
        </c:ser>
        <c:ser>
          <c:idx val="1"/>
          <c:order val="1"/>
          <c:tx>
            <c:strRef>
              <c:f>Sheet1!$C$1</c:f>
              <c:strCache>
                <c:ptCount val="1"/>
                <c:pt idx="0">
                  <c:v>LightGBM</c:v>
                </c:pt>
              </c:strCache>
            </c:strRef>
          </c:tx>
          <c:spPr>
            <a:ln w="28575" cap="flat">
              <a:solidFill>
                <a:srgbClr val="1E2761"/>
              </a:solidFill>
              <a:prstDash val="solid"/>
              <a:round/>
            </a:ln>
            <a:effectLst/>
          </c:spPr>
          <c:marker>
            <c:symbol val="circle"/>
            <c:size val="5"/>
            <c:spPr>
              <a:solidFill>
                <a:srgbClr val="1E2761"/>
              </a:solidFill>
              <a:ln w="9525" cap="flat">
                <a:solidFill>
                  <a:srgbClr val="1E2761"/>
                </a:solidFill>
                <a:prstDash val="solid"/>
                <a:round/>
              </a:ln>
              <a:effectLst/>
            </c:spPr>
          </c:marker>
          <c:cat>
            <c:strRef>
              <c:f>Sheet1!$A$2:$A$8</c:f>
              <c:strCache>
                <c:ptCount val="7"/>
                <c:pt idx="0">
                  <c:v>0.05</c:v>
                </c:pt>
                <c:pt idx="1">
                  <c:v>0.10</c:v>
                </c:pt>
                <c:pt idx="2">
                  <c:v>0.15</c:v>
                </c:pt>
                <c:pt idx="3">
                  <c:v>0.20</c:v>
                </c:pt>
                <c:pt idx="4">
                  <c:v>0.30</c:v>
                </c:pt>
                <c:pt idx="5">
                  <c:v>0.40</c:v>
                </c:pt>
                <c:pt idx="6">
                  <c:v>0.50</c:v>
                </c:pt>
              </c:strCache>
            </c:strRef>
          </c:cat>
          <c:val>
            <c:numRef>
              <c:f>Sheet1!$C$2:$C$8</c:f>
              <c:numCache>
                <c:formatCode>General</c:formatCode>
                <c:ptCount val="7"/>
                <c:pt idx="0">
                  <c:v>55321</c:v>
                </c:pt>
                <c:pt idx="1">
                  <c:v>50877</c:v>
                </c:pt>
                <c:pt idx="2">
                  <c:v>45400</c:v>
                </c:pt>
                <c:pt idx="3">
                  <c:v>40372</c:v>
                </c:pt>
                <c:pt idx="4">
                  <c:v>32440</c:v>
                </c:pt>
                <c:pt idx="5">
                  <c:v>26480</c:v>
                </c:pt>
                <c:pt idx="6">
                  <c:v>22278</c:v>
                </c:pt>
              </c:numCache>
            </c:numRef>
          </c:val>
          <c:smooth val="0"/>
          <c:extLst>
            <c:ext xmlns:c16="http://schemas.microsoft.com/office/drawing/2014/chart" uri="{C3380CC4-5D6E-409C-BE32-E72D297353CC}">
              <c16:uniqueId val="{00000001-7EED-4398-A627-2AFFC36B37DC}"/>
            </c:ext>
          </c:extLst>
        </c:ser>
        <c:ser>
          <c:idx val="2"/>
          <c:order val="2"/>
          <c:tx>
            <c:strRef>
              <c:f>Sheet1!$D$1</c:f>
              <c:strCache>
                <c:ptCount val="1"/>
                <c:pt idx="0">
                  <c:v>CatBoost</c:v>
                </c:pt>
              </c:strCache>
            </c:strRef>
          </c:tx>
          <c:spPr>
            <a:ln w="28575" cap="flat">
              <a:solidFill>
                <a:srgbClr val="0F9D8A"/>
              </a:solidFill>
              <a:prstDash val="solid"/>
              <a:round/>
            </a:ln>
            <a:effectLst/>
          </c:spPr>
          <c:marker>
            <c:symbol val="circle"/>
            <c:size val="5"/>
            <c:spPr>
              <a:solidFill>
                <a:srgbClr val="0F9D8A"/>
              </a:solidFill>
              <a:ln w="9525" cap="flat">
                <a:solidFill>
                  <a:srgbClr val="0F9D8A"/>
                </a:solidFill>
                <a:prstDash val="solid"/>
                <a:round/>
              </a:ln>
              <a:effectLst/>
            </c:spPr>
          </c:marker>
          <c:cat>
            <c:strRef>
              <c:f>Sheet1!$A$2:$A$8</c:f>
              <c:strCache>
                <c:ptCount val="7"/>
                <c:pt idx="0">
                  <c:v>0.05</c:v>
                </c:pt>
                <c:pt idx="1">
                  <c:v>0.10</c:v>
                </c:pt>
                <c:pt idx="2">
                  <c:v>0.15</c:v>
                </c:pt>
                <c:pt idx="3">
                  <c:v>0.20</c:v>
                </c:pt>
                <c:pt idx="4">
                  <c:v>0.30</c:v>
                </c:pt>
                <c:pt idx="5">
                  <c:v>0.40</c:v>
                </c:pt>
                <c:pt idx="6">
                  <c:v>0.50</c:v>
                </c:pt>
              </c:strCache>
            </c:strRef>
          </c:cat>
          <c:val>
            <c:numRef>
              <c:f>Sheet1!$D$2:$D$8</c:f>
              <c:numCache>
                <c:formatCode>General</c:formatCode>
                <c:ptCount val="7"/>
                <c:pt idx="0">
                  <c:v>53910</c:v>
                </c:pt>
                <c:pt idx="1">
                  <c:v>44316</c:v>
                </c:pt>
                <c:pt idx="2">
                  <c:v>35944</c:v>
                </c:pt>
                <c:pt idx="3">
                  <c:v>29955</c:v>
                </c:pt>
                <c:pt idx="4">
                  <c:v>22953</c:v>
                </c:pt>
                <c:pt idx="5">
                  <c:v>20140</c:v>
                </c:pt>
                <c:pt idx="6">
                  <c:v>19459</c:v>
                </c:pt>
              </c:numCache>
            </c:numRef>
          </c:val>
          <c:smooth val="0"/>
          <c:extLst>
            <c:ext xmlns:c16="http://schemas.microsoft.com/office/drawing/2014/chart" uri="{C3380CC4-5D6E-409C-BE32-E72D297353CC}">
              <c16:uniqueId val="{00000002-7EED-4398-A627-2AFFC36B37D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Classification threshold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8DEEA"/>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Total cost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74747"/>
                </a:solidFill>
                <a:latin typeface="Arial"/>
              </a:defRPr>
            </a:pPr>
            <a:endParaRPr lang="en-US"/>
          </a:p>
        </c:txPr>
        <c:crossAx val="2094734554"/>
        <c:crosses val="autoZero"/>
        <c:crossBetween val="between"/>
      </c:valAx>
      <c:spPr>
        <a:solidFill>
          <a:srgbClr val="E4EBF7"/>
        </a:solidFill>
        <a:ln>
          <a:noFill/>
        </a:ln>
        <a:effectLst>
          <a:outerShdw blurRad="50800" dist="38100" dir="18900000" algn="bl" rotWithShape="0">
            <a:prstClr val="black">
              <a:alpha val="40000"/>
            </a:prstClr>
          </a:outerShdw>
        </a:effectLst>
      </c:spPr>
    </c:plotArea>
    <c:legend>
      <c:legendPos val="b"/>
      <c:overlay val="0"/>
      <c:txPr>
        <a:bodyPr/>
        <a:lstStyle/>
        <a:p>
          <a:pPr>
            <a:defRPr sz="850"/>
          </a:pPr>
          <a:endParaRPr lang="en-US"/>
        </a:p>
      </c:txPr>
    </c:legend>
    <c:plotVisOnly val="1"/>
    <c:dispBlanksAs val="span"/>
    <c:showDLblsOverMax val="1"/>
  </c:chart>
  <c:spPr>
    <a:solidFill>
      <a:srgbClr val="E4EBF7"/>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Best cost - raw probabilities</c:v>
                </c:pt>
              </c:strCache>
            </c:strRef>
          </c:tx>
          <c:spPr>
            <a:solidFill>
              <a:srgbClr val="B7BEDD"/>
            </a:solidFill>
            <a:effectLst/>
          </c:spPr>
          <c:invertIfNegative val="0"/>
          <c:dLbls>
            <c:numFmt formatCode="#,##0" sourceLinked="0"/>
            <c:spPr>
              <a:noFill/>
              <a:ln>
                <a:noFill/>
              </a:ln>
              <a:effectLst/>
            </c:spPr>
            <c:txPr>
              <a:bodyPr/>
              <a:lstStyle/>
              <a:p>
                <a:pPr>
                  <a:defRPr sz="850" b="0" i="0" u="none" strike="noStrike">
                    <a:solidFill>
                      <a:srgbClr val="4747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LightGBM</c:v>
                </c:pt>
                <c:pt idx="2">
                  <c:v>CatBoost</c:v>
                </c:pt>
              </c:strCache>
            </c:strRef>
          </c:cat>
          <c:val>
            <c:numRef>
              <c:f>Sheet1!$B$2:$B$4</c:f>
              <c:numCache>
                <c:formatCode>General</c:formatCode>
                <c:ptCount val="3"/>
                <c:pt idx="0">
                  <c:v>19987</c:v>
                </c:pt>
                <c:pt idx="1">
                  <c:v>22278</c:v>
                </c:pt>
                <c:pt idx="2">
                  <c:v>19459</c:v>
                </c:pt>
              </c:numCache>
            </c:numRef>
          </c:val>
          <c:extLst>
            <c:ext xmlns:c16="http://schemas.microsoft.com/office/drawing/2014/chart" uri="{C3380CC4-5D6E-409C-BE32-E72D297353CC}">
              <c16:uniqueId val="{00000000-7FD3-47B9-B933-714490DAAF09}"/>
            </c:ext>
          </c:extLst>
        </c:ser>
        <c:ser>
          <c:idx val="1"/>
          <c:order val="1"/>
          <c:tx>
            <c:strRef>
              <c:f>Sheet1!$C$1</c:f>
              <c:strCache>
                <c:ptCount val="1"/>
                <c:pt idx="0">
                  <c:v>Best cost - calibrated probabilities</c:v>
                </c:pt>
              </c:strCache>
            </c:strRef>
          </c:tx>
          <c:spPr>
            <a:solidFill>
              <a:srgbClr val="0F9D8A"/>
            </a:solidFill>
            <a:effectLst/>
          </c:spPr>
          <c:invertIfNegative val="0"/>
          <c:dLbls>
            <c:numFmt formatCode="#,##0" sourceLinked="0"/>
            <c:spPr>
              <a:noFill/>
              <a:ln>
                <a:noFill/>
              </a:ln>
              <a:effectLst/>
            </c:spPr>
            <c:txPr>
              <a:bodyPr/>
              <a:lstStyle/>
              <a:p>
                <a:pPr>
                  <a:defRPr sz="850" b="0" i="0" u="none" strike="noStrike">
                    <a:solidFill>
                      <a:srgbClr val="4747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LightGBM</c:v>
                </c:pt>
                <c:pt idx="2">
                  <c:v>CatBoost</c:v>
                </c:pt>
              </c:strCache>
            </c:strRef>
          </c:cat>
          <c:val>
            <c:numRef>
              <c:f>Sheet1!$C$2:$C$4</c:f>
              <c:numCache>
                <c:formatCode>General</c:formatCode>
                <c:ptCount val="3"/>
                <c:pt idx="0">
                  <c:v>4085</c:v>
                </c:pt>
                <c:pt idx="1">
                  <c:v>4023</c:v>
                </c:pt>
                <c:pt idx="2">
                  <c:v>3878</c:v>
                </c:pt>
              </c:numCache>
            </c:numRef>
          </c:val>
          <c:extLst>
            <c:ext xmlns:c16="http://schemas.microsoft.com/office/drawing/2014/chart" uri="{C3380CC4-5D6E-409C-BE32-E72D297353CC}">
              <c16:uniqueId val="{00000001-7FD3-47B9-B933-714490DAAF0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8DEEA"/>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Total cost (lower is better)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74747"/>
                </a:solidFill>
                <a:latin typeface="Arial"/>
              </a:defRPr>
            </a:pPr>
            <a:endParaRPr lang="en-US"/>
          </a:p>
        </c:txPr>
        <c:crossAx val="2094734554"/>
        <c:crosses val="autoZero"/>
        <c:crossBetween val="between"/>
      </c:valAx>
      <c:spPr>
        <a:solidFill>
          <a:srgbClr val="E4EBF7"/>
        </a:solidFill>
        <a:ln>
          <a:noFill/>
        </a:ln>
        <a:effectLst/>
      </c:spPr>
    </c:plotArea>
    <c:legend>
      <c:legendPos val="b"/>
      <c:overlay val="0"/>
      <c:txPr>
        <a:bodyPr/>
        <a:lstStyle/>
        <a:p>
          <a:pPr>
            <a:defRPr sz="850">
              <a:ln>
                <a:noFill/>
              </a:ln>
            </a:defRPr>
          </a:pPr>
          <a:endParaRPr lang="en-US"/>
        </a:p>
      </c:txPr>
    </c:legend>
    <c:plotVisOnly val="1"/>
    <c:dispBlanksAs val="span"/>
    <c:showDLblsOverMax val="1"/>
  </c:chart>
  <c:spPr>
    <a:solidFill>
      <a:srgbClr val="E4EBF7"/>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Final model</c:v>
                </c:pt>
              </c:strCache>
            </c:strRef>
          </c:tx>
          <c:spPr>
            <a:solidFill>
              <a:srgbClr val="1E2761"/>
            </a:solidFill>
            <a:effectLst/>
          </c:spPr>
          <c:invertIfNegative val="0"/>
          <c:dLbls>
            <c:numFmt formatCode="0.0" sourceLinked="0"/>
            <c:spPr>
              <a:noFill/>
              <a:ln>
                <a:noFill/>
              </a:ln>
              <a:effectLst/>
            </c:spPr>
            <c:txPr>
              <a:bodyPr/>
              <a:lstStyle/>
              <a:p>
                <a:pPr>
                  <a:defRPr sz="10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Accuracy</c:v>
                </c:pt>
                <c:pt idx="1">
                  <c:v>Precision
(defaulter)</c:v>
                </c:pt>
                <c:pt idx="2">
                  <c:v>Recall
(defaulter)</c:v>
                </c:pt>
                <c:pt idx="3">
                  <c:v>F1-score</c:v>
                </c:pt>
                <c:pt idx="4">
                  <c:v>ROC-AUC</c:v>
                </c:pt>
                <c:pt idx="5">
                  <c:v>Avg.
Precision</c:v>
                </c:pt>
              </c:strCache>
            </c:strRef>
          </c:cat>
          <c:val>
            <c:numRef>
              <c:f>Sheet1!$B$2:$B$7</c:f>
              <c:numCache>
                <c:formatCode>General</c:formatCode>
                <c:ptCount val="6"/>
                <c:pt idx="0">
                  <c:v>86.32</c:v>
                </c:pt>
                <c:pt idx="1">
                  <c:v>28.17</c:v>
                </c:pt>
                <c:pt idx="2">
                  <c:v>44.77</c:v>
                </c:pt>
                <c:pt idx="3">
                  <c:v>34.58</c:v>
                </c:pt>
                <c:pt idx="4">
                  <c:v>78.8</c:v>
                </c:pt>
                <c:pt idx="5">
                  <c:v>28.19</c:v>
                </c:pt>
              </c:numCache>
            </c:numRef>
          </c:val>
          <c:extLst>
            <c:ext xmlns:c16="http://schemas.microsoft.com/office/drawing/2014/chart" uri="{C3380CC4-5D6E-409C-BE32-E72D297353CC}">
              <c16:uniqueId val="{00000000-754F-41A0-8410-BB38B54C3EF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solidFill>
          <a:srgbClr val="E4EBF7"/>
        </a:solidFill>
        <a:ln>
          <a:noFill/>
        </a:ln>
        <a:effectLst>
          <a:outerShdw blurRad="50800" dist="38100" dir="18900000" algn="bl" rotWithShape="0">
            <a:prstClr val="black">
              <a:alpha val="40000"/>
            </a:prstClr>
          </a:outerShdw>
        </a:effectLst>
      </c:spPr>
    </c:plotArea>
    <c:plotVisOnly val="1"/>
    <c:dispBlanksAs val="span"/>
    <c:showDLblsOverMax val="1"/>
  </c:chart>
  <c:spPr>
    <a:solidFill>
      <a:srgbClr val="E4EBF7"/>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95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971113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60000"/>
            <a:lumOff val="40000"/>
            <a:alpha val="24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543"/>
        </a:solidFill>
        <a:effectLst/>
      </p:bgPr>
    </p:bg>
    <p:spTree>
      <p:nvGrpSpPr>
        <p:cNvPr id="1" name=""/>
        <p:cNvGrpSpPr/>
        <p:nvPr/>
      </p:nvGrpSpPr>
      <p:grpSpPr>
        <a:xfrm>
          <a:off x="0" y="0"/>
          <a:ext cx="0" cy="0"/>
          <a:chOff x="0" y="0"/>
          <a:chExt cx="0" cy="0"/>
        </a:xfrm>
      </p:grpSpPr>
      <p:sp>
        <p:nvSpPr>
          <p:cNvPr id="4" name="Text 2"/>
          <p:cNvSpPr/>
          <p:nvPr/>
        </p:nvSpPr>
        <p:spPr>
          <a:xfrm>
            <a:off x="822960" y="1965960"/>
            <a:ext cx="4572000" cy="292608"/>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CREDIT RISK · MACHINE LEARNING</a:t>
            </a:r>
            <a:endParaRPr lang="en-US" sz="1200" dirty="0"/>
          </a:p>
        </p:txBody>
      </p:sp>
      <p:sp>
        <p:nvSpPr>
          <p:cNvPr id="5" name="Text 3"/>
          <p:cNvSpPr/>
          <p:nvPr/>
        </p:nvSpPr>
        <p:spPr>
          <a:xfrm>
            <a:off x="777240" y="2331720"/>
            <a:ext cx="987552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Predicting Loan Default Risk</a:t>
            </a:r>
            <a:endParaRPr lang="en-US" sz="4400" dirty="0"/>
          </a:p>
        </p:txBody>
      </p:sp>
      <p:sp>
        <p:nvSpPr>
          <p:cNvPr id="6" name="Text 4"/>
          <p:cNvSpPr/>
          <p:nvPr/>
        </p:nvSpPr>
        <p:spPr>
          <a:xfrm>
            <a:off x="822960" y="3429000"/>
            <a:ext cx="8961120" cy="822960"/>
          </a:xfrm>
          <a:prstGeom prst="rect">
            <a:avLst/>
          </a:prstGeom>
          <a:noFill/>
          <a:ln/>
        </p:spPr>
        <p:txBody>
          <a:bodyPr wrap="square" rtlCol="0" anchor="ctr"/>
          <a:lstStyle/>
          <a:p>
            <a:pPr marL="0" indent="0">
              <a:lnSpc>
                <a:spcPct val="125000"/>
              </a:lnSpc>
              <a:buNone/>
            </a:pPr>
            <a:r>
              <a:rPr lang="en-US" sz="1600" dirty="0">
                <a:solidFill>
                  <a:srgbClr val="CADCFC"/>
                </a:solidFill>
                <a:latin typeface="Calibri" pitchFamily="34" charset="0"/>
                <a:ea typeface="Calibri" pitchFamily="34" charset="-122"/>
                <a:cs typeface="Calibri" pitchFamily="34" charset="-120"/>
              </a:rPr>
              <a:t>How machine learning can help identify risky loan applicants earlier and support fairer, faster, more consistent lending decisions.</a:t>
            </a:r>
            <a:endParaRPr lang="en-US" sz="1600" dirty="0"/>
          </a:p>
        </p:txBody>
      </p:sp>
      <p:sp>
        <p:nvSpPr>
          <p:cNvPr id="7" name="Shape 5"/>
          <p:cNvSpPr/>
          <p:nvPr/>
        </p:nvSpPr>
        <p:spPr>
          <a:xfrm>
            <a:off x="822960" y="4434840"/>
            <a:ext cx="2011680" cy="0"/>
          </a:xfrm>
          <a:prstGeom prst="line">
            <a:avLst/>
          </a:prstGeom>
          <a:noFill/>
          <a:ln w="38100">
            <a:solidFill>
              <a:srgbClr val="0F9D8A"/>
            </a:solidFill>
            <a:prstDash val="solid"/>
          </a:ln>
        </p:spPr>
      </p:sp>
      <p:sp>
        <p:nvSpPr>
          <p:cNvPr id="8" name="Text 6"/>
          <p:cNvSpPr/>
          <p:nvPr/>
        </p:nvSpPr>
        <p:spPr>
          <a:xfrm>
            <a:off x="822960" y="6080760"/>
            <a:ext cx="9601200" cy="365760"/>
          </a:xfrm>
          <a:prstGeom prst="rect">
            <a:avLst/>
          </a:prstGeom>
          <a:noFill/>
          <a:ln/>
        </p:spPr>
        <p:txBody>
          <a:bodyPr wrap="square" rtlCol="0" anchor="ctr"/>
          <a:lstStyle/>
          <a:p>
            <a:pPr marL="0" indent="0">
              <a:buNone/>
            </a:pPr>
            <a:endParaRPr lang="en-US" sz="1200" dirty="0"/>
          </a:p>
        </p:txBody>
      </p:sp>
      <p:sp>
        <p:nvSpPr>
          <p:cNvPr id="9" name="Text 7"/>
          <p:cNvSpPr/>
          <p:nvPr/>
        </p:nvSpPr>
        <p:spPr>
          <a:xfrm>
            <a:off x="822960" y="6382512"/>
            <a:ext cx="457200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749808"/>
            <a:ext cx="91440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691640"/>
            <a:ext cx="544068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5" name="Shape 3"/>
          <p:cNvSpPr/>
          <p:nvPr/>
        </p:nvSpPr>
        <p:spPr>
          <a:xfrm>
            <a:off x="804672" y="1947672"/>
            <a:ext cx="548640" cy="548640"/>
          </a:xfrm>
          <a:prstGeom prst="ellipse">
            <a:avLst/>
          </a:prstGeom>
          <a:solidFill>
            <a:srgbClr val="1E2761"/>
          </a:solidFill>
          <a:ln/>
        </p:spPr>
      </p:sp>
      <p:sp>
        <p:nvSpPr>
          <p:cNvPr id="6" name="Text 4"/>
          <p:cNvSpPr/>
          <p:nvPr/>
        </p:nvSpPr>
        <p:spPr>
          <a:xfrm>
            <a:off x="804672" y="194767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554480" y="189280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The business problem</a:t>
            </a:r>
            <a:endParaRPr lang="en-US" sz="1600" dirty="0"/>
          </a:p>
        </p:txBody>
      </p:sp>
      <p:sp>
        <p:nvSpPr>
          <p:cNvPr id="8" name="Text 6"/>
          <p:cNvSpPr/>
          <p:nvPr/>
        </p:nvSpPr>
        <p:spPr>
          <a:xfrm>
            <a:off x="1554480" y="235000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Why predicting default matters</a:t>
            </a:r>
            <a:endParaRPr lang="en-US" sz="1200" dirty="0"/>
          </a:p>
        </p:txBody>
      </p:sp>
      <p:sp>
        <p:nvSpPr>
          <p:cNvPr id="9" name="Shape 7"/>
          <p:cNvSpPr/>
          <p:nvPr/>
        </p:nvSpPr>
        <p:spPr>
          <a:xfrm>
            <a:off x="6446520" y="169164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10" name="Shape 8"/>
          <p:cNvSpPr/>
          <p:nvPr/>
        </p:nvSpPr>
        <p:spPr>
          <a:xfrm>
            <a:off x="6702552" y="1947672"/>
            <a:ext cx="548640" cy="548640"/>
          </a:xfrm>
          <a:prstGeom prst="ellipse">
            <a:avLst/>
          </a:prstGeom>
          <a:solidFill>
            <a:srgbClr val="1E2761"/>
          </a:solidFill>
          <a:ln/>
        </p:spPr>
      </p:sp>
      <p:sp>
        <p:nvSpPr>
          <p:cNvPr id="11" name="Text 9"/>
          <p:cNvSpPr/>
          <p:nvPr/>
        </p:nvSpPr>
        <p:spPr>
          <a:xfrm>
            <a:off x="6702552" y="194767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7452360" y="189280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The data &amp; the challenges</a:t>
            </a:r>
            <a:endParaRPr lang="en-US" sz="1600" dirty="0"/>
          </a:p>
        </p:txBody>
      </p:sp>
      <p:sp>
        <p:nvSpPr>
          <p:cNvPr id="13" name="Text 11"/>
          <p:cNvSpPr/>
          <p:nvPr/>
        </p:nvSpPr>
        <p:spPr>
          <a:xfrm>
            <a:off x="7452360" y="235000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8 tables, 300k+ applicants, messy history</a:t>
            </a:r>
            <a:endParaRPr lang="en-US" sz="1200" dirty="0"/>
          </a:p>
        </p:txBody>
      </p:sp>
      <p:sp>
        <p:nvSpPr>
          <p:cNvPr id="14" name="Shape 12"/>
          <p:cNvSpPr/>
          <p:nvPr/>
        </p:nvSpPr>
        <p:spPr>
          <a:xfrm>
            <a:off x="548640" y="338328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15" name="Shape 13"/>
          <p:cNvSpPr/>
          <p:nvPr/>
        </p:nvSpPr>
        <p:spPr>
          <a:xfrm>
            <a:off x="804672" y="3639312"/>
            <a:ext cx="548640" cy="548640"/>
          </a:xfrm>
          <a:prstGeom prst="ellipse">
            <a:avLst/>
          </a:prstGeom>
          <a:solidFill>
            <a:srgbClr val="1E2761"/>
          </a:solidFill>
          <a:ln/>
        </p:spPr>
      </p:sp>
      <p:sp>
        <p:nvSpPr>
          <p:cNvPr id="16" name="Text 14"/>
          <p:cNvSpPr/>
          <p:nvPr/>
        </p:nvSpPr>
        <p:spPr>
          <a:xfrm>
            <a:off x="804672" y="363931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554480" y="358444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Preparing &amp; engineering features</a:t>
            </a:r>
            <a:endParaRPr lang="en-US" sz="1600" dirty="0"/>
          </a:p>
        </p:txBody>
      </p:sp>
      <p:sp>
        <p:nvSpPr>
          <p:cNvPr id="18" name="Text 16"/>
          <p:cNvSpPr/>
          <p:nvPr/>
        </p:nvSpPr>
        <p:spPr>
          <a:xfrm>
            <a:off x="1554480" y="404164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Turning raw history into signal</a:t>
            </a:r>
            <a:endParaRPr lang="en-US" sz="1200" dirty="0"/>
          </a:p>
        </p:txBody>
      </p:sp>
      <p:sp>
        <p:nvSpPr>
          <p:cNvPr id="19" name="Shape 17"/>
          <p:cNvSpPr/>
          <p:nvPr/>
        </p:nvSpPr>
        <p:spPr>
          <a:xfrm>
            <a:off x="6446520" y="338328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20" name="Shape 18"/>
          <p:cNvSpPr/>
          <p:nvPr/>
        </p:nvSpPr>
        <p:spPr>
          <a:xfrm>
            <a:off x="6702552" y="3639312"/>
            <a:ext cx="548640" cy="548640"/>
          </a:xfrm>
          <a:prstGeom prst="ellipse">
            <a:avLst/>
          </a:prstGeom>
          <a:solidFill>
            <a:srgbClr val="1E2761"/>
          </a:solidFill>
          <a:ln/>
        </p:spPr>
      </p:sp>
      <p:sp>
        <p:nvSpPr>
          <p:cNvPr id="21" name="Text 19"/>
          <p:cNvSpPr/>
          <p:nvPr/>
        </p:nvSpPr>
        <p:spPr>
          <a:xfrm>
            <a:off x="6702552" y="363931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7452360" y="358444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Building &amp; testing the model</a:t>
            </a:r>
            <a:endParaRPr lang="en-US" sz="1600" dirty="0"/>
          </a:p>
        </p:txBody>
      </p:sp>
      <p:sp>
        <p:nvSpPr>
          <p:cNvPr id="23" name="Text 21"/>
          <p:cNvSpPr/>
          <p:nvPr/>
        </p:nvSpPr>
        <p:spPr>
          <a:xfrm>
            <a:off x="7452360" y="404164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Comparing algorithms, handling imbalance</a:t>
            </a:r>
            <a:endParaRPr lang="en-US" sz="1200" dirty="0"/>
          </a:p>
        </p:txBody>
      </p:sp>
      <p:sp>
        <p:nvSpPr>
          <p:cNvPr id="24" name="Shape 22"/>
          <p:cNvSpPr/>
          <p:nvPr/>
        </p:nvSpPr>
        <p:spPr>
          <a:xfrm>
            <a:off x="548640" y="507492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25" name="Shape 23"/>
          <p:cNvSpPr/>
          <p:nvPr/>
        </p:nvSpPr>
        <p:spPr>
          <a:xfrm>
            <a:off x="804672" y="5330952"/>
            <a:ext cx="548640" cy="548640"/>
          </a:xfrm>
          <a:prstGeom prst="ellipse">
            <a:avLst/>
          </a:prstGeom>
          <a:solidFill>
            <a:srgbClr val="1E2761"/>
          </a:solidFill>
          <a:ln/>
        </p:spPr>
      </p:sp>
      <p:sp>
        <p:nvSpPr>
          <p:cNvPr id="26" name="Text 24"/>
          <p:cNvSpPr/>
          <p:nvPr/>
        </p:nvSpPr>
        <p:spPr>
          <a:xfrm>
            <a:off x="804672" y="533095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1554480" y="527608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Results &amp; what drives them</a:t>
            </a:r>
            <a:endParaRPr lang="en-US" sz="1600" dirty="0"/>
          </a:p>
        </p:txBody>
      </p:sp>
      <p:sp>
        <p:nvSpPr>
          <p:cNvPr id="28" name="Text 26"/>
          <p:cNvSpPr/>
          <p:nvPr/>
        </p:nvSpPr>
        <p:spPr>
          <a:xfrm>
            <a:off x="1554480" y="573328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Performance, cost, explainability</a:t>
            </a:r>
            <a:endParaRPr lang="en-US" sz="1200" dirty="0"/>
          </a:p>
        </p:txBody>
      </p:sp>
      <p:sp>
        <p:nvSpPr>
          <p:cNvPr id="29" name="Shape 27"/>
          <p:cNvSpPr/>
          <p:nvPr/>
        </p:nvSpPr>
        <p:spPr>
          <a:xfrm>
            <a:off x="6446520" y="5074920"/>
            <a:ext cx="544068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0" name="Shape 28"/>
          <p:cNvSpPr/>
          <p:nvPr/>
        </p:nvSpPr>
        <p:spPr>
          <a:xfrm>
            <a:off x="6702552" y="5330952"/>
            <a:ext cx="548640" cy="548640"/>
          </a:xfrm>
          <a:prstGeom prst="ellipse">
            <a:avLst/>
          </a:prstGeom>
          <a:solidFill>
            <a:srgbClr val="1E2761"/>
          </a:solidFill>
          <a:ln/>
        </p:spPr>
      </p:sp>
      <p:sp>
        <p:nvSpPr>
          <p:cNvPr id="31" name="Text 29"/>
          <p:cNvSpPr/>
          <p:nvPr/>
        </p:nvSpPr>
        <p:spPr>
          <a:xfrm>
            <a:off x="6702552" y="533095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2" name="Text 30"/>
          <p:cNvSpPr/>
          <p:nvPr/>
        </p:nvSpPr>
        <p:spPr>
          <a:xfrm>
            <a:off x="7452360" y="527608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Putting it to work</a:t>
            </a:r>
            <a:endParaRPr lang="en-US" sz="1600" dirty="0"/>
          </a:p>
        </p:txBody>
      </p:sp>
      <p:sp>
        <p:nvSpPr>
          <p:cNvPr id="33" name="Text 31"/>
          <p:cNvSpPr/>
          <p:nvPr/>
        </p:nvSpPr>
        <p:spPr>
          <a:xfrm>
            <a:off x="7452360" y="573328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The Streamlit app, recommendations &amp; limits</a:t>
            </a:r>
            <a:endParaRPr lang="en-US" sz="1200" dirty="0"/>
          </a:p>
        </p:txBody>
      </p:sp>
      <p:sp>
        <p:nvSpPr>
          <p:cNvPr id="34" name="Text 32"/>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35" name="Text 3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THE BUSINESS PROBLEM</a:t>
            </a:r>
            <a:endParaRPr lang="en-US" sz="1200" dirty="0"/>
          </a:p>
        </p:txBody>
      </p:sp>
      <p:sp>
        <p:nvSpPr>
          <p:cNvPr id="3" name="Text 1"/>
          <p:cNvSpPr/>
          <p:nvPr/>
        </p:nvSpPr>
        <p:spPr>
          <a:xfrm>
            <a:off x="548640" y="749808"/>
            <a:ext cx="77724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Every loan is a bet on the future</a:t>
            </a:r>
            <a:endParaRPr lang="en-US" sz="3000" dirty="0"/>
          </a:p>
        </p:txBody>
      </p:sp>
      <p:sp>
        <p:nvSpPr>
          <p:cNvPr id="4" name="Text 2"/>
          <p:cNvSpPr/>
          <p:nvPr/>
        </p:nvSpPr>
        <p:spPr>
          <a:xfrm>
            <a:off x="548640" y="1325880"/>
            <a:ext cx="10881360" cy="502920"/>
          </a:xfrm>
          <a:prstGeom prst="rect">
            <a:avLst/>
          </a:prstGeom>
          <a:noFill/>
          <a:ln/>
        </p:spPr>
        <p:txBody>
          <a:bodyPr wrap="square" rtlCol="0" anchor="ctr"/>
          <a:lstStyle/>
          <a:p>
            <a:pPr marL="0" indent="0">
              <a:buNone/>
            </a:pPr>
            <a:r>
              <a:rPr lang="en-US" sz="1450" dirty="0">
                <a:solidFill>
                  <a:srgbClr val="5B6472"/>
                </a:solidFill>
                <a:latin typeface="Calibri" pitchFamily="34" charset="0"/>
                <a:ea typeface="Calibri" pitchFamily="34" charset="-122"/>
                <a:cs typeface="Calibri" pitchFamily="34" charset="-120"/>
              </a:rPr>
              <a:t>Lenders have to decide, upfront, whether an applicant will repay. Get it wrong in either direction, and it costs the business.</a:t>
            </a:r>
            <a:endParaRPr lang="en-US" sz="1450" dirty="0"/>
          </a:p>
        </p:txBody>
      </p:sp>
      <p:sp>
        <p:nvSpPr>
          <p:cNvPr id="5" name="Shape 3"/>
          <p:cNvSpPr/>
          <p:nvPr/>
        </p:nvSpPr>
        <p:spPr>
          <a:xfrm>
            <a:off x="548640" y="2057400"/>
            <a:ext cx="5257800" cy="2468880"/>
          </a:xfrm>
          <a:prstGeom prst="roundRect">
            <a:avLst>
              <a:gd name="adj" fmla="val 3333"/>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7" name="Text 5"/>
          <p:cNvSpPr/>
          <p:nvPr/>
        </p:nvSpPr>
        <p:spPr>
          <a:xfrm>
            <a:off x="868680" y="2423160"/>
            <a:ext cx="640080" cy="640080"/>
          </a:xfrm>
          <a:prstGeom prst="rect">
            <a:avLst/>
          </a:prstGeom>
          <a:noFill/>
          <a:ln/>
        </p:spPr>
        <p:txBody>
          <a:bodyPr wrap="square" rtlCol="0" anchor="ctr"/>
          <a:lstStyle/>
          <a:p>
            <a:pPr marL="0" indent="0" algn="ctr">
              <a:buNone/>
            </a:pPr>
            <a:endParaRPr lang="en-US" sz="2800" dirty="0"/>
          </a:p>
        </p:txBody>
      </p:sp>
      <p:sp>
        <p:nvSpPr>
          <p:cNvPr id="8" name="Text 6"/>
          <p:cNvSpPr/>
          <p:nvPr/>
        </p:nvSpPr>
        <p:spPr>
          <a:xfrm>
            <a:off x="1691640" y="2496312"/>
            <a:ext cx="4023360" cy="50292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Approve a risky borrower</a:t>
            </a:r>
            <a:endParaRPr lang="en-US" sz="1700" dirty="0"/>
          </a:p>
        </p:txBody>
      </p:sp>
      <p:sp>
        <p:nvSpPr>
          <p:cNvPr id="9" name="Text 7"/>
          <p:cNvSpPr/>
          <p:nvPr/>
        </p:nvSpPr>
        <p:spPr>
          <a:xfrm>
            <a:off x="868680" y="3337560"/>
            <a:ext cx="4617720" cy="1005840"/>
          </a:xfrm>
          <a:prstGeom prst="rect">
            <a:avLst/>
          </a:prstGeom>
          <a:noFill/>
          <a:ln/>
        </p:spPr>
        <p:txBody>
          <a:bodyPr wrap="square" rtlCol="0" anchor="ctr"/>
          <a:lstStyle/>
          <a:p>
            <a:pPr marL="0" indent="0">
              <a:lnSpc>
                <a:spcPct val="130000"/>
              </a:lnSpc>
              <a:buNone/>
            </a:pPr>
            <a:r>
              <a:rPr lang="en-US" sz="1350" dirty="0">
                <a:solidFill>
                  <a:srgbClr val="5B6472"/>
                </a:solidFill>
                <a:latin typeface="Calibri" pitchFamily="34" charset="0"/>
                <a:ea typeface="Calibri" pitchFamily="34" charset="-122"/>
                <a:cs typeface="Calibri" pitchFamily="34" charset="-120"/>
              </a:rPr>
              <a:t>If a customer who is likely to default is approved, the loan may never be fully repaid - a direct financial loss to the business.</a:t>
            </a:r>
            <a:endParaRPr lang="en-US" sz="1350" dirty="0"/>
          </a:p>
        </p:txBody>
      </p:sp>
      <p:sp>
        <p:nvSpPr>
          <p:cNvPr id="10" name="Shape 8"/>
          <p:cNvSpPr/>
          <p:nvPr/>
        </p:nvSpPr>
        <p:spPr>
          <a:xfrm>
            <a:off x="6172200" y="2057400"/>
            <a:ext cx="5257800" cy="2468880"/>
          </a:xfrm>
          <a:prstGeom prst="roundRect">
            <a:avLst>
              <a:gd name="adj" fmla="val 3333"/>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2" name="Text 10"/>
          <p:cNvSpPr/>
          <p:nvPr/>
        </p:nvSpPr>
        <p:spPr>
          <a:xfrm>
            <a:off x="6492240" y="2423160"/>
            <a:ext cx="640080" cy="640080"/>
          </a:xfrm>
          <a:prstGeom prst="rect">
            <a:avLst/>
          </a:prstGeom>
          <a:noFill/>
          <a:ln/>
        </p:spPr>
        <p:txBody>
          <a:bodyPr wrap="square" rtlCol="0" anchor="ctr"/>
          <a:lstStyle/>
          <a:p>
            <a:pPr marL="0" indent="0" algn="ctr">
              <a:buNone/>
            </a:pPr>
            <a:endParaRPr lang="en-US" sz="2800" dirty="0"/>
          </a:p>
        </p:txBody>
      </p:sp>
      <p:sp>
        <p:nvSpPr>
          <p:cNvPr id="13" name="Text 11"/>
          <p:cNvSpPr/>
          <p:nvPr/>
        </p:nvSpPr>
        <p:spPr>
          <a:xfrm>
            <a:off x="7315200" y="2496312"/>
            <a:ext cx="3931920" cy="50292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Reject a good borrower</a:t>
            </a:r>
            <a:endParaRPr lang="en-US" sz="1700" dirty="0"/>
          </a:p>
        </p:txBody>
      </p:sp>
      <p:sp>
        <p:nvSpPr>
          <p:cNvPr id="14" name="Text 12"/>
          <p:cNvSpPr/>
          <p:nvPr/>
        </p:nvSpPr>
        <p:spPr>
          <a:xfrm>
            <a:off x="6492240" y="3337560"/>
            <a:ext cx="4617720" cy="1005840"/>
          </a:xfrm>
          <a:prstGeom prst="rect">
            <a:avLst/>
          </a:prstGeom>
          <a:noFill/>
          <a:ln/>
        </p:spPr>
        <p:txBody>
          <a:bodyPr wrap="square" rtlCol="0" anchor="ctr"/>
          <a:lstStyle/>
          <a:p>
            <a:pPr marL="0" indent="0">
              <a:lnSpc>
                <a:spcPct val="130000"/>
              </a:lnSpc>
              <a:buNone/>
            </a:pPr>
            <a:r>
              <a:rPr lang="en-US" sz="1350" dirty="0">
                <a:solidFill>
                  <a:srgbClr val="5B6472"/>
                </a:solidFill>
                <a:latin typeface="Calibri" pitchFamily="34" charset="0"/>
                <a:ea typeface="Calibri" pitchFamily="34" charset="-122"/>
                <a:cs typeface="Calibri" pitchFamily="34" charset="-120"/>
              </a:rPr>
              <a:t>If a creditworthy applicant is turned away, the business loses revenue - and the customer is treated unfairly.</a:t>
            </a:r>
            <a:endParaRPr lang="en-US" sz="1350" dirty="0"/>
          </a:p>
        </p:txBody>
      </p:sp>
      <p:sp>
        <p:nvSpPr>
          <p:cNvPr id="15" name="Shape 13"/>
          <p:cNvSpPr/>
          <p:nvPr/>
        </p:nvSpPr>
        <p:spPr>
          <a:xfrm>
            <a:off x="548640" y="4846320"/>
            <a:ext cx="10881360" cy="1371600"/>
          </a:xfrm>
          <a:prstGeom prst="roundRect">
            <a:avLst>
              <a:gd name="adj" fmla="val 6000"/>
            </a:avLst>
          </a:prstGeom>
          <a:solidFill>
            <a:srgbClr val="1E2761"/>
          </a:solidFill>
          <a:ln w="12700">
            <a:solidFill>
              <a:srgbClr val="E1E8F2"/>
            </a:solidFill>
            <a:prstDash val="solid"/>
          </a:ln>
          <a:effectLst>
            <a:outerShdw blurRad="101600" dist="38100" dir="5400000" algn="bl" rotWithShape="0">
              <a:srgbClr val="1E2761">
                <a:alpha val="12000"/>
              </a:srgbClr>
            </a:outerShdw>
          </a:effectLst>
        </p:spPr>
      </p:sp>
      <p:sp>
        <p:nvSpPr>
          <p:cNvPr id="16" name="Text 14"/>
          <p:cNvSpPr/>
          <p:nvPr/>
        </p:nvSpPr>
        <p:spPr>
          <a:xfrm>
            <a:off x="1005840" y="4846320"/>
            <a:ext cx="9235440" cy="1371600"/>
          </a:xfrm>
          <a:prstGeom prst="rect">
            <a:avLst/>
          </a:prstGeom>
          <a:noFill/>
          <a:ln/>
        </p:spPr>
        <p:txBody>
          <a:bodyPr wrap="square"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Goal: build a model that estimates each applicant's probability of default, so lending decisions can be faster, more consistent, and better informed.</a:t>
            </a:r>
            <a:endParaRPr lang="en-US" sz="1600" dirty="0"/>
          </a:p>
        </p:txBody>
      </p:sp>
      <p:sp>
        <p:nvSpPr>
          <p:cNvPr id="17" name="Text 15"/>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18" name="Text 1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HOW WE GOT HERE</a:t>
            </a:r>
            <a:endParaRPr lang="en-US" sz="1200" dirty="0"/>
          </a:p>
        </p:txBody>
      </p:sp>
      <p:sp>
        <p:nvSpPr>
          <p:cNvPr id="3" name="Text 1"/>
          <p:cNvSpPr/>
          <p:nvPr/>
        </p:nvSpPr>
        <p:spPr>
          <a:xfrm>
            <a:off x="548640" y="749808"/>
            <a:ext cx="100584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From raw records to a working risk model</a:t>
            </a:r>
            <a:endParaRPr lang="en-US" sz="3000" dirty="0"/>
          </a:p>
        </p:txBody>
      </p:sp>
      <p:sp>
        <p:nvSpPr>
          <p:cNvPr id="4" name="Shape 2"/>
          <p:cNvSpPr/>
          <p:nvPr/>
        </p:nvSpPr>
        <p:spPr>
          <a:xfrm>
            <a:off x="1143000" y="3337560"/>
            <a:ext cx="9875520" cy="0"/>
          </a:xfrm>
          <a:prstGeom prst="line">
            <a:avLst/>
          </a:prstGeom>
          <a:noFill/>
          <a:ln w="38100">
            <a:solidFill>
              <a:srgbClr val="CADCFC"/>
            </a:solidFill>
            <a:prstDash val="solid"/>
          </a:ln>
        </p:spPr>
      </p:sp>
      <p:sp>
        <p:nvSpPr>
          <p:cNvPr id="5" name="Shape 3"/>
          <p:cNvSpPr/>
          <p:nvPr/>
        </p:nvSpPr>
        <p:spPr>
          <a:xfrm>
            <a:off x="640080" y="2834640"/>
            <a:ext cx="1005840" cy="1005840"/>
          </a:xfrm>
          <a:prstGeom prst="ellipse">
            <a:avLst/>
          </a:prstGeom>
          <a:solidFill>
            <a:srgbClr val="1E2761"/>
          </a:solidFill>
          <a:ln/>
        </p:spPr>
      </p:sp>
      <p:sp>
        <p:nvSpPr>
          <p:cNvPr id="6" name="Text 4"/>
          <p:cNvSpPr/>
          <p:nvPr/>
        </p:nvSpPr>
        <p:spPr>
          <a:xfrm>
            <a:off x="640080"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137160"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Collect</a:t>
            </a:r>
            <a:endParaRPr lang="en-US" sz="1400" dirty="0"/>
          </a:p>
        </p:txBody>
      </p:sp>
      <p:sp>
        <p:nvSpPr>
          <p:cNvPr id="8" name="Text 6"/>
          <p:cNvSpPr/>
          <p:nvPr/>
        </p:nvSpPr>
        <p:spPr>
          <a:xfrm>
            <a:off x="-45720"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8 linked data tables</a:t>
            </a:r>
            <a:endParaRPr lang="en-US" sz="1050" dirty="0"/>
          </a:p>
        </p:txBody>
      </p:sp>
      <p:sp>
        <p:nvSpPr>
          <p:cNvPr id="9" name="Shape 7"/>
          <p:cNvSpPr/>
          <p:nvPr/>
        </p:nvSpPr>
        <p:spPr>
          <a:xfrm>
            <a:off x="2615184" y="2834640"/>
            <a:ext cx="1005840" cy="1005840"/>
          </a:xfrm>
          <a:prstGeom prst="ellipse">
            <a:avLst/>
          </a:prstGeom>
          <a:solidFill>
            <a:srgbClr val="1E2761"/>
          </a:solidFill>
          <a:ln/>
        </p:spPr>
      </p:sp>
      <p:sp>
        <p:nvSpPr>
          <p:cNvPr id="10" name="Text 8"/>
          <p:cNvSpPr/>
          <p:nvPr/>
        </p:nvSpPr>
        <p:spPr>
          <a:xfrm>
            <a:off x="2615184"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1" name="Text 9"/>
          <p:cNvSpPr/>
          <p:nvPr/>
        </p:nvSpPr>
        <p:spPr>
          <a:xfrm>
            <a:off x="2112264"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Clean</a:t>
            </a:r>
            <a:endParaRPr lang="en-US" sz="1400" dirty="0"/>
          </a:p>
        </p:txBody>
      </p:sp>
      <p:sp>
        <p:nvSpPr>
          <p:cNvPr id="12" name="Text 10"/>
          <p:cNvSpPr/>
          <p:nvPr/>
        </p:nvSpPr>
        <p:spPr>
          <a:xfrm>
            <a:off x="1929384"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Fix missing &amp; odd values</a:t>
            </a:r>
            <a:endParaRPr lang="en-US" sz="1050" dirty="0"/>
          </a:p>
        </p:txBody>
      </p:sp>
      <p:sp>
        <p:nvSpPr>
          <p:cNvPr id="13" name="Shape 11"/>
          <p:cNvSpPr/>
          <p:nvPr/>
        </p:nvSpPr>
        <p:spPr>
          <a:xfrm>
            <a:off x="4590288" y="2834640"/>
            <a:ext cx="1005840" cy="1005840"/>
          </a:xfrm>
          <a:prstGeom prst="ellipse">
            <a:avLst/>
          </a:prstGeom>
          <a:solidFill>
            <a:srgbClr val="1E2761"/>
          </a:solidFill>
          <a:ln/>
        </p:spPr>
      </p:sp>
      <p:sp>
        <p:nvSpPr>
          <p:cNvPr id="14" name="Text 12"/>
          <p:cNvSpPr/>
          <p:nvPr/>
        </p:nvSpPr>
        <p:spPr>
          <a:xfrm>
            <a:off x="4590288"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5" name="Text 13"/>
          <p:cNvSpPr/>
          <p:nvPr/>
        </p:nvSpPr>
        <p:spPr>
          <a:xfrm>
            <a:off x="4087368"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Engineer</a:t>
            </a:r>
            <a:endParaRPr lang="en-US" sz="1400" dirty="0"/>
          </a:p>
        </p:txBody>
      </p:sp>
      <p:sp>
        <p:nvSpPr>
          <p:cNvPr id="16" name="Text 14"/>
          <p:cNvSpPr/>
          <p:nvPr/>
        </p:nvSpPr>
        <p:spPr>
          <a:xfrm>
            <a:off x="3904488"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Build smarter features</a:t>
            </a:r>
            <a:endParaRPr lang="en-US" sz="1050" dirty="0"/>
          </a:p>
        </p:txBody>
      </p:sp>
      <p:sp>
        <p:nvSpPr>
          <p:cNvPr id="17" name="Shape 15"/>
          <p:cNvSpPr/>
          <p:nvPr/>
        </p:nvSpPr>
        <p:spPr>
          <a:xfrm>
            <a:off x="6565392" y="2834640"/>
            <a:ext cx="1005840" cy="1005840"/>
          </a:xfrm>
          <a:prstGeom prst="ellipse">
            <a:avLst/>
          </a:prstGeom>
          <a:solidFill>
            <a:srgbClr val="1E2761"/>
          </a:solidFill>
          <a:ln/>
        </p:spPr>
      </p:sp>
      <p:sp>
        <p:nvSpPr>
          <p:cNvPr id="18" name="Text 16"/>
          <p:cNvSpPr/>
          <p:nvPr/>
        </p:nvSpPr>
        <p:spPr>
          <a:xfrm>
            <a:off x="6565392"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19" name="Text 17"/>
          <p:cNvSpPr/>
          <p:nvPr/>
        </p:nvSpPr>
        <p:spPr>
          <a:xfrm>
            <a:off x="6062472"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Model</a:t>
            </a:r>
            <a:endParaRPr lang="en-US" sz="1400" dirty="0"/>
          </a:p>
        </p:txBody>
      </p:sp>
      <p:sp>
        <p:nvSpPr>
          <p:cNvPr id="20" name="Text 18"/>
          <p:cNvSpPr/>
          <p:nvPr/>
        </p:nvSpPr>
        <p:spPr>
          <a:xfrm>
            <a:off x="5879592"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Train &amp; compare algorithms</a:t>
            </a:r>
            <a:endParaRPr lang="en-US" sz="1050" dirty="0"/>
          </a:p>
        </p:txBody>
      </p:sp>
      <p:sp>
        <p:nvSpPr>
          <p:cNvPr id="21" name="Shape 19"/>
          <p:cNvSpPr/>
          <p:nvPr/>
        </p:nvSpPr>
        <p:spPr>
          <a:xfrm>
            <a:off x="8540496" y="2834640"/>
            <a:ext cx="1005840" cy="1005840"/>
          </a:xfrm>
          <a:prstGeom prst="ellipse">
            <a:avLst/>
          </a:prstGeom>
          <a:solidFill>
            <a:srgbClr val="1E2761"/>
          </a:solidFill>
          <a:ln/>
        </p:spPr>
      </p:sp>
      <p:sp>
        <p:nvSpPr>
          <p:cNvPr id="22" name="Text 20"/>
          <p:cNvSpPr/>
          <p:nvPr/>
        </p:nvSpPr>
        <p:spPr>
          <a:xfrm>
            <a:off x="8540496"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23" name="Text 21"/>
          <p:cNvSpPr/>
          <p:nvPr/>
        </p:nvSpPr>
        <p:spPr>
          <a:xfrm>
            <a:off x="8037576"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Evaluate</a:t>
            </a:r>
            <a:endParaRPr lang="en-US" sz="1400" dirty="0"/>
          </a:p>
        </p:txBody>
      </p:sp>
      <p:sp>
        <p:nvSpPr>
          <p:cNvPr id="24" name="Text 22"/>
          <p:cNvSpPr/>
          <p:nvPr/>
        </p:nvSpPr>
        <p:spPr>
          <a:xfrm>
            <a:off x="7854696"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Test, calibrate, explain</a:t>
            </a:r>
            <a:endParaRPr lang="en-US" sz="1050" dirty="0"/>
          </a:p>
        </p:txBody>
      </p:sp>
      <p:sp>
        <p:nvSpPr>
          <p:cNvPr id="25" name="Shape 23"/>
          <p:cNvSpPr/>
          <p:nvPr/>
        </p:nvSpPr>
        <p:spPr>
          <a:xfrm>
            <a:off x="10515600" y="2834640"/>
            <a:ext cx="1005840" cy="1005840"/>
          </a:xfrm>
          <a:prstGeom prst="ellipse">
            <a:avLst/>
          </a:prstGeom>
          <a:solidFill>
            <a:srgbClr val="0F9D8A"/>
          </a:solidFill>
          <a:ln/>
        </p:spPr>
      </p:sp>
      <p:sp>
        <p:nvSpPr>
          <p:cNvPr id="26" name="Text 24"/>
          <p:cNvSpPr/>
          <p:nvPr/>
        </p:nvSpPr>
        <p:spPr>
          <a:xfrm>
            <a:off x="10515600"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a:t>
            </a:r>
            <a:endParaRPr lang="en-US" sz="2600" dirty="0"/>
          </a:p>
        </p:txBody>
      </p:sp>
      <p:sp>
        <p:nvSpPr>
          <p:cNvPr id="27" name="Text 25"/>
          <p:cNvSpPr/>
          <p:nvPr/>
        </p:nvSpPr>
        <p:spPr>
          <a:xfrm>
            <a:off x="10012680"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Deploy</a:t>
            </a:r>
            <a:endParaRPr lang="en-US" sz="1400" dirty="0"/>
          </a:p>
        </p:txBody>
      </p:sp>
      <p:sp>
        <p:nvSpPr>
          <p:cNvPr id="28" name="Text 26"/>
          <p:cNvSpPr/>
          <p:nvPr/>
        </p:nvSpPr>
        <p:spPr>
          <a:xfrm>
            <a:off x="9829800"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Streamlit app</a:t>
            </a:r>
            <a:endParaRPr lang="en-US" sz="1050" dirty="0"/>
          </a:p>
        </p:txBody>
      </p:sp>
      <p:sp>
        <p:nvSpPr>
          <p:cNvPr id="29" name="Shape 27"/>
          <p:cNvSpPr/>
          <p:nvPr/>
        </p:nvSpPr>
        <p:spPr>
          <a:xfrm>
            <a:off x="548640" y="5120640"/>
            <a:ext cx="10881360" cy="1051560"/>
          </a:xfrm>
          <a:prstGeom prst="roundRect">
            <a:avLst>
              <a:gd name="adj" fmla="val 782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0" name="Text 28"/>
          <p:cNvSpPr/>
          <p:nvPr/>
        </p:nvSpPr>
        <p:spPr>
          <a:xfrm>
            <a:off x="914400" y="5120640"/>
            <a:ext cx="10149840" cy="105156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Each stage lives in its own notebook - data loading, EDA, feature engineering, and model evaluation - so the pipeline is reproducible end to end, from the raw Home Credit tables to the live scoring app.</a:t>
            </a:r>
            <a:endParaRPr lang="en-US" sz="1300" dirty="0"/>
          </a:p>
        </p:txBody>
      </p:sp>
      <p:sp>
        <p:nvSpPr>
          <p:cNvPr id="31" name="Text 29"/>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32" name="Text 30"/>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749808"/>
            <a:ext cx="100584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One applicant, eight sources of history</a:t>
            </a:r>
            <a:endParaRPr lang="en-US" sz="3000" dirty="0"/>
          </a:p>
        </p:txBody>
      </p:sp>
      <p:sp>
        <p:nvSpPr>
          <p:cNvPr id="4" name="Text 2"/>
          <p:cNvSpPr/>
          <p:nvPr/>
        </p:nvSpPr>
        <p:spPr>
          <a:xfrm>
            <a:off x="548640" y="1325880"/>
            <a:ext cx="10881360" cy="548640"/>
          </a:xfrm>
          <a:prstGeom prst="rect">
            <a:avLst/>
          </a:prstGeom>
          <a:noFill/>
          <a:ln/>
        </p:spPr>
        <p:txBody>
          <a:bodyPr wrap="square" rtlCol="0" anchor="ctr"/>
          <a:lstStyle/>
          <a:p>
            <a:pPr marL="0" indent="0">
              <a:buNone/>
            </a:pPr>
            <a:r>
              <a:rPr lang="en-US" sz="1350" dirty="0">
                <a:solidFill>
                  <a:srgbClr val="5B6472"/>
                </a:solidFill>
                <a:latin typeface="Calibri" pitchFamily="34" charset="0"/>
                <a:ea typeface="Calibri" pitchFamily="34" charset="-122"/>
                <a:cs typeface="Calibri" pitchFamily="34" charset="-120"/>
              </a:rPr>
              <a:t>The Home Credit dataset links a customer's loan application to their financial footprint across several kinds of history -  most of it many rows per person.</a:t>
            </a:r>
            <a:endParaRPr lang="en-US" sz="1350" dirty="0"/>
          </a:p>
        </p:txBody>
      </p:sp>
      <p:sp>
        <p:nvSpPr>
          <p:cNvPr id="5" name="Shape 3"/>
          <p:cNvSpPr/>
          <p:nvPr/>
        </p:nvSpPr>
        <p:spPr>
          <a:xfrm>
            <a:off x="548640" y="205740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7" name="Text 5"/>
          <p:cNvSpPr/>
          <p:nvPr/>
        </p:nvSpPr>
        <p:spPr>
          <a:xfrm>
            <a:off x="777240" y="211226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Application</a:t>
            </a:r>
            <a:endParaRPr lang="en-US" sz="1250" dirty="0"/>
          </a:p>
        </p:txBody>
      </p:sp>
      <p:sp>
        <p:nvSpPr>
          <p:cNvPr id="8" name="Text 6"/>
          <p:cNvSpPr/>
          <p:nvPr/>
        </p:nvSpPr>
        <p:spPr>
          <a:xfrm>
            <a:off x="777240" y="236829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Core applicant &amp; loan info</a:t>
            </a:r>
            <a:endParaRPr lang="en-US" sz="950" dirty="0"/>
          </a:p>
        </p:txBody>
      </p:sp>
      <p:sp>
        <p:nvSpPr>
          <p:cNvPr id="9" name="Text 7"/>
          <p:cNvSpPr/>
          <p:nvPr/>
        </p:nvSpPr>
        <p:spPr>
          <a:xfrm>
            <a:off x="777240" y="2542032"/>
            <a:ext cx="3154680" cy="182880"/>
          </a:xfrm>
          <a:prstGeom prst="rect">
            <a:avLst/>
          </a:prstGeom>
          <a:noFill/>
          <a:ln/>
        </p:spPr>
        <p:txBody>
          <a:bodyPr wrap="square" rtlCol="0" anchor="ctr"/>
          <a:lstStyle/>
          <a:p>
            <a:pPr marL="0" indent="0">
              <a:buNone/>
            </a:pPr>
            <a:r>
              <a:rPr lang="en-US" sz="900" b="1" dirty="0">
                <a:solidFill>
                  <a:srgbClr val="00B050"/>
                </a:solidFill>
                <a:latin typeface="Calibri" pitchFamily="34" charset="0"/>
                <a:ea typeface="Calibri" pitchFamily="34" charset="-122"/>
                <a:cs typeface="Calibri" pitchFamily="34" charset="-120"/>
              </a:rPr>
              <a:t>1 row / applicant</a:t>
            </a:r>
            <a:endParaRPr lang="en-US" sz="900" dirty="0">
              <a:solidFill>
                <a:srgbClr val="00B050"/>
              </a:solidFill>
            </a:endParaRPr>
          </a:p>
        </p:txBody>
      </p:sp>
      <p:sp>
        <p:nvSpPr>
          <p:cNvPr id="10" name="Shape 8"/>
          <p:cNvSpPr/>
          <p:nvPr/>
        </p:nvSpPr>
        <p:spPr>
          <a:xfrm>
            <a:off x="4251960" y="205740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2" name="Text 10"/>
          <p:cNvSpPr/>
          <p:nvPr/>
        </p:nvSpPr>
        <p:spPr>
          <a:xfrm>
            <a:off x="4480560" y="211226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Bureau</a:t>
            </a:r>
            <a:endParaRPr lang="en-US" sz="1250" dirty="0"/>
          </a:p>
        </p:txBody>
      </p:sp>
      <p:sp>
        <p:nvSpPr>
          <p:cNvPr id="13" name="Text 11"/>
          <p:cNvSpPr/>
          <p:nvPr/>
        </p:nvSpPr>
        <p:spPr>
          <a:xfrm>
            <a:off x="4480560" y="236829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Credit history at other lenders</a:t>
            </a:r>
            <a:endParaRPr lang="en-US" sz="950" dirty="0"/>
          </a:p>
        </p:txBody>
      </p:sp>
      <p:sp>
        <p:nvSpPr>
          <p:cNvPr id="14" name="Text 12"/>
          <p:cNvSpPr/>
          <p:nvPr/>
        </p:nvSpPr>
        <p:spPr>
          <a:xfrm>
            <a:off x="4480560" y="254203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15" name="Shape 13"/>
          <p:cNvSpPr/>
          <p:nvPr/>
        </p:nvSpPr>
        <p:spPr>
          <a:xfrm>
            <a:off x="7955280" y="205740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7" name="Text 15"/>
          <p:cNvSpPr/>
          <p:nvPr/>
        </p:nvSpPr>
        <p:spPr>
          <a:xfrm>
            <a:off x="8183880" y="211226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Bureau balance</a:t>
            </a:r>
            <a:endParaRPr lang="en-US" sz="1250" dirty="0"/>
          </a:p>
        </p:txBody>
      </p:sp>
      <p:sp>
        <p:nvSpPr>
          <p:cNvPr id="18" name="Text 16"/>
          <p:cNvSpPr/>
          <p:nvPr/>
        </p:nvSpPr>
        <p:spPr>
          <a:xfrm>
            <a:off x="8183880" y="236829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Monthly status on those credits</a:t>
            </a:r>
            <a:endParaRPr lang="en-US" sz="950" dirty="0"/>
          </a:p>
        </p:txBody>
      </p:sp>
      <p:sp>
        <p:nvSpPr>
          <p:cNvPr id="19" name="Text 17"/>
          <p:cNvSpPr/>
          <p:nvPr/>
        </p:nvSpPr>
        <p:spPr>
          <a:xfrm>
            <a:off x="8183880" y="254203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27M+ rows total</a:t>
            </a:r>
            <a:endParaRPr lang="en-US" sz="900" dirty="0"/>
          </a:p>
        </p:txBody>
      </p:sp>
      <p:sp>
        <p:nvSpPr>
          <p:cNvPr id="20" name="Shape 18"/>
          <p:cNvSpPr/>
          <p:nvPr/>
        </p:nvSpPr>
        <p:spPr>
          <a:xfrm>
            <a:off x="548640" y="288036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2" name="Text 20"/>
          <p:cNvSpPr/>
          <p:nvPr/>
        </p:nvSpPr>
        <p:spPr>
          <a:xfrm>
            <a:off x="777240" y="293522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Previous application</a:t>
            </a:r>
            <a:endParaRPr lang="en-US" sz="1250" dirty="0"/>
          </a:p>
        </p:txBody>
      </p:sp>
      <p:sp>
        <p:nvSpPr>
          <p:cNvPr id="23" name="Text 21"/>
          <p:cNvSpPr/>
          <p:nvPr/>
        </p:nvSpPr>
        <p:spPr>
          <a:xfrm>
            <a:off x="777240" y="319125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Applicant's past Home Credit loans</a:t>
            </a:r>
            <a:endParaRPr lang="en-US" sz="950" dirty="0"/>
          </a:p>
        </p:txBody>
      </p:sp>
      <p:sp>
        <p:nvSpPr>
          <p:cNvPr id="24" name="Text 22"/>
          <p:cNvSpPr/>
          <p:nvPr/>
        </p:nvSpPr>
        <p:spPr>
          <a:xfrm>
            <a:off x="777240" y="336499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25" name="Shape 23"/>
          <p:cNvSpPr/>
          <p:nvPr/>
        </p:nvSpPr>
        <p:spPr>
          <a:xfrm>
            <a:off x="4251960" y="288036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7" name="Text 25"/>
          <p:cNvSpPr/>
          <p:nvPr/>
        </p:nvSpPr>
        <p:spPr>
          <a:xfrm>
            <a:off x="4480560" y="293522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POS / cash balance</a:t>
            </a:r>
            <a:endParaRPr lang="en-US" sz="1250" dirty="0"/>
          </a:p>
        </p:txBody>
      </p:sp>
      <p:sp>
        <p:nvSpPr>
          <p:cNvPr id="28" name="Text 26"/>
          <p:cNvSpPr/>
          <p:nvPr/>
        </p:nvSpPr>
        <p:spPr>
          <a:xfrm>
            <a:off x="4480560" y="319125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Monthly point-of-sale &amp; cash loans</a:t>
            </a:r>
            <a:endParaRPr lang="en-US" sz="950" dirty="0"/>
          </a:p>
        </p:txBody>
      </p:sp>
      <p:sp>
        <p:nvSpPr>
          <p:cNvPr id="29" name="Text 27"/>
          <p:cNvSpPr/>
          <p:nvPr/>
        </p:nvSpPr>
        <p:spPr>
          <a:xfrm>
            <a:off x="4480560" y="336499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30" name="Shape 28"/>
          <p:cNvSpPr/>
          <p:nvPr/>
        </p:nvSpPr>
        <p:spPr>
          <a:xfrm>
            <a:off x="7955280" y="288036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2" name="Text 30"/>
          <p:cNvSpPr/>
          <p:nvPr/>
        </p:nvSpPr>
        <p:spPr>
          <a:xfrm>
            <a:off x="8183880" y="293522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Credit card balance</a:t>
            </a:r>
            <a:endParaRPr lang="en-US" sz="1250" dirty="0"/>
          </a:p>
        </p:txBody>
      </p:sp>
      <p:sp>
        <p:nvSpPr>
          <p:cNvPr id="33" name="Text 31"/>
          <p:cNvSpPr/>
          <p:nvPr/>
        </p:nvSpPr>
        <p:spPr>
          <a:xfrm>
            <a:off x="8183880" y="319125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Monthly credit card activity</a:t>
            </a:r>
            <a:endParaRPr lang="en-US" sz="950" dirty="0"/>
          </a:p>
        </p:txBody>
      </p:sp>
      <p:sp>
        <p:nvSpPr>
          <p:cNvPr id="34" name="Text 32"/>
          <p:cNvSpPr/>
          <p:nvPr/>
        </p:nvSpPr>
        <p:spPr>
          <a:xfrm>
            <a:off x="8183880" y="336499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35" name="Shape 33"/>
          <p:cNvSpPr/>
          <p:nvPr/>
        </p:nvSpPr>
        <p:spPr>
          <a:xfrm>
            <a:off x="548640" y="370332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7" name="Text 35"/>
          <p:cNvSpPr/>
          <p:nvPr/>
        </p:nvSpPr>
        <p:spPr>
          <a:xfrm>
            <a:off x="777240" y="375818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Installments</a:t>
            </a:r>
            <a:endParaRPr lang="en-US" sz="1250" dirty="0"/>
          </a:p>
        </p:txBody>
      </p:sp>
      <p:sp>
        <p:nvSpPr>
          <p:cNvPr id="38" name="Text 36"/>
          <p:cNvSpPr/>
          <p:nvPr/>
        </p:nvSpPr>
        <p:spPr>
          <a:xfrm>
            <a:off x="777240" y="401421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Actual vs. expected repayments</a:t>
            </a:r>
            <a:endParaRPr lang="en-US" sz="950" dirty="0"/>
          </a:p>
        </p:txBody>
      </p:sp>
      <p:sp>
        <p:nvSpPr>
          <p:cNvPr id="39" name="Text 37"/>
          <p:cNvSpPr/>
          <p:nvPr/>
        </p:nvSpPr>
        <p:spPr>
          <a:xfrm>
            <a:off x="777240" y="418795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40" name="Shape 38"/>
          <p:cNvSpPr/>
          <p:nvPr/>
        </p:nvSpPr>
        <p:spPr>
          <a:xfrm>
            <a:off x="7955280" y="3703320"/>
            <a:ext cx="3520440" cy="658368"/>
          </a:xfrm>
          <a:prstGeom prst="roundRect">
            <a:avLst>
              <a:gd name="adj" fmla="val 12500"/>
            </a:avLst>
          </a:prstGeom>
          <a:solidFill>
            <a:srgbClr val="1E2761"/>
          </a:solidFill>
          <a:ln w="12700">
            <a:solidFill>
              <a:srgbClr val="E1E8F2"/>
            </a:solidFill>
            <a:prstDash val="solid"/>
          </a:ln>
          <a:effectLst>
            <a:outerShdw blurRad="50800" dist="38100" dir="18900000" algn="bl" rotWithShape="0">
              <a:prstClr val="black">
                <a:alpha val="40000"/>
              </a:prstClr>
            </a:outerShdw>
          </a:effectLst>
        </p:spPr>
      </p:sp>
      <p:sp>
        <p:nvSpPr>
          <p:cNvPr id="41" name="Text 39"/>
          <p:cNvSpPr/>
          <p:nvPr/>
        </p:nvSpPr>
        <p:spPr>
          <a:xfrm>
            <a:off x="8138160" y="3758184"/>
            <a:ext cx="3154680" cy="310896"/>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307,511</a:t>
            </a:r>
            <a:endParaRPr lang="en-US" sz="1700" dirty="0"/>
          </a:p>
        </p:txBody>
      </p:sp>
      <p:sp>
        <p:nvSpPr>
          <p:cNvPr id="42" name="Text 40"/>
          <p:cNvSpPr/>
          <p:nvPr/>
        </p:nvSpPr>
        <p:spPr>
          <a:xfrm>
            <a:off x="8138160" y="4087368"/>
            <a:ext cx="3154680" cy="256032"/>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training applicants</a:t>
            </a:r>
            <a:endParaRPr lang="en-US" sz="950" dirty="0"/>
          </a:p>
        </p:txBody>
      </p:sp>
      <p:sp>
        <p:nvSpPr>
          <p:cNvPr id="43" name="Shape 41"/>
          <p:cNvSpPr/>
          <p:nvPr/>
        </p:nvSpPr>
        <p:spPr>
          <a:xfrm>
            <a:off x="54864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44" name="Text 42"/>
          <p:cNvSpPr/>
          <p:nvPr/>
        </p:nvSpPr>
        <p:spPr>
          <a:xfrm>
            <a:off x="74980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8</a:t>
            </a:r>
            <a:endParaRPr lang="en-US" sz="2600" dirty="0">
              <a:solidFill>
                <a:srgbClr val="002060"/>
              </a:solidFill>
            </a:endParaRPr>
          </a:p>
        </p:txBody>
      </p:sp>
      <p:sp>
        <p:nvSpPr>
          <p:cNvPr id="45" name="Text 43"/>
          <p:cNvSpPr/>
          <p:nvPr/>
        </p:nvSpPr>
        <p:spPr>
          <a:xfrm>
            <a:off x="74980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linked data tables</a:t>
            </a:r>
            <a:endParaRPr lang="en-US" sz="1100" dirty="0"/>
          </a:p>
        </p:txBody>
      </p:sp>
      <p:sp>
        <p:nvSpPr>
          <p:cNvPr id="46" name="Shape 44"/>
          <p:cNvSpPr/>
          <p:nvPr/>
        </p:nvSpPr>
        <p:spPr>
          <a:xfrm>
            <a:off x="333756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47" name="Text 45"/>
          <p:cNvSpPr/>
          <p:nvPr/>
        </p:nvSpPr>
        <p:spPr>
          <a:xfrm>
            <a:off x="353872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48,744</a:t>
            </a:r>
            <a:endParaRPr lang="en-US" sz="2600" dirty="0">
              <a:solidFill>
                <a:srgbClr val="002060"/>
              </a:solidFill>
            </a:endParaRPr>
          </a:p>
        </p:txBody>
      </p:sp>
      <p:sp>
        <p:nvSpPr>
          <p:cNvPr id="48" name="Text 46"/>
          <p:cNvSpPr/>
          <p:nvPr/>
        </p:nvSpPr>
        <p:spPr>
          <a:xfrm>
            <a:off x="353872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applicants to score</a:t>
            </a:r>
            <a:endParaRPr lang="en-US" sz="1100" dirty="0"/>
          </a:p>
        </p:txBody>
      </p:sp>
      <p:sp>
        <p:nvSpPr>
          <p:cNvPr id="49" name="Shape 47"/>
          <p:cNvSpPr/>
          <p:nvPr/>
        </p:nvSpPr>
        <p:spPr>
          <a:xfrm>
            <a:off x="612648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50" name="Text 48"/>
          <p:cNvSpPr/>
          <p:nvPr/>
        </p:nvSpPr>
        <p:spPr>
          <a:xfrm>
            <a:off x="632764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617</a:t>
            </a:r>
            <a:endParaRPr lang="en-US" sz="2600" dirty="0">
              <a:solidFill>
                <a:srgbClr val="002060"/>
              </a:solidFill>
            </a:endParaRPr>
          </a:p>
        </p:txBody>
      </p:sp>
      <p:sp>
        <p:nvSpPr>
          <p:cNvPr id="51" name="Text 49"/>
          <p:cNvSpPr/>
          <p:nvPr/>
        </p:nvSpPr>
        <p:spPr>
          <a:xfrm>
            <a:off x="632764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raw features assembled</a:t>
            </a:r>
            <a:endParaRPr lang="en-US" sz="1100" dirty="0"/>
          </a:p>
        </p:txBody>
      </p:sp>
      <p:sp>
        <p:nvSpPr>
          <p:cNvPr id="52" name="Shape 50"/>
          <p:cNvSpPr/>
          <p:nvPr/>
        </p:nvSpPr>
        <p:spPr>
          <a:xfrm>
            <a:off x="891540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53" name="Text 51"/>
          <p:cNvSpPr/>
          <p:nvPr/>
        </p:nvSpPr>
        <p:spPr>
          <a:xfrm>
            <a:off x="911656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27M+</a:t>
            </a:r>
            <a:endParaRPr lang="en-US" sz="2600" dirty="0">
              <a:solidFill>
                <a:srgbClr val="002060"/>
              </a:solidFill>
            </a:endParaRPr>
          </a:p>
        </p:txBody>
      </p:sp>
      <p:sp>
        <p:nvSpPr>
          <p:cNvPr id="54" name="Text 52"/>
          <p:cNvSpPr/>
          <p:nvPr/>
        </p:nvSpPr>
        <p:spPr>
          <a:xfrm>
            <a:off x="911656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bureau_balance rows alone</a:t>
            </a:r>
            <a:endParaRPr lang="en-US" sz="1100" dirty="0"/>
          </a:p>
        </p:txBody>
      </p:sp>
      <p:sp>
        <p:nvSpPr>
          <p:cNvPr id="55" name="Text 53"/>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56" name="Text 54"/>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Three challenges before we could model anything</a:t>
            </a:r>
            <a:endParaRPr lang="en-US" sz="3000" dirty="0"/>
          </a:p>
        </p:txBody>
      </p:sp>
      <p:sp>
        <p:nvSpPr>
          <p:cNvPr id="4" name="Shape 2"/>
          <p:cNvSpPr/>
          <p:nvPr/>
        </p:nvSpPr>
        <p:spPr>
          <a:xfrm>
            <a:off x="548640" y="1645920"/>
            <a:ext cx="3456432" cy="4480560"/>
          </a:xfrm>
          <a:prstGeom prst="roundRect">
            <a:avLst>
              <a:gd name="adj" fmla="val 2381"/>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6" name="Text 4"/>
          <p:cNvSpPr/>
          <p:nvPr/>
        </p:nvSpPr>
        <p:spPr>
          <a:xfrm>
            <a:off x="822960" y="1920240"/>
            <a:ext cx="548640" cy="548640"/>
          </a:xfrm>
          <a:prstGeom prst="rect">
            <a:avLst/>
          </a:prstGeom>
          <a:noFill/>
          <a:ln/>
        </p:spPr>
        <p:txBody>
          <a:bodyPr wrap="square" rtlCol="0" anchor="ctr"/>
          <a:lstStyle/>
          <a:p>
            <a:pPr marL="0" indent="0" algn="ctr">
              <a:buNone/>
            </a:pPr>
            <a:endParaRPr lang="en-US" sz="2200" dirty="0"/>
          </a:p>
        </p:txBody>
      </p:sp>
      <p:sp>
        <p:nvSpPr>
          <p:cNvPr id="7" name="Text 5"/>
          <p:cNvSpPr/>
          <p:nvPr/>
        </p:nvSpPr>
        <p:spPr>
          <a:xfrm>
            <a:off x="822960" y="1930227"/>
            <a:ext cx="2907792" cy="50292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Widespread missing data</a:t>
            </a:r>
            <a:endParaRPr lang="en-US" sz="1500" dirty="0"/>
          </a:p>
        </p:txBody>
      </p:sp>
      <p:sp>
        <p:nvSpPr>
          <p:cNvPr id="8" name="Text 6"/>
          <p:cNvSpPr/>
          <p:nvPr/>
        </p:nvSpPr>
        <p:spPr>
          <a:xfrm>
            <a:off x="920615" y="2611699"/>
            <a:ext cx="2907792" cy="457200"/>
          </a:xfrm>
          <a:prstGeom prst="rect">
            <a:avLst/>
          </a:prstGeom>
          <a:noFill/>
          <a:ln/>
        </p:spPr>
        <p:txBody>
          <a:bodyPr wrap="square" rtlCol="0" anchor="ctr"/>
          <a:lstStyle/>
          <a:p>
            <a:pPr marL="0" indent="0">
              <a:buNone/>
            </a:pPr>
            <a:r>
              <a:rPr lang="en-US" sz="1200" dirty="0">
                <a:solidFill>
                  <a:srgbClr val="5B6472"/>
                </a:solidFill>
                <a:latin typeface="Calibri" pitchFamily="34" charset="0"/>
                <a:ea typeface="Calibri" pitchFamily="34" charset="-122"/>
                <a:cs typeface="Calibri" pitchFamily="34" charset="-120"/>
              </a:rPr>
              <a:t>562 of 617 features had at least one missing value.</a:t>
            </a:r>
            <a:endParaRPr lang="en-US" sz="1200" dirty="0"/>
          </a:p>
        </p:txBody>
      </p:sp>
      <p:sp>
        <p:nvSpPr>
          <p:cNvPr id="9" name="Text 7"/>
          <p:cNvSpPr/>
          <p:nvPr/>
        </p:nvSpPr>
        <p:spPr>
          <a:xfrm>
            <a:off x="873564" y="3211718"/>
            <a:ext cx="914400" cy="45720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6</a:t>
            </a:r>
            <a:endParaRPr lang="en-US" sz="2600" dirty="0">
              <a:solidFill>
                <a:srgbClr val="002060"/>
              </a:solidFill>
            </a:endParaRPr>
          </a:p>
        </p:txBody>
      </p:sp>
      <p:sp>
        <p:nvSpPr>
          <p:cNvPr id="10" name="Text 8"/>
          <p:cNvSpPr/>
          <p:nvPr/>
        </p:nvSpPr>
        <p:spPr>
          <a:xfrm>
            <a:off x="822960" y="3675221"/>
            <a:ext cx="2907792" cy="365760"/>
          </a:xfrm>
          <a:prstGeom prst="rect">
            <a:avLst/>
          </a:prstGeom>
          <a:noFill/>
          <a:ln/>
        </p:spPr>
        <p:txBody>
          <a:bodyPr wrap="square"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features &gt;90% missing</a:t>
            </a:r>
            <a:endParaRPr lang="en-US" sz="1050" dirty="0"/>
          </a:p>
        </p:txBody>
      </p:sp>
      <p:sp>
        <p:nvSpPr>
          <p:cNvPr id="11" name="Text 9"/>
          <p:cNvSpPr/>
          <p:nvPr/>
        </p:nvSpPr>
        <p:spPr>
          <a:xfrm>
            <a:off x="822960" y="3972401"/>
            <a:ext cx="1097280" cy="45720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151</a:t>
            </a:r>
            <a:endParaRPr lang="en-US" sz="2600" dirty="0">
              <a:solidFill>
                <a:srgbClr val="002060"/>
              </a:solidFill>
            </a:endParaRPr>
          </a:p>
        </p:txBody>
      </p:sp>
      <p:sp>
        <p:nvSpPr>
          <p:cNvPr id="12" name="Text 10"/>
          <p:cNvSpPr/>
          <p:nvPr/>
        </p:nvSpPr>
        <p:spPr>
          <a:xfrm>
            <a:off x="777093" y="4361021"/>
            <a:ext cx="2907792" cy="365760"/>
          </a:xfrm>
          <a:prstGeom prst="rect">
            <a:avLst/>
          </a:prstGeom>
          <a:noFill/>
          <a:ln/>
        </p:spPr>
        <p:txBody>
          <a:bodyPr wrap="square"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features 50-90% missing</a:t>
            </a:r>
            <a:endParaRPr lang="en-US" sz="1050" dirty="0"/>
          </a:p>
        </p:txBody>
      </p:sp>
      <p:sp>
        <p:nvSpPr>
          <p:cNvPr id="13" name="Shape 11"/>
          <p:cNvSpPr/>
          <p:nvPr/>
        </p:nvSpPr>
        <p:spPr>
          <a:xfrm>
            <a:off x="4261104" y="1645920"/>
            <a:ext cx="3456432" cy="4480560"/>
          </a:xfrm>
          <a:prstGeom prst="roundRect">
            <a:avLst>
              <a:gd name="adj" fmla="val 2381"/>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5" name="Text 13"/>
          <p:cNvSpPr/>
          <p:nvPr/>
        </p:nvSpPr>
        <p:spPr>
          <a:xfrm>
            <a:off x="4535424" y="19202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4535424" y="1943987"/>
            <a:ext cx="2907792" cy="50292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Severe class imbalance</a:t>
            </a:r>
            <a:endParaRPr lang="en-US" sz="1500" dirty="0"/>
          </a:p>
        </p:txBody>
      </p:sp>
      <p:sp>
        <p:nvSpPr>
          <p:cNvPr id="17" name="Text 15"/>
          <p:cNvSpPr/>
          <p:nvPr/>
        </p:nvSpPr>
        <p:spPr>
          <a:xfrm>
            <a:off x="4438301" y="2322376"/>
            <a:ext cx="2907792" cy="731520"/>
          </a:xfrm>
          <a:prstGeom prst="rect">
            <a:avLst/>
          </a:prstGeom>
          <a:noFill/>
          <a:ln/>
        </p:spPr>
        <p:txBody>
          <a:bodyPr wrap="square" rtlCol="0" anchor="ctr"/>
          <a:lstStyle/>
          <a:p>
            <a:pPr marL="0" indent="0">
              <a:lnSpc>
                <a:spcPct val="120000"/>
              </a:lnSpc>
              <a:buNone/>
            </a:pPr>
            <a:r>
              <a:rPr lang="en-US" sz="1200" dirty="0">
                <a:solidFill>
                  <a:srgbClr val="5B6472"/>
                </a:solidFill>
                <a:latin typeface="Calibri" pitchFamily="34" charset="0"/>
                <a:ea typeface="Calibri" pitchFamily="34" charset="-122"/>
                <a:cs typeface="Calibri" pitchFamily="34" charset="-120"/>
              </a:rPr>
              <a:t>Most applicants repay. Very few default ,  so the model must not just learn to say "no risk" every time.</a:t>
            </a:r>
            <a:endParaRPr lang="en-US" sz="1200" dirty="0"/>
          </a:p>
        </p:txBody>
      </p:sp>
      <p:graphicFrame>
        <p:nvGraphicFramePr>
          <p:cNvPr id="18" name="Chart 0"/>
          <p:cNvGraphicFramePr/>
          <p:nvPr/>
        </p:nvGraphicFramePr>
        <p:xfrm>
          <a:off x="4764024" y="3886200"/>
          <a:ext cx="242316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7973568" y="1645920"/>
            <a:ext cx="3456432" cy="4480560"/>
          </a:xfrm>
          <a:prstGeom prst="roundRect">
            <a:avLst>
              <a:gd name="adj" fmla="val 2381"/>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1" name="Text 18"/>
          <p:cNvSpPr/>
          <p:nvPr/>
        </p:nvSpPr>
        <p:spPr>
          <a:xfrm>
            <a:off x="8247888" y="19202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19"/>
          <p:cNvSpPr/>
          <p:nvPr/>
        </p:nvSpPr>
        <p:spPr>
          <a:xfrm>
            <a:off x="8247888" y="1979720"/>
            <a:ext cx="2907792" cy="50292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Placeholder "fake" values</a:t>
            </a:r>
            <a:endParaRPr lang="en-US" sz="1500" dirty="0"/>
          </a:p>
        </p:txBody>
      </p:sp>
      <p:sp>
        <p:nvSpPr>
          <p:cNvPr id="23" name="Text 20"/>
          <p:cNvSpPr/>
          <p:nvPr/>
        </p:nvSpPr>
        <p:spPr>
          <a:xfrm>
            <a:off x="8220456" y="2594110"/>
            <a:ext cx="2907792" cy="914400"/>
          </a:xfrm>
          <a:prstGeom prst="rect">
            <a:avLst/>
          </a:prstGeom>
          <a:noFill/>
          <a:ln/>
        </p:spPr>
        <p:txBody>
          <a:bodyPr wrap="square" rtlCol="0" anchor="ctr"/>
          <a:lstStyle/>
          <a:p>
            <a:pPr>
              <a:lnSpc>
                <a:spcPct val="120000"/>
              </a:lnSpc>
            </a:pPr>
            <a:r>
              <a:rPr lang="en-US" sz="1200" dirty="0">
                <a:solidFill>
                  <a:srgbClr val="5B6472"/>
                </a:solidFill>
                <a:latin typeface="Calibri" pitchFamily="34" charset="0"/>
                <a:ea typeface="Calibri" pitchFamily="34" charset="-122"/>
                <a:cs typeface="Calibri" pitchFamily="34" charset="-120"/>
              </a:rPr>
              <a:t>DAYS_EMPLOYED used 365243 (~1,000 years) to mean "not currently employed" instead of a blank value. If Left untouched, this would have badly distorted the model's understanding of employment length.</a:t>
            </a:r>
            <a:endParaRPr lang="en-US" sz="1200" dirty="0"/>
          </a:p>
          <a:p>
            <a:pPr marL="0" indent="0">
              <a:lnSpc>
                <a:spcPct val="120000"/>
              </a:lnSpc>
              <a:buNone/>
            </a:pPr>
            <a:endParaRPr lang="en-US" sz="1200" dirty="0"/>
          </a:p>
        </p:txBody>
      </p:sp>
      <p:sp>
        <p:nvSpPr>
          <p:cNvPr id="24" name="Text 21"/>
          <p:cNvSpPr/>
          <p:nvPr/>
        </p:nvSpPr>
        <p:spPr>
          <a:xfrm>
            <a:off x="8220456" y="3068899"/>
            <a:ext cx="2907792" cy="1005840"/>
          </a:xfrm>
          <a:prstGeom prst="rect">
            <a:avLst/>
          </a:prstGeom>
          <a:noFill/>
          <a:ln/>
        </p:spPr>
        <p:txBody>
          <a:bodyPr wrap="square" rtlCol="0" anchor="ctr"/>
          <a:lstStyle/>
          <a:p>
            <a:pPr marL="0" indent="0">
              <a:lnSpc>
                <a:spcPct val="120000"/>
              </a:lnSpc>
              <a:buNone/>
            </a:pPr>
            <a:endParaRPr lang="en-US" sz="1200" dirty="0"/>
          </a:p>
        </p:txBody>
      </p:sp>
      <p:sp>
        <p:nvSpPr>
          <p:cNvPr id="25" name="Text 22"/>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26" name="Text 2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6</a:t>
            </a:r>
            <a:endParaRPr lang="en-US" sz="900" dirty="0"/>
          </a:p>
        </p:txBody>
      </p:sp>
      <p:pic>
        <p:nvPicPr>
          <p:cNvPr id="28" name="Picture 27">
            <a:extLst>
              <a:ext uri="{FF2B5EF4-FFF2-40B4-BE49-F238E27FC236}">
                <a16:creationId xmlns:a16="http://schemas.microsoft.com/office/drawing/2014/main" id="{16D1D162-E09E-443E-8603-B15AFB3C0AB0}"/>
              </a:ext>
            </a:extLst>
          </p:cNvPr>
          <p:cNvPicPr>
            <a:picLocks noChangeAspect="1"/>
          </p:cNvPicPr>
          <p:nvPr/>
        </p:nvPicPr>
        <p:blipFill>
          <a:blip r:embed="rId4"/>
          <a:stretch>
            <a:fillRect/>
          </a:stretch>
        </p:blipFill>
        <p:spPr>
          <a:xfrm>
            <a:off x="4605115" y="3754231"/>
            <a:ext cx="2740978" cy="2085499"/>
          </a:xfrm>
          <a:prstGeom prst="rect">
            <a:avLst/>
          </a:prstGeom>
        </p:spPr>
      </p:pic>
      <p:pic>
        <p:nvPicPr>
          <p:cNvPr id="30" name="Picture 29">
            <a:extLst>
              <a:ext uri="{FF2B5EF4-FFF2-40B4-BE49-F238E27FC236}">
                <a16:creationId xmlns:a16="http://schemas.microsoft.com/office/drawing/2014/main" id="{B45F6734-D82E-47FA-8E63-384637344C0D}"/>
              </a:ext>
            </a:extLst>
          </p:cNvPr>
          <p:cNvPicPr>
            <a:picLocks noChangeAspect="1"/>
          </p:cNvPicPr>
          <p:nvPr/>
        </p:nvPicPr>
        <p:blipFill>
          <a:blip r:embed="rId5"/>
          <a:stretch>
            <a:fillRect/>
          </a:stretch>
        </p:blipFill>
        <p:spPr>
          <a:xfrm>
            <a:off x="8311217" y="3487535"/>
            <a:ext cx="2521304" cy="26188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PREPARING THE DATA</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Cleaning with judgment, not a single blanket rule</a:t>
            </a:r>
            <a:endParaRPr lang="en-US" sz="3000" dirty="0"/>
          </a:p>
        </p:txBody>
      </p:sp>
      <p:sp>
        <p:nvSpPr>
          <p:cNvPr id="4" name="Text 2"/>
          <p:cNvSpPr/>
          <p:nvPr/>
        </p:nvSpPr>
        <p:spPr>
          <a:xfrm>
            <a:off x="548640" y="1325880"/>
            <a:ext cx="10881360" cy="457200"/>
          </a:xfrm>
          <a:prstGeom prst="rect">
            <a:avLst/>
          </a:prstGeom>
          <a:noFill/>
          <a:ln/>
        </p:spPr>
        <p:txBody>
          <a:bodyPr wrap="square" rtlCol="0" anchor="ctr"/>
          <a:lstStyle/>
          <a:p>
            <a:pPr marL="0" indent="0">
              <a:buNone/>
            </a:pPr>
            <a:r>
              <a:rPr lang="en-US" sz="1350" dirty="0">
                <a:solidFill>
                  <a:srgbClr val="5B6472"/>
                </a:solidFill>
                <a:latin typeface="Calibri" pitchFamily="34" charset="0"/>
                <a:ea typeface="Calibri" pitchFamily="34" charset="-122"/>
                <a:cs typeface="Calibri" pitchFamily="34" charset="-120"/>
              </a:rPr>
              <a:t>Different features needed different treatment, based on what a missing value actually means for that feature.</a:t>
            </a:r>
            <a:endParaRPr lang="en-US" sz="1350" dirty="0"/>
          </a:p>
        </p:txBody>
      </p:sp>
      <p:sp>
        <p:nvSpPr>
          <p:cNvPr id="5" name="Shape 3"/>
          <p:cNvSpPr/>
          <p:nvPr/>
        </p:nvSpPr>
        <p:spPr>
          <a:xfrm>
            <a:off x="548640" y="1965960"/>
            <a:ext cx="10881360" cy="777240"/>
          </a:xfrm>
          <a:prstGeom prst="roundRect">
            <a:avLst>
              <a:gd name="adj" fmla="val 10588"/>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6" name="Shape 4"/>
          <p:cNvSpPr/>
          <p:nvPr/>
        </p:nvSpPr>
        <p:spPr>
          <a:xfrm>
            <a:off x="777240" y="2135124"/>
            <a:ext cx="438912" cy="438912"/>
          </a:xfrm>
          <a:prstGeom prst="ellipse">
            <a:avLst/>
          </a:prstGeom>
          <a:solidFill>
            <a:srgbClr val="1E2761"/>
          </a:solidFill>
          <a:ln/>
        </p:spPr>
      </p:sp>
      <p:sp>
        <p:nvSpPr>
          <p:cNvPr id="7" name="Text 5"/>
          <p:cNvSpPr/>
          <p:nvPr/>
        </p:nvSpPr>
        <p:spPr>
          <a:xfrm>
            <a:off x="777240" y="2135124"/>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17320" y="1965960"/>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Fill with zero</a:t>
            </a:r>
            <a:endParaRPr lang="en-US" sz="1350" dirty="0"/>
          </a:p>
        </p:txBody>
      </p:sp>
      <p:sp>
        <p:nvSpPr>
          <p:cNvPr id="9" name="Text 7"/>
          <p:cNvSpPr/>
          <p:nvPr/>
        </p:nvSpPr>
        <p:spPr>
          <a:xfrm>
            <a:off x="4206240" y="1965960"/>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Counts, totals &amp; unique-record features (e.g. number of past loans). No history usually means zero activity, not an unknown value.</a:t>
            </a:r>
            <a:endParaRPr lang="en-US" sz="1200" dirty="0"/>
          </a:p>
        </p:txBody>
      </p:sp>
      <p:sp>
        <p:nvSpPr>
          <p:cNvPr id="10" name="Shape 8"/>
          <p:cNvSpPr/>
          <p:nvPr/>
        </p:nvSpPr>
        <p:spPr>
          <a:xfrm>
            <a:off x="548640" y="2862072"/>
            <a:ext cx="10881360" cy="777240"/>
          </a:xfrm>
          <a:prstGeom prst="roundRect">
            <a:avLst>
              <a:gd name="adj" fmla="val 10588"/>
            </a:avLst>
          </a:prstGeom>
          <a:solidFill>
            <a:srgbClr val="F5F8FC"/>
          </a:solidFill>
          <a:ln w="12700">
            <a:solidFill>
              <a:srgbClr val="E1E8F2"/>
            </a:solidFill>
            <a:prstDash val="solid"/>
          </a:ln>
          <a:effectLst>
            <a:outerShdw blurRad="50800" dist="38100" dir="18900000" algn="bl" rotWithShape="0">
              <a:prstClr val="black">
                <a:alpha val="40000"/>
              </a:prstClr>
            </a:outerShdw>
          </a:effectLst>
        </p:spPr>
      </p:sp>
      <p:sp>
        <p:nvSpPr>
          <p:cNvPr id="11" name="Shape 9"/>
          <p:cNvSpPr/>
          <p:nvPr/>
        </p:nvSpPr>
        <p:spPr>
          <a:xfrm>
            <a:off x="777240" y="3031236"/>
            <a:ext cx="438912" cy="438912"/>
          </a:xfrm>
          <a:prstGeom prst="ellipse">
            <a:avLst/>
          </a:prstGeom>
          <a:solidFill>
            <a:srgbClr val="1E2761"/>
          </a:solidFill>
          <a:ln/>
        </p:spPr>
      </p:sp>
      <p:sp>
        <p:nvSpPr>
          <p:cNvPr id="12" name="Text 10"/>
          <p:cNvSpPr/>
          <p:nvPr/>
        </p:nvSpPr>
        <p:spPr>
          <a:xfrm>
            <a:off x="777240" y="3031236"/>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417320" y="2862072"/>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Fill with the median</a:t>
            </a:r>
            <a:endParaRPr lang="en-US" sz="1350" dirty="0"/>
          </a:p>
        </p:txBody>
      </p:sp>
      <p:sp>
        <p:nvSpPr>
          <p:cNvPr id="14" name="Text 12"/>
          <p:cNvSpPr/>
          <p:nvPr/>
        </p:nvSpPr>
        <p:spPr>
          <a:xfrm>
            <a:off x="4206240" y="2862072"/>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Day-based and continuous measures, where a missing value doesn't mean "none" -  just "unknown."</a:t>
            </a:r>
            <a:endParaRPr lang="en-US" sz="1200" dirty="0"/>
          </a:p>
        </p:txBody>
      </p:sp>
      <p:sp>
        <p:nvSpPr>
          <p:cNvPr id="15" name="Shape 13"/>
          <p:cNvSpPr/>
          <p:nvPr/>
        </p:nvSpPr>
        <p:spPr>
          <a:xfrm>
            <a:off x="548640" y="3758184"/>
            <a:ext cx="10881360" cy="777240"/>
          </a:xfrm>
          <a:prstGeom prst="roundRect">
            <a:avLst>
              <a:gd name="adj" fmla="val 10588"/>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6" name="Shape 14"/>
          <p:cNvSpPr/>
          <p:nvPr/>
        </p:nvSpPr>
        <p:spPr>
          <a:xfrm>
            <a:off x="777240" y="3927348"/>
            <a:ext cx="438912" cy="438912"/>
          </a:xfrm>
          <a:prstGeom prst="ellipse">
            <a:avLst/>
          </a:prstGeom>
          <a:solidFill>
            <a:srgbClr val="1E2761"/>
          </a:solidFill>
          <a:ln/>
        </p:spPr>
      </p:sp>
      <p:sp>
        <p:nvSpPr>
          <p:cNvPr id="17" name="Text 15"/>
          <p:cNvSpPr/>
          <p:nvPr/>
        </p:nvSpPr>
        <p:spPr>
          <a:xfrm>
            <a:off x="777240" y="3927348"/>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17320" y="3758184"/>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Add a "missing" indicator</a:t>
            </a:r>
            <a:endParaRPr lang="en-US" sz="1350" dirty="0"/>
          </a:p>
        </p:txBody>
      </p:sp>
      <p:sp>
        <p:nvSpPr>
          <p:cNvPr id="19" name="Text 17"/>
          <p:cNvSpPr/>
          <p:nvPr/>
        </p:nvSpPr>
        <p:spPr>
          <a:xfrm>
            <a:off x="4206240" y="3758184"/>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Any categorical feature missing for more than 70% of applicants. The absence itself can be a useful signal.</a:t>
            </a:r>
            <a:endParaRPr lang="en-US" sz="1200" dirty="0"/>
          </a:p>
        </p:txBody>
      </p:sp>
      <p:sp>
        <p:nvSpPr>
          <p:cNvPr id="20" name="Shape 18"/>
          <p:cNvSpPr/>
          <p:nvPr/>
        </p:nvSpPr>
        <p:spPr>
          <a:xfrm>
            <a:off x="548640" y="4654296"/>
            <a:ext cx="10881360" cy="777240"/>
          </a:xfrm>
          <a:prstGeom prst="roundRect">
            <a:avLst>
              <a:gd name="adj" fmla="val 10588"/>
            </a:avLst>
          </a:prstGeom>
          <a:solidFill>
            <a:srgbClr val="F5F8FC"/>
          </a:solidFill>
          <a:ln w="12700">
            <a:solidFill>
              <a:srgbClr val="E1E8F2"/>
            </a:solidFill>
            <a:prstDash val="solid"/>
          </a:ln>
          <a:effectLst>
            <a:outerShdw blurRad="50800" dist="38100" dir="18900000" algn="bl" rotWithShape="0">
              <a:prstClr val="black">
                <a:alpha val="40000"/>
              </a:prstClr>
            </a:outerShdw>
          </a:effectLst>
        </p:spPr>
      </p:sp>
      <p:sp>
        <p:nvSpPr>
          <p:cNvPr id="21" name="Shape 19"/>
          <p:cNvSpPr/>
          <p:nvPr/>
        </p:nvSpPr>
        <p:spPr>
          <a:xfrm>
            <a:off x="777240" y="4823460"/>
            <a:ext cx="438912" cy="438912"/>
          </a:xfrm>
          <a:prstGeom prst="ellipse">
            <a:avLst/>
          </a:prstGeom>
          <a:solidFill>
            <a:srgbClr val="1E2761"/>
          </a:solidFill>
          <a:ln/>
        </p:spPr>
      </p:sp>
      <p:sp>
        <p:nvSpPr>
          <p:cNvPr id="22" name="Text 20"/>
          <p:cNvSpPr/>
          <p:nvPr/>
        </p:nvSpPr>
        <p:spPr>
          <a:xfrm>
            <a:off x="777240" y="4823460"/>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417320" y="4654296"/>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Fix known placeholders</a:t>
            </a:r>
            <a:endParaRPr lang="en-US" sz="1350" dirty="0"/>
          </a:p>
        </p:txBody>
      </p:sp>
      <p:sp>
        <p:nvSpPr>
          <p:cNvPr id="24" name="Text 22"/>
          <p:cNvSpPr/>
          <p:nvPr/>
        </p:nvSpPr>
        <p:spPr>
          <a:xfrm>
            <a:off x="4206240" y="4654296"/>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Replaced the 365243 placeholder in DAYS_EMPLOYED with a proper missing value, plus a flag marking it happened.</a:t>
            </a:r>
            <a:endParaRPr lang="en-US" sz="1200" dirty="0"/>
          </a:p>
        </p:txBody>
      </p:sp>
      <p:sp>
        <p:nvSpPr>
          <p:cNvPr id="25" name="Shape 23"/>
          <p:cNvSpPr/>
          <p:nvPr/>
        </p:nvSpPr>
        <p:spPr>
          <a:xfrm>
            <a:off x="548640" y="5550408"/>
            <a:ext cx="10881360" cy="777240"/>
          </a:xfrm>
          <a:prstGeom prst="roundRect">
            <a:avLst>
              <a:gd name="adj" fmla="val 10588"/>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6" name="Shape 24"/>
          <p:cNvSpPr/>
          <p:nvPr/>
        </p:nvSpPr>
        <p:spPr>
          <a:xfrm>
            <a:off x="777240" y="5719572"/>
            <a:ext cx="438912" cy="438912"/>
          </a:xfrm>
          <a:prstGeom prst="ellipse">
            <a:avLst/>
          </a:prstGeom>
          <a:solidFill>
            <a:srgbClr val="1E2761"/>
          </a:solidFill>
          <a:ln/>
        </p:spPr>
      </p:sp>
      <p:sp>
        <p:nvSpPr>
          <p:cNvPr id="27" name="Text 25"/>
          <p:cNvSpPr/>
          <p:nvPr/>
        </p:nvSpPr>
        <p:spPr>
          <a:xfrm>
            <a:off x="777240" y="571957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417320" y="5550408"/>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Drop constant columns</a:t>
            </a:r>
            <a:endParaRPr lang="en-US" sz="1350" dirty="0"/>
          </a:p>
        </p:txBody>
      </p:sp>
      <p:sp>
        <p:nvSpPr>
          <p:cNvPr id="29" name="Text 27"/>
          <p:cNvSpPr/>
          <p:nvPr/>
        </p:nvSpPr>
        <p:spPr>
          <a:xfrm>
            <a:off x="4206240" y="5550408"/>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Removed features with no variation at all - they can't help the model tell applicants apart.</a:t>
            </a:r>
            <a:endParaRPr lang="en-US" sz="1200" dirty="0"/>
          </a:p>
        </p:txBody>
      </p:sp>
      <p:sp>
        <p:nvSpPr>
          <p:cNvPr id="30" name="Text 28"/>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31" name="Text 29"/>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84048"/>
            <a:ext cx="9144000" cy="292608"/>
          </a:xfrm>
          <a:prstGeom prst="rect">
            <a:avLst/>
          </a:prstGeom>
          <a:noFill/>
          <a:ln/>
        </p:spPr>
        <p:txBody>
          <a:bodyPr wrap="square" lIns="0" tIns="0" rIns="0" bIns="0"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FEATURE ENGINEERING</a:t>
            </a:r>
            <a:endParaRPr lang="en-US" sz="1200" dirty="0"/>
          </a:p>
        </p:txBody>
      </p:sp>
      <p:sp>
        <p:nvSpPr>
          <p:cNvPr id="3" name="Text 1"/>
          <p:cNvSpPr txBox="1"/>
          <p:nvPr/>
        </p:nvSpPr>
        <p:spPr>
          <a:xfrm>
            <a:off x="457200" y="658368"/>
            <a:ext cx="10607040" cy="685800"/>
          </a:xfrm>
          <a:prstGeom prst="rect">
            <a:avLst/>
          </a:prstGeom>
          <a:noFill/>
          <a:ln/>
        </p:spPr>
        <p:txBody>
          <a:bodyPr wrap="square" lIns="0" tIns="0" rIns="0" bIns="0" rtlCol="0" anchor="ctr"/>
          <a:lstStyle/>
          <a:p>
            <a:pPr marL="0" indent="0">
              <a:lnSpc>
                <a:spcPts val="3400"/>
              </a:lnSpc>
              <a:buNone/>
            </a:pPr>
            <a:r>
              <a:rPr lang="en-US" sz="3200" b="1" dirty="0">
                <a:solidFill>
                  <a:srgbClr val="1E2761"/>
                </a:solidFill>
                <a:latin typeface="Cambria" pitchFamily="34" charset="0"/>
                <a:ea typeface="Cambria" pitchFamily="34" charset="-122"/>
                <a:cs typeface="Cambria" pitchFamily="34" charset="-120"/>
              </a:rPr>
              <a:t>Giving the model financial common sense</a:t>
            </a:r>
            <a:endParaRPr lang="en-US" sz="3200" dirty="0"/>
          </a:p>
        </p:txBody>
      </p:sp>
      <p:sp>
        <p:nvSpPr>
          <p:cNvPr id="4" name="Text 2"/>
          <p:cNvSpPr txBox="1"/>
          <p:nvPr/>
        </p:nvSpPr>
        <p:spPr>
          <a:xfrm>
            <a:off x="457200" y="1353312"/>
            <a:ext cx="10607040" cy="530352"/>
          </a:xfrm>
          <a:prstGeom prst="rect">
            <a:avLst/>
          </a:prstGeom>
          <a:noFill/>
          <a:ln/>
        </p:spPr>
        <p:txBody>
          <a:bodyPr wrap="square" lIns="0" tIns="0" rIns="0" bIns="0" rtlCol="0" anchor="ctr"/>
          <a:lstStyle/>
          <a:p>
            <a:pPr marL="0" indent="0">
              <a:lnSpc>
                <a:spcPts val="1700"/>
              </a:lnSpc>
              <a:buNone/>
            </a:pPr>
            <a:r>
              <a:rPr lang="en-US" sz="1350" dirty="0">
                <a:solidFill>
                  <a:srgbClr val="5B6472"/>
                </a:solidFill>
                <a:latin typeface="Calibri" pitchFamily="34" charset="0"/>
                <a:ea typeface="Calibri" pitchFamily="34" charset="-122"/>
                <a:cs typeface="Calibri" pitchFamily="34" charset="-120"/>
              </a:rPr>
              <a:t>Raw numbers rarely tell the full story on their own. We combined them into ratios and summaries that reflect how a loan officer actually thinks about risk.</a:t>
            </a:r>
            <a:endParaRPr lang="en-US" sz="1350" dirty="0"/>
          </a:p>
        </p:txBody>
      </p:sp>
      <p:sp>
        <p:nvSpPr>
          <p:cNvPr id="5" name="Text 3"/>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457200" y="208483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7" name="Text 5"/>
          <p:cNvSpPr txBox="1"/>
          <p:nvPr/>
        </p:nvSpPr>
        <p:spPr>
          <a:xfrm>
            <a:off x="713232" y="228600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Financial Ratio Features</a:t>
            </a:r>
            <a:endParaRPr lang="en-US" sz="1500" dirty="0"/>
          </a:p>
        </p:txBody>
      </p:sp>
      <p:sp>
        <p:nvSpPr>
          <p:cNvPr id="8" name="Text 6"/>
          <p:cNvSpPr txBox="1"/>
          <p:nvPr/>
        </p:nvSpPr>
        <p:spPr>
          <a:xfrm>
            <a:off x="713232" y="265176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five financial ratio features that describe the relationship between an applicant's income, loan amount, repayments, and the value of the financed goods. These relationships provide more meaningful information than the original financial variables alone - the engineered features capture affordability, repayment burden, and borrowing behaviour.</a:t>
            </a:r>
            <a:endParaRPr lang="en-US" sz="1150" dirty="0"/>
          </a:p>
        </p:txBody>
      </p:sp>
      <p:sp>
        <p:nvSpPr>
          <p:cNvPr id="9" name="Shape 7"/>
          <p:cNvSpPr/>
          <p:nvPr/>
        </p:nvSpPr>
        <p:spPr>
          <a:xfrm>
            <a:off x="6255868" y="208483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0" name="Text 8"/>
          <p:cNvSpPr txBox="1"/>
          <p:nvPr/>
        </p:nvSpPr>
        <p:spPr>
          <a:xfrm>
            <a:off x="6511900" y="228600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Family Features</a:t>
            </a:r>
            <a:endParaRPr lang="en-US" sz="1500" dirty="0"/>
          </a:p>
        </p:txBody>
      </p:sp>
      <p:sp>
        <p:nvSpPr>
          <p:cNvPr id="11" name="Text 9"/>
          <p:cNvSpPr txBox="1"/>
          <p:nvPr/>
        </p:nvSpPr>
        <p:spPr>
          <a:xfrm>
            <a:off x="6511900" y="265176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four household affordability features that combine income, loan amount, and family composition. The original variables describe these factors separately, but the engineered features capture how they interact. By accounting for household size and number of dependants, they provide a more realistic measure of an applicant's financial capacity and obligations.</a:t>
            </a:r>
            <a:endParaRPr lang="en-US" sz="1150" dirty="0"/>
          </a:p>
        </p:txBody>
      </p:sp>
      <p:sp>
        <p:nvSpPr>
          <p:cNvPr id="12" name="Shape 10"/>
          <p:cNvSpPr/>
          <p:nvPr/>
        </p:nvSpPr>
        <p:spPr>
          <a:xfrm>
            <a:off x="457200" y="407365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3" name="Text 11"/>
          <p:cNvSpPr txBox="1"/>
          <p:nvPr/>
        </p:nvSpPr>
        <p:spPr>
          <a:xfrm>
            <a:off x="713232" y="427482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Age Features</a:t>
            </a:r>
            <a:endParaRPr lang="en-US" sz="1500" dirty="0"/>
          </a:p>
        </p:txBody>
      </p:sp>
      <p:sp>
        <p:nvSpPr>
          <p:cNvPr id="14" name="Text 12"/>
          <p:cNvSpPr txBox="1"/>
          <p:nvPr/>
        </p:nvSpPr>
        <p:spPr>
          <a:xfrm>
            <a:off x="713232" y="464058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time-based features by converting variables measured in negative days into positive years. In the Home Credit dataset, these variables are stored as the number of days before the loan application date, which makes them difficult to interpret. Converting them into years makes the data more understandable while preserving the same underlying information.</a:t>
            </a:r>
            <a:endParaRPr lang="en-US" sz="1150" dirty="0"/>
          </a:p>
        </p:txBody>
      </p:sp>
      <p:sp>
        <p:nvSpPr>
          <p:cNvPr id="15" name="Shape 13"/>
          <p:cNvSpPr/>
          <p:nvPr/>
        </p:nvSpPr>
        <p:spPr>
          <a:xfrm>
            <a:off x="6255868" y="407365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6" name="Text 14"/>
          <p:cNvSpPr txBox="1"/>
          <p:nvPr/>
        </p:nvSpPr>
        <p:spPr>
          <a:xfrm>
            <a:off x="6511900" y="427482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External Credit Score Features</a:t>
            </a:r>
            <a:endParaRPr lang="en-US" sz="1500" dirty="0"/>
          </a:p>
        </p:txBody>
      </p:sp>
      <p:sp>
        <p:nvSpPr>
          <p:cNvPr id="17" name="Text 15"/>
          <p:cNvSpPr txBox="1"/>
          <p:nvPr/>
        </p:nvSpPr>
        <p:spPr>
          <a:xfrm>
            <a:off x="6511900" y="464058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summary statistics from the three external credit score variables - EXT_SOURCE_1, EXT_SOURCE_2, and EXT_SOURCE_3 - among the most important predictors in the Home Credit dataset. Rather than using each score independently, this combines them into new features that summarise an applicant's overall external credit profile.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84048"/>
            <a:ext cx="9144000" cy="292608"/>
          </a:xfrm>
          <a:prstGeom prst="rect">
            <a:avLst/>
          </a:prstGeom>
          <a:noFill/>
          <a:ln/>
        </p:spPr>
        <p:txBody>
          <a:bodyPr wrap="square" lIns="0" tIns="0" rIns="0" bIns="0"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FEATURE ENGINEERING</a:t>
            </a:r>
            <a:endParaRPr lang="en-US" sz="1200" dirty="0"/>
          </a:p>
        </p:txBody>
      </p:sp>
      <p:sp>
        <p:nvSpPr>
          <p:cNvPr id="5" name="Text 3"/>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9</a:t>
            </a:r>
            <a:endParaRPr lang="en-US" sz="1000" dirty="0"/>
          </a:p>
        </p:txBody>
      </p:sp>
      <p:sp>
        <p:nvSpPr>
          <p:cNvPr id="20" name="Rectangle: Rounded Corners 19">
            <a:extLst>
              <a:ext uri="{FF2B5EF4-FFF2-40B4-BE49-F238E27FC236}">
                <a16:creationId xmlns:a16="http://schemas.microsoft.com/office/drawing/2014/main" id="{E1F5B66D-7B84-4887-B601-6801CE057F4D}"/>
              </a:ext>
            </a:extLst>
          </p:cNvPr>
          <p:cNvSpPr/>
          <p:nvPr/>
        </p:nvSpPr>
        <p:spPr>
          <a:xfrm>
            <a:off x="160906" y="815048"/>
            <a:ext cx="6310914" cy="2736020"/>
          </a:xfrm>
          <a:prstGeom prst="roundRect">
            <a:avLst/>
          </a:prstGeom>
          <a:ln>
            <a:solidFill>
              <a:schemeClr val="bg2"/>
            </a:solidFill>
          </a:ln>
          <a:effectLst>
            <a:outerShdw blurRad="50800" dist="38100" dir="18900000" algn="b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397D28F3-E20E-47EB-877B-F236A0452F83}"/>
              </a:ext>
            </a:extLst>
          </p:cNvPr>
          <p:cNvSpPr txBox="1"/>
          <p:nvPr/>
        </p:nvSpPr>
        <p:spPr>
          <a:xfrm>
            <a:off x="196788" y="998064"/>
            <a:ext cx="6346055" cy="1115690"/>
          </a:xfrm>
          <a:prstGeom prst="rect">
            <a:avLst/>
          </a:prstGeom>
          <a:noFill/>
        </p:spPr>
        <p:txBody>
          <a:bodyPr wrap="square" rtlCol="0">
            <a:spAutoFit/>
          </a:bodyPr>
          <a:lstStyle/>
          <a:p>
            <a:r>
              <a:rPr lang="en-US" sz="1600" b="1" dirty="0">
                <a:solidFill>
                  <a:srgbClr val="1E2761"/>
                </a:solidFill>
                <a:latin typeface="Cambria" pitchFamily="34" charset="0"/>
                <a:ea typeface="Cambria" pitchFamily="34" charset="-122"/>
                <a:cs typeface="Cambria" pitchFamily="34" charset="-120"/>
              </a:rPr>
              <a:t>Employment Features</a:t>
            </a:r>
          </a:p>
          <a:p>
            <a:pPr>
              <a:lnSpc>
                <a:spcPts val="1300"/>
              </a:lnSpc>
            </a:pPr>
            <a:endParaRPr lang="en-US" sz="1600" dirty="0"/>
          </a:p>
          <a:p>
            <a:pPr>
              <a:lnSpc>
                <a:spcPts val="1300"/>
              </a:lnSpc>
            </a:pPr>
            <a:r>
              <a:rPr lang="en-US" sz="1200" dirty="0"/>
              <a:t> 1. </a:t>
            </a:r>
            <a:r>
              <a:rPr lang="en-US" sz="1050" b="1" dirty="0">
                <a:solidFill>
                  <a:srgbClr val="002060"/>
                </a:solidFill>
                <a:latin typeface="Courier New" pitchFamily="34" charset="0"/>
                <a:ea typeface="Courier New" pitchFamily="34" charset="-122"/>
                <a:cs typeface="Courier New" pitchFamily="34" charset="-120"/>
              </a:rPr>
              <a:t>EMPLOYMENT_AGE_RATIO</a:t>
            </a:r>
            <a:r>
              <a:rPr lang="en-US" sz="1050" b="1" dirty="0">
                <a:solidFill>
                  <a:srgbClr val="002060"/>
                </a:solidFill>
              </a:rPr>
              <a:t> </a:t>
            </a:r>
            <a:r>
              <a:rPr lang="en-US" sz="1050" b="1" dirty="0">
                <a:solidFill>
                  <a:srgbClr val="002060"/>
                </a:solidFill>
                <a:latin typeface="Courier New" pitchFamily="34" charset="0"/>
                <a:ea typeface="Courier New" pitchFamily="34" charset="-122"/>
                <a:cs typeface="Courier New" pitchFamily="34" charset="-120"/>
              </a:rPr>
              <a:t>= EMPLOYMENT_YEARS / AGE_YEARS</a:t>
            </a:r>
          </a:p>
          <a:p>
            <a:pPr>
              <a:lnSpc>
                <a:spcPts val="1300"/>
              </a:lnSpc>
            </a:pPr>
            <a:r>
              <a:rPr lang="en-US" sz="1050" b="1" dirty="0">
                <a:solidFill>
                  <a:srgbClr val="002060"/>
                </a:solidFill>
                <a:latin typeface="Courier New" pitchFamily="34" charset="0"/>
                <a:ea typeface="Courier New" pitchFamily="34" charset="-122"/>
                <a:cs typeface="Courier New" pitchFamily="34" charset="-120"/>
              </a:rPr>
              <a:t>2</a:t>
            </a:r>
            <a:r>
              <a:rPr lang="en-US" sz="900" b="1" dirty="0">
                <a:solidFill>
                  <a:srgbClr val="002060"/>
                </a:solidFill>
                <a:latin typeface="Courier New" pitchFamily="34" charset="0"/>
                <a:ea typeface="Courier New" pitchFamily="34" charset="-122"/>
                <a:cs typeface="Courier New" pitchFamily="34" charset="-120"/>
              </a:rPr>
              <a:t>. REGISTRATION_AGE_RATIO</a:t>
            </a:r>
            <a:r>
              <a:rPr lang="en-US" sz="900" b="1" dirty="0">
                <a:solidFill>
                  <a:srgbClr val="002060"/>
                </a:solidFill>
              </a:rPr>
              <a:t> </a:t>
            </a:r>
            <a:r>
              <a:rPr lang="en-US" sz="900" b="1" dirty="0">
                <a:solidFill>
                  <a:srgbClr val="002060"/>
                </a:solidFill>
                <a:latin typeface="Courier New" pitchFamily="34" charset="0"/>
                <a:ea typeface="Courier New" pitchFamily="34" charset="-122"/>
                <a:cs typeface="Courier New" pitchFamily="34" charset="-120"/>
              </a:rPr>
              <a:t>= REGISTRATION_YEARS / AGE_YEARS</a:t>
            </a:r>
            <a:endParaRPr lang="en-US" sz="900" b="1" dirty="0">
              <a:solidFill>
                <a:srgbClr val="002060"/>
              </a:solidFill>
            </a:endParaRPr>
          </a:p>
          <a:p>
            <a:endParaRPr lang="en-US" dirty="0"/>
          </a:p>
        </p:txBody>
      </p:sp>
      <p:sp>
        <p:nvSpPr>
          <p:cNvPr id="23" name="TextBox 22">
            <a:extLst>
              <a:ext uri="{FF2B5EF4-FFF2-40B4-BE49-F238E27FC236}">
                <a16:creationId xmlns:a16="http://schemas.microsoft.com/office/drawing/2014/main" id="{E899FD50-C8A7-4DA0-AEF8-BFD2BC8891BC}"/>
              </a:ext>
            </a:extLst>
          </p:cNvPr>
          <p:cNvSpPr txBox="1"/>
          <p:nvPr/>
        </p:nvSpPr>
        <p:spPr>
          <a:xfrm>
            <a:off x="231929" y="2154933"/>
            <a:ext cx="5864071" cy="1015663"/>
          </a:xfrm>
          <a:prstGeom prst="rect">
            <a:avLst/>
          </a:prstGeom>
          <a:noFill/>
        </p:spPr>
        <p:txBody>
          <a:bodyPr wrap="square" rtlCol="0">
            <a:spAutoFit/>
          </a:bodyPr>
          <a:lstStyle/>
          <a:p>
            <a:r>
              <a:rPr lang="en-US" sz="1050" dirty="0">
                <a:solidFill>
                  <a:srgbClr val="474747"/>
                </a:solidFill>
                <a:latin typeface="Calibri" pitchFamily="34" charset="0"/>
                <a:ea typeface="Calibri" pitchFamily="34" charset="-122"/>
                <a:cs typeface="Calibri" pitchFamily="34" charset="-120"/>
              </a:rPr>
              <a:t>Created  two life-stage ratio features by comparing employment duration and registration duration to the applicant's age. These ratios provide context that the original variables cannot capture on their own. Instead of simply measuring how long an applicant has worked or been registered, the features show how significant those periods are relative to the applicant's lifetime. </a:t>
            </a:r>
          </a:p>
          <a:p>
            <a:endParaRPr lang="en-US" dirty="0"/>
          </a:p>
        </p:txBody>
      </p:sp>
      <p:sp>
        <p:nvSpPr>
          <p:cNvPr id="24" name="Rectangle: Rounded Corners 23">
            <a:extLst>
              <a:ext uri="{FF2B5EF4-FFF2-40B4-BE49-F238E27FC236}">
                <a16:creationId xmlns:a16="http://schemas.microsoft.com/office/drawing/2014/main" id="{DC4B0A90-B72E-4D72-94BD-7CC10A0F2F9A}"/>
              </a:ext>
            </a:extLst>
          </p:cNvPr>
          <p:cNvSpPr/>
          <p:nvPr/>
        </p:nvSpPr>
        <p:spPr>
          <a:xfrm>
            <a:off x="68061" y="3755255"/>
            <a:ext cx="6403759" cy="2814222"/>
          </a:xfrm>
          <a:prstGeom prst="roundRect">
            <a:avLst/>
          </a:prstGeom>
          <a:solidFill>
            <a:schemeClr val="bg1"/>
          </a:solidFill>
          <a:ln>
            <a:solidFill>
              <a:schemeClr val="bg2"/>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C4DFA2E-BB76-4BB8-AC7C-9E1A05116BA7}"/>
              </a:ext>
            </a:extLst>
          </p:cNvPr>
          <p:cNvSpPr txBox="1"/>
          <p:nvPr/>
        </p:nvSpPr>
        <p:spPr>
          <a:xfrm>
            <a:off x="513162" y="3984505"/>
            <a:ext cx="5513556" cy="1146468"/>
          </a:xfrm>
          <a:prstGeom prst="rect">
            <a:avLst/>
          </a:prstGeom>
          <a:noFill/>
        </p:spPr>
        <p:txBody>
          <a:bodyPr wrap="square" rtlCol="0">
            <a:spAutoFit/>
          </a:bodyPr>
          <a:lstStyle/>
          <a:p>
            <a:pPr>
              <a:lnSpc>
                <a:spcPts val="1300"/>
              </a:lnSpc>
            </a:pPr>
            <a:r>
              <a:rPr lang="en-US" sz="1300" b="1" dirty="0">
                <a:solidFill>
                  <a:srgbClr val="002060"/>
                </a:solidFill>
                <a:latin typeface="Cambria" pitchFamily="34" charset="0"/>
                <a:ea typeface="Cambria" pitchFamily="34" charset="-122"/>
                <a:cs typeface="Cambria" pitchFamily="34" charset="-120"/>
              </a:rPr>
              <a:t>Loan duration estimate </a:t>
            </a:r>
          </a:p>
          <a:p>
            <a:pPr>
              <a:lnSpc>
                <a:spcPts val="1300"/>
              </a:lnSpc>
            </a:pPr>
            <a:endParaRPr lang="en-US" sz="1300" b="1" dirty="0">
              <a:solidFill>
                <a:srgbClr val="002060"/>
              </a:solidFill>
              <a:latin typeface="Cambria" pitchFamily="34" charset="0"/>
              <a:ea typeface="Cambria" pitchFamily="34" charset="-122"/>
              <a:cs typeface="Cambria" pitchFamily="34" charset="-120"/>
            </a:endParaRPr>
          </a:p>
          <a:p>
            <a:pPr>
              <a:lnSpc>
                <a:spcPts val="1300"/>
              </a:lnSpc>
            </a:pPr>
            <a:r>
              <a:rPr lang="en-US" sz="1300" b="1" dirty="0">
                <a:solidFill>
                  <a:srgbClr val="002060"/>
                </a:solidFill>
                <a:latin typeface="Cambria" pitchFamily="34" charset="0"/>
                <a:ea typeface="Cambria" pitchFamily="34" charset="-122"/>
                <a:cs typeface="Cambria" pitchFamily="34" charset="-120"/>
              </a:rPr>
              <a:t>(</a:t>
            </a:r>
            <a:r>
              <a:rPr lang="en-US" sz="1300" b="1" dirty="0">
                <a:solidFill>
                  <a:srgbClr val="002060"/>
                </a:solidFill>
                <a:latin typeface="Courier New" pitchFamily="34" charset="0"/>
                <a:ea typeface="Courier New" pitchFamily="34" charset="-122"/>
                <a:cs typeface="Courier New" pitchFamily="34" charset="-120"/>
              </a:rPr>
              <a:t>LOAN_TERM</a:t>
            </a:r>
            <a:r>
              <a:rPr lang="en-US" sz="1300" b="1" dirty="0">
                <a:solidFill>
                  <a:srgbClr val="002060"/>
                </a:solidFill>
              </a:rPr>
              <a:t> </a:t>
            </a:r>
            <a:r>
              <a:rPr lang="en-US" sz="1300" b="1" dirty="0">
                <a:solidFill>
                  <a:srgbClr val="002060"/>
                </a:solidFill>
                <a:latin typeface="Courier New" pitchFamily="34" charset="0"/>
                <a:ea typeface="Courier New" pitchFamily="34" charset="-122"/>
                <a:cs typeface="Courier New" pitchFamily="34" charset="-120"/>
              </a:rPr>
              <a:t>= AMT_CREDIT / AMT_ANNUITY)</a:t>
            </a:r>
            <a:endParaRPr lang="en-US" sz="1300" b="1" dirty="0">
              <a:solidFill>
                <a:srgbClr val="002060"/>
              </a:solidFill>
            </a:endParaRPr>
          </a:p>
          <a:p>
            <a:endParaRPr lang="en-US" sz="1800" dirty="0"/>
          </a:p>
          <a:p>
            <a:endParaRPr lang="en-US" dirty="0"/>
          </a:p>
        </p:txBody>
      </p:sp>
      <p:sp>
        <p:nvSpPr>
          <p:cNvPr id="26" name="TextBox 25">
            <a:extLst>
              <a:ext uri="{FF2B5EF4-FFF2-40B4-BE49-F238E27FC236}">
                <a16:creationId xmlns:a16="http://schemas.microsoft.com/office/drawing/2014/main" id="{634BBA13-3D4D-46F2-B086-2D48858B9589}"/>
              </a:ext>
            </a:extLst>
          </p:cNvPr>
          <p:cNvSpPr txBox="1"/>
          <p:nvPr/>
        </p:nvSpPr>
        <p:spPr>
          <a:xfrm>
            <a:off x="430304" y="4746867"/>
            <a:ext cx="5772117" cy="830997"/>
          </a:xfrm>
          <a:prstGeom prst="rect">
            <a:avLst/>
          </a:prstGeom>
          <a:noFill/>
        </p:spPr>
        <p:txBody>
          <a:bodyPr wrap="square" rtlCol="0">
            <a:spAutoFit/>
          </a:bodyPr>
          <a:lstStyle/>
          <a:p>
            <a:r>
              <a:rPr lang="en-US" sz="1000" dirty="0">
                <a:solidFill>
                  <a:srgbClr val="474747"/>
                </a:solidFill>
                <a:latin typeface="Calibri" pitchFamily="34" charset="0"/>
                <a:ea typeface="Calibri" pitchFamily="34" charset="-122"/>
                <a:cs typeface="Calibri" pitchFamily="34" charset="-120"/>
              </a:rPr>
              <a:t>created one financial feature that estimates the loan repayment period by combining the total loan amount and the annual annuity payment. While the original variables describe the loan and its repayments separately, LOAN_TERM captures their relationship in a single, more informative measure. </a:t>
            </a:r>
            <a:endParaRPr lang="en-US" sz="1000" dirty="0"/>
          </a:p>
          <a:p>
            <a:endParaRPr lang="en-US" dirty="0"/>
          </a:p>
        </p:txBody>
      </p:sp>
      <p:sp>
        <p:nvSpPr>
          <p:cNvPr id="33" name="Rectangle: Rounded Corners 32">
            <a:extLst>
              <a:ext uri="{FF2B5EF4-FFF2-40B4-BE49-F238E27FC236}">
                <a16:creationId xmlns:a16="http://schemas.microsoft.com/office/drawing/2014/main" id="{5EC7E352-0182-41B0-AEC7-5EFDC5F24B4C}"/>
              </a:ext>
            </a:extLst>
          </p:cNvPr>
          <p:cNvSpPr/>
          <p:nvPr/>
        </p:nvSpPr>
        <p:spPr>
          <a:xfrm>
            <a:off x="7288567" y="878889"/>
            <a:ext cx="4671504" cy="5595063"/>
          </a:xfrm>
          <a:prstGeom prst="roundRect">
            <a:avLst/>
          </a:prstGeom>
          <a:solidFill>
            <a:schemeClr val="bg1"/>
          </a:solidFill>
          <a:ln>
            <a:solidFill>
              <a:schemeClr val="bg2"/>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7AE28A7-695F-4A4B-B3DE-9A1639E29524}"/>
              </a:ext>
            </a:extLst>
          </p:cNvPr>
          <p:cNvSpPr txBox="1"/>
          <p:nvPr/>
        </p:nvSpPr>
        <p:spPr>
          <a:xfrm>
            <a:off x="7572652" y="1154097"/>
            <a:ext cx="4163628" cy="1380186"/>
          </a:xfrm>
          <a:prstGeom prst="rect">
            <a:avLst/>
          </a:prstGeom>
          <a:noFill/>
        </p:spPr>
        <p:txBody>
          <a:bodyPr wrap="square" rtlCol="0">
            <a:spAutoFit/>
          </a:bodyPr>
          <a:lstStyle/>
          <a:p>
            <a:r>
              <a:rPr lang="en-US" sz="1600" b="1" dirty="0">
                <a:solidFill>
                  <a:srgbClr val="002060"/>
                </a:solidFill>
                <a:latin typeface="Cambria" panose="02040503050406030204" pitchFamily="18" charset="0"/>
                <a:ea typeface="Cambria" panose="02040503050406030204" pitchFamily="18" charset="0"/>
              </a:rPr>
              <a:t>Social Risk Features</a:t>
            </a:r>
          </a:p>
          <a:p>
            <a:endParaRPr lang="en-US" sz="1600" b="1" dirty="0">
              <a:solidFill>
                <a:srgbClr val="002060"/>
              </a:solidFill>
              <a:latin typeface="Cambria" panose="02040503050406030204" pitchFamily="18" charset="0"/>
              <a:ea typeface="Cambria" panose="02040503050406030204" pitchFamily="18" charset="0"/>
            </a:endParaRPr>
          </a:p>
          <a:p>
            <a:r>
              <a:rPr lang="en-US" sz="1000" b="1" dirty="0">
                <a:solidFill>
                  <a:srgbClr val="002060"/>
                </a:solidFill>
                <a:latin typeface="Courier New" pitchFamily="34" charset="0"/>
                <a:ea typeface="Courier New" pitchFamily="34" charset="-122"/>
                <a:cs typeface="Courier New" pitchFamily="34" charset="-120"/>
              </a:rPr>
              <a:t>1. TOTAL_SOCIAL_OBS</a:t>
            </a:r>
            <a:r>
              <a:rPr lang="en-US" sz="1000" b="1" dirty="0">
                <a:solidFill>
                  <a:srgbClr val="002060"/>
                </a:solidFill>
              </a:rPr>
              <a:t> </a:t>
            </a:r>
            <a:r>
              <a:rPr lang="en-US" sz="1000" b="1" dirty="0">
                <a:solidFill>
                  <a:srgbClr val="002060"/>
                </a:solidFill>
                <a:latin typeface="Courier New" pitchFamily="34" charset="0"/>
                <a:ea typeface="Courier New" pitchFamily="34" charset="-122"/>
                <a:cs typeface="Courier New" pitchFamily="34" charset="-120"/>
              </a:rPr>
              <a:t>= OBS_30_CNT + OBS_60_CNT (social circle)</a:t>
            </a:r>
          </a:p>
          <a:p>
            <a:pPr>
              <a:lnSpc>
                <a:spcPts val="1300"/>
              </a:lnSpc>
            </a:pPr>
            <a:r>
              <a:rPr lang="en-US" sz="1000" b="1" dirty="0">
                <a:solidFill>
                  <a:srgbClr val="002060"/>
                </a:solidFill>
                <a:latin typeface="Courier New" pitchFamily="34" charset="0"/>
                <a:ea typeface="Cambria" panose="02040503050406030204" pitchFamily="18" charset="0"/>
                <a:cs typeface="Courier New" pitchFamily="34" charset="-120"/>
              </a:rPr>
              <a:t>2. </a:t>
            </a:r>
            <a:r>
              <a:rPr lang="en-US" sz="1000" b="1" dirty="0">
                <a:solidFill>
                  <a:srgbClr val="002060"/>
                </a:solidFill>
                <a:latin typeface="Courier New" pitchFamily="34" charset="0"/>
                <a:ea typeface="Courier New" pitchFamily="34" charset="-122"/>
                <a:cs typeface="Courier New" pitchFamily="34" charset="-120"/>
              </a:rPr>
              <a:t>TOTAL_SOCIAL_DEF</a:t>
            </a:r>
            <a:endParaRPr lang="en-US" sz="1000" b="1" dirty="0">
              <a:solidFill>
                <a:srgbClr val="002060"/>
              </a:solidFill>
            </a:endParaRPr>
          </a:p>
          <a:p>
            <a:pPr marL="0" indent="0">
              <a:lnSpc>
                <a:spcPts val="1300"/>
              </a:lnSpc>
              <a:buNone/>
            </a:pPr>
            <a:r>
              <a:rPr lang="en-US" sz="1000" b="1" dirty="0">
                <a:solidFill>
                  <a:srgbClr val="002060"/>
                </a:solidFill>
                <a:latin typeface="Courier New" pitchFamily="34" charset="0"/>
                <a:ea typeface="Courier New" pitchFamily="34" charset="-122"/>
                <a:cs typeface="Courier New" pitchFamily="34" charset="-120"/>
              </a:rPr>
              <a:t>= DEF_30_CNT + DEF_60_CNT (social circle)</a:t>
            </a:r>
            <a:endParaRPr lang="en-US" sz="1000" b="1" dirty="0">
              <a:solidFill>
                <a:srgbClr val="002060"/>
              </a:solidFill>
            </a:endParaRPr>
          </a:p>
          <a:p>
            <a:pPr>
              <a:lnSpc>
                <a:spcPts val="1300"/>
              </a:lnSpc>
            </a:pPr>
            <a:endParaRPr lang="en-US" sz="1000" b="1" dirty="0">
              <a:solidFill>
                <a:srgbClr val="002060"/>
              </a:solidFill>
              <a:latin typeface="Cambria" panose="02040503050406030204" pitchFamily="18" charset="0"/>
              <a:ea typeface="Cambria" panose="02040503050406030204" pitchFamily="18" charset="0"/>
            </a:endParaRPr>
          </a:p>
        </p:txBody>
      </p:sp>
      <p:sp>
        <p:nvSpPr>
          <p:cNvPr id="35" name="TextBox 34">
            <a:extLst>
              <a:ext uri="{FF2B5EF4-FFF2-40B4-BE49-F238E27FC236}">
                <a16:creationId xmlns:a16="http://schemas.microsoft.com/office/drawing/2014/main" id="{CA4356F4-49A8-4AC7-BB4F-FF5D4B5EA418}"/>
              </a:ext>
            </a:extLst>
          </p:cNvPr>
          <p:cNvSpPr txBox="1"/>
          <p:nvPr/>
        </p:nvSpPr>
        <p:spPr>
          <a:xfrm>
            <a:off x="7625917" y="2778711"/>
            <a:ext cx="4334154" cy="1177245"/>
          </a:xfrm>
          <a:prstGeom prst="rect">
            <a:avLst/>
          </a:prstGeom>
          <a:noFill/>
        </p:spPr>
        <p:txBody>
          <a:bodyPr wrap="square" rtlCol="0">
            <a:spAutoFit/>
          </a:bodyPr>
          <a:lstStyle/>
          <a:p>
            <a:r>
              <a:rPr lang="en-US" sz="1050" dirty="0">
                <a:solidFill>
                  <a:srgbClr val="474747"/>
                </a:solidFill>
                <a:latin typeface="Calibri  "/>
                <a:ea typeface="Calibri" pitchFamily="34" charset="-122"/>
                <a:cs typeface="Calibri" pitchFamily="34" charset="-120"/>
              </a:rPr>
              <a:t>creates two summary features that measure the overall level of payment difficulties and loan defaults within an applicant's social circle. The original variables capture these events over separate 30-day and 60-day periods, but combining them provides a more comprehensive view of the applicant's social environment.</a:t>
            </a:r>
            <a:endParaRPr lang="en-US" sz="1050" dirty="0">
              <a:latin typeface="Calibri  "/>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84048"/>
            <a:ext cx="9144000" cy="292608"/>
          </a:xfrm>
          <a:prstGeom prst="rect">
            <a:avLst/>
          </a:prstGeom>
          <a:noFill/>
          <a:ln/>
        </p:spPr>
        <p:txBody>
          <a:bodyPr wrap="square" lIns="0" tIns="0" rIns="0" bIns="0"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FEATURE ENGINEERING</a:t>
            </a:r>
            <a:endParaRPr lang="en-US" sz="1200" dirty="0"/>
          </a:p>
        </p:txBody>
      </p:sp>
      <p:sp>
        <p:nvSpPr>
          <p:cNvPr id="3" name="Text 1"/>
          <p:cNvSpPr txBox="1"/>
          <p:nvPr/>
        </p:nvSpPr>
        <p:spPr>
          <a:xfrm>
            <a:off x="457200" y="658368"/>
            <a:ext cx="10607040" cy="685800"/>
          </a:xfrm>
          <a:prstGeom prst="rect">
            <a:avLst/>
          </a:prstGeom>
          <a:noFill/>
          <a:ln/>
        </p:spPr>
        <p:txBody>
          <a:bodyPr wrap="square" lIns="0" tIns="0" rIns="0" bIns="0" rtlCol="0" anchor="ctr"/>
          <a:lstStyle/>
          <a:p>
            <a:pPr marL="0" indent="0">
              <a:lnSpc>
                <a:spcPts val="3400"/>
              </a:lnSpc>
              <a:buNone/>
            </a:pPr>
            <a:r>
              <a:rPr lang="en-US" sz="3200" b="1" dirty="0">
                <a:solidFill>
                  <a:srgbClr val="1E2761"/>
                </a:solidFill>
                <a:latin typeface="Cambria" pitchFamily="34" charset="0"/>
                <a:ea typeface="Cambria" pitchFamily="34" charset="-122"/>
                <a:cs typeface="Cambria" pitchFamily="34" charset="-120"/>
              </a:rPr>
              <a:t>24 new features, eight themes, one richer dataset</a:t>
            </a:r>
            <a:endParaRPr lang="en-US" sz="3200" dirty="0"/>
          </a:p>
        </p:txBody>
      </p:sp>
      <p:sp>
        <p:nvSpPr>
          <p:cNvPr id="4" name="Text 2"/>
          <p:cNvSpPr txBox="1"/>
          <p:nvPr/>
        </p:nvSpPr>
        <p:spPr>
          <a:xfrm>
            <a:off x="457200" y="1353312"/>
            <a:ext cx="10607040" cy="530352"/>
          </a:xfrm>
          <a:prstGeom prst="rect">
            <a:avLst/>
          </a:prstGeom>
          <a:noFill/>
          <a:ln/>
        </p:spPr>
        <p:txBody>
          <a:bodyPr wrap="square" lIns="0" tIns="0" rIns="0" bIns="0" rtlCol="0" anchor="ctr"/>
          <a:lstStyle/>
          <a:p>
            <a:pPr marL="0" indent="0">
              <a:lnSpc>
                <a:spcPts val="1700"/>
              </a:lnSpc>
              <a:buNone/>
            </a:pPr>
            <a:r>
              <a:rPr lang="en-US" sz="1350" dirty="0">
                <a:solidFill>
                  <a:srgbClr val="5B6472"/>
                </a:solidFill>
                <a:latin typeface="Calibri" pitchFamily="34" charset="0"/>
                <a:ea typeface="Calibri" pitchFamily="34" charset="-122"/>
                <a:cs typeface="Calibri" pitchFamily="34" charset="-120"/>
              </a:rPr>
              <a:t>The full list of engineered columns added to the modelling table before moving into model training.</a:t>
            </a:r>
            <a:endParaRPr lang="en-US" sz="1350" dirty="0"/>
          </a:p>
        </p:txBody>
      </p:sp>
      <p:sp>
        <p:nvSpPr>
          <p:cNvPr id="5" name="Text 3"/>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457200" y="2121408"/>
            <a:ext cx="384048" cy="384048"/>
          </a:xfrm>
          <a:prstGeom prst="roundRect">
            <a:avLst>
              <a:gd name="adj" fmla="val 19048"/>
            </a:avLst>
          </a:prstGeom>
          <a:solidFill>
            <a:srgbClr val="1E2761"/>
          </a:solidFill>
          <a:ln/>
        </p:spPr>
      </p:sp>
      <p:sp>
        <p:nvSpPr>
          <p:cNvPr id="7" name="Text 5"/>
          <p:cNvSpPr txBox="1"/>
          <p:nvPr/>
        </p:nvSpPr>
        <p:spPr>
          <a:xfrm>
            <a:off x="457200" y="21214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8" name="Text 6"/>
          <p:cNvSpPr txBox="1"/>
          <p:nvPr/>
        </p:nvSpPr>
        <p:spPr>
          <a:xfrm>
            <a:off x="987552" y="21214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Financial ratios  </a:t>
            </a:r>
            <a:r>
              <a:rPr lang="en-US" sz="1200" dirty="0">
                <a:solidFill>
                  <a:srgbClr val="5B6472"/>
                </a:solidFill>
                <a:latin typeface="Calibri" pitchFamily="34" charset="0"/>
                <a:ea typeface="Calibri" pitchFamily="34" charset="-122"/>
                <a:cs typeface="Calibri" pitchFamily="34" charset="-120"/>
              </a:rPr>
              <a:t>affordability &amp; repayment burden</a:t>
            </a:r>
            <a:endParaRPr lang="en-US" sz="1300" dirty="0"/>
          </a:p>
        </p:txBody>
      </p:sp>
      <p:sp>
        <p:nvSpPr>
          <p:cNvPr id="9" name="Shape 7"/>
          <p:cNvSpPr/>
          <p:nvPr/>
        </p:nvSpPr>
        <p:spPr>
          <a:xfrm>
            <a:off x="457200" y="2578608"/>
            <a:ext cx="384048" cy="384048"/>
          </a:xfrm>
          <a:prstGeom prst="roundRect">
            <a:avLst>
              <a:gd name="adj" fmla="val 19048"/>
            </a:avLst>
          </a:prstGeom>
          <a:solidFill>
            <a:srgbClr val="1E2761"/>
          </a:solidFill>
          <a:ln/>
        </p:spPr>
      </p:sp>
      <p:sp>
        <p:nvSpPr>
          <p:cNvPr id="10" name="Text 8"/>
          <p:cNvSpPr txBox="1"/>
          <p:nvPr/>
        </p:nvSpPr>
        <p:spPr>
          <a:xfrm>
            <a:off x="457200" y="2578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1" name="Text 9"/>
          <p:cNvSpPr txBox="1"/>
          <p:nvPr/>
        </p:nvSpPr>
        <p:spPr>
          <a:xfrm>
            <a:off x="987552" y="25786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Family features  </a:t>
            </a:r>
            <a:r>
              <a:rPr lang="en-US" sz="1200" dirty="0">
                <a:solidFill>
                  <a:srgbClr val="5B6472"/>
                </a:solidFill>
                <a:latin typeface="Calibri" pitchFamily="34" charset="0"/>
                <a:ea typeface="Calibri" pitchFamily="34" charset="-122"/>
                <a:cs typeface="Calibri" pitchFamily="34" charset="-120"/>
              </a:rPr>
              <a:t>household-adjusted income &amp; credit</a:t>
            </a:r>
            <a:endParaRPr lang="en-US" sz="1300" dirty="0"/>
          </a:p>
        </p:txBody>
      </p:sp>
      <p:sp>
        <p:nvSpPr>
          <p:cNvPr id="12" name="Shape 10"/>
          <p:cNvSpPr/>
          <p:nvPr/>
        </p:nvSpPr>
        <p:spPr>
          <a:xfrm>
            <a:off x="457200" y="3035808"/>
            <a:ext cx="384048" cy="384048"/>
          </a:xfrm>
          <a:prstGeom prst="roundRect">
            <a:avLst>
              <a:gd name="adj" fmla="val 19048"/>
            </a:avLst>
          </a:prstGeom>
          <a:solidFill>
            <a:srgbClr val="1E2761"/>
          </a:solidFill>
          <a:ln/>
        </p:spPr>
      </p:sp>
      <p:sp>
        <p:nvSpPr>
          <p:cNvPr id="13" name="Text 11"/>
          <p:cNvSpPr txBox="1"/>
          <p:nvPr/>
        </p:nvSpPr>
        <p:spPr>
          <a:xfrm>
            <a:off x="457200" y="30358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txBox="1"/>
          <p:nvPr/>
        </p:nvSpPr>
        <p:spPr>
          <a:xfrm>
            <a:off x="987552" y="30358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Age features  </a:t>
            </a:r>
            <a:r>
              <a:rPr lang="en-US" sz="1200" dirty="0">
                <a:solidFill>
                  <a:srgbClr val="5B6472"/>
                </a:solidFill>
                <a:latin typeface="Calibri" pitchFamily="34" charset="0"/>
                <a:ea typeface="Calibri" pitchFamily="34" charset="-122"/>
                <a:cs typeface="Calibri" pitchFamily="34" charset="-120"/>
              </a:rPr>
              <a:t>days converted into interpretable years</a:t>
            </a:r>
            <a:endParaRPr lang="en-US" sz="1300" dirty="0"/>
          </a:p>
        </p:txBody>
      </p:sp>
      <p:sp>
        <p:nvSpPr>
          <p:cNvPr id="15" name="Shape 13"/>
          <p:cNvSpPr/>
          <p:nvPr/>
        </p:nvSpPr>
        <p:spPr>
          <a:xfrm>
            <a:off x="457200" y="3493008"/>
            <a:ext cx="384048" cy="384048"/>
          </a:xfrm>
          <a:prstGeom prst="roundRect">
            <a:avLst>
              <a:gd name="adj" fmla="val 19048"/>
            </a:avLst>
          </a:prstGeom>
          <a:solidFill>
            <a:srgbClr val="1E2761"/>
          </a:solidFill>
          <a:ln/>
        </p:spPr>
      </p:sp>
      <p:sp>
        <p:nvSpPr>
          <p:cNvPr id="16" name="Text 14"/>
          <p:cNvSpPr txBox="1"/>
          <p:nvPr/>
        </p:nvSpPr>
        <p:spPr>
          <a:xfrm>
            <a:off x="457200" y="34930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987552" y="34930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Life-stage ratios  </a:t>
            </a:r>
            <a:r>
              <a:rPr lang="en-US" sz="1200" dirty="0">
                <a:solidFill>
                  <a:srgbClr val="5B6472"/>
                </a:solidFill>
                <a:latin typeface="Calibri" pitchFamily="34" charset="0"/>
                <a:ea typeface="Calibri" pitchFamily="34" charset="-122"/>
                <a:cs typeface="Calibri" pitchFamily="34" charset="-120"/>
              </a:rPr>
              <a:t>employment &amp; registration vs. age</a:t>
            </a:r>
            <a:endParaRPr lang="en-US" sz="1300" dirty="0"/>
          </a:p>
        </p:txBody>
      </p:sp>
      <p:sp>
        <p:nvSpPr>
          <p:cNvPr id="18" name="Shape 16"/>
          <p:cNvSpPr/>
          <p:nvPr/>
        </p:nvSpPr>
        <p:spPr>
          <a:xfrm>
            <a:off x="457200" y="3950208"/>
            <a:ext cx="384048" cy="384048"/>
          </a:xfrm>
          <a:prstGeom prst="roundRect">
            <a:avLst>
              <a:gd name="adj" fmla="val 19048"/>
            </a:avLst>
          </a:prstGeom>
          <a:solidFill>
            <a:srgbClr val="1E2761"/>
          </a:solidFill>
          <a:ln/>
        </p:spPr>
      </p:sp>
      <p:sp>
        <p:nvSpPr>
          <p:cNvPr id="19" name="Text 17"/>
          <p:cNvSpPr txBox="1"/>
          <p:nvPr/>
        </p:nvSpPr>
        <p:spPr>
          <a:xfrm>
            <a:off x="457200"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987552" y="39502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External score aggregates  </a:t>
            </a:r>
            <a:r>
              <a:rPr lang="en-US" sz="1200" dirty="0">
                <a:solidFill>
                  <a:srgbClr val="5B6472"/>
                </a:solidFill>
                <a:latin typeface="Calibri" pitchFamily="34" charset="0"/>
                <a:ea typeface="Calibri" pitchFamily="34" charset="-122"/>
                <a:cs typeface="Calibri" pitchFamily="34" charset="-120"/>
              </a:rPr>
              <a:t>EXT_SOURCE mean, max, min, std, sum</a:t>
            </a:r>
            <a:endParaRPr lang="en-US" sz="1300" dirty="0"/>
          </a:p>
        </p:txBody>
      </p:sp>
      <p:sp>
        <p:nvSpPr>
          <p:cNvPr id="21" name="Shape 19"/>
          <p:cNvSpPr/>
          <p:nvPr/>
        </p:nvSpPr>
        <p:spPr>
          <a:xfrm>
            <a:off x="457200" y="4407408"/>
            <a:ext cx="384048" cy="384048"/>
          </a:xfrm>
          <a:prstGeom prst="roundRect">
            <a:avLst>
              <a:gd name="adj" fmla="val 19048"/>
            </a:avLst>
          </a:prstGeom>
          <a:solidFill>
            <a:srgbClr val="1E2761"/>
          </a:solidFill>
          <a:ln/>
        </p:spPr>
      </p:sp>
      <p:sp>
        <p:nvSpPr>
          <p:cNvPr id="22" name="Text 20"/>
          <p:cNvSpPr txBox="1"/>
          <p:nvPr/>
        </p:nvSpPr>
        <p:spPr>
          <a:xfrm>
            <a:off x="457200" y="44074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987552" y="44074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Loan term  </a:t>
            </a:r>
            <a:r>
              <a:rPr lang="en-US" sz="1200" dirty="0">
                <a:solidFill>
                  <a:srgbClr val="5B6472"/>
                </a:solidFill>
                <a:latin typeface="Calibri" pitchFamily="34" charset="0"/>
                <a:ea typeface="Calibri" pitchFamily="34" charset="-122"/>
                <a:cs typeface="Calibri" pitchFamily="34" charset="-120"/>
              </a:rPr>
              <a:t>estimated repayment duration</a:t>
            </a:r>
            <a:endParaRPr lang="en-US" sz="1300" dirty="0"/>
          </a:p>
        </p:txBody>
      </p:sp>
      <p:sp>
        <p:nvSpPr>
          <p:cNvPr id="24" name="Shape 22"/>
          <p:cNvSpPr/>
          <p:nvPr/>
        </p:nvSpPr>
        <p:spPr>
          <a:xfrm>
            <a:off x="457200" y="4864608"/>
            <a:ext cx="384048" cy="384048"/>
          </a:xfrm>
          <a:prstGeom prst="roundRect">
            <a:avLst>
              <a:gd name="adj" fmla="val 19048"/>
            </a:avLst>
          </a:prstGeom>
          <a:solidFill>
            <a:srgbClr val="1E2761"/>
          </a:solidFill>
          <a:ln/>
        </p:spPr>
      </p:sp>
      <p:sp>
        <p:nvSpPr>
          <p:cNvPr id="25" name="Text 23"/>
          <p:cNvSpPr txBox="1"/>
          <p:nvPr/>
        </p:nvSpPr>
        <p:spPr>
          <a:xfrm>
            <a:off x="457200" y="4864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4"/>
          <p:cNvSpPr txBox="1"/>
          <p:nvPr/>
        </p:nvSpPr>
        <p:spPr>
          <a:xfrm>
            <a:off x="987552" y="48646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Social risk  </a:t>
            </a:r>
            <a:r>
              <a:rPr lang="en-US" sz="1200" dirty="0">
                <a:solidFill>
                  <a:srgbClr val="5B6472"/>
                </a:solidFill>
                <a:latin typeface="Calibri" pitchFamily="34" charset="0"/>
                <a:ea typeface="Calibri" pitchFamily="34" charset="-122"/>
                <a:cs typeface="Calibri" pitchFamily="34" charset="-120"/>
              </a:rPr>
              <a:t>combined 30/60-day circle counts</a:t>
            </a:r>
            <a:endParaRPr lang="en-US" sz="1300" dirty="0"/>
          </a:p>
        </p:txBody>
      </p:sp>
      <p:sp>
        <p:nvSpPr>
          <p:cNvPr id="27" name="Shape 25"/>
          <p:cNvSpPr/>
          <p:nvPr/>
        </p:nvSpPr>
        <p:spPr>
          <a:xfrm>
            <a:off x="457200" y="5321808"/>
            <a:ext cx="384048" cy="384048"/>
          </a:xfrm>
          <a:prstGeom prst="roundRect">
            <a:avLst>
              <a:gd name="adj" fmla="val 19048"/>
            </a:avLst>
          </a:prstGeom>
          <a:solidFill>
            <a:srgbClr val="1E2761"/>
          </a:solidFill>
          <a:ln/>
        </p:spPr>
      </p:sp>
      <p:sp>
        <p:nvSpPr>
          <p:cNvPr id="28" name="Text 26"/>
          <p:cNvSpPr txBox="1"/>
          <p:nvPr/>
        </p:nvSpPr>
        <p:spPr>
          <a:xfrm>
            <a:off x="457200" y="53218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9" name="Text 27"/>
          <p:cNvSpPr txBox="1"/>
          <p:nvPr/>
        </p:nvSpPr>
        <p:spPr>
          <a:xfrm>
            <a:off x="987552" y="53218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Contact accessibility  </a:t>
            </a:r>
            <a:r>
              <a:rPr lang="en-US" sz="1200" dirty="0">
                <a:solidFill>
                  <a:srgbClr val="5B6472"/>
                </a:solidFill>
                <a:latin typeface="Calibri" pitchFamily="34" charset="0"/>
                <a:ea typeface="Calibri" pitchFamily="34" charset="-122"/>
                <a:cs typeface="Calibri" pitchFamily="34" charset="-120"/>
              </a:rPr>
              <a:t>total reachable contact channels</a:t>
            </a:r>
            <a:endParaRPr lang="en-US" sz="1300" dirty="0"/>
          </a:p>
        </p:txBody>
      </p:sp>
      <p:sp>
        <p:nvSpPr>
          <p:cNvPr id="30" name="Shape 28"/>
          <p:cNvSpPr/>
          <p:nvPr/>
        </p:nvSpPr>
        <p:spPr>
          <a:xfrm>
            <a:off x="6446520" y="1920240"/>
            <a:ext cx="4828032" cy="4114800"/>
          </a:xfrm>
          <a:prstGeom prst="roundRect">
            <a:avLst>
              <a:gd name="adj" fmla="val 222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31" name="Text 29"/>
          <p:cNvSpPr txBox="1"/>
          <p:nvPr/>
        </p:nvSpPr>
        <p:spPr>
          <a:xfrm>
            <a:off x="6720840" y="2121408"/>
            <a:ext cx="4279392" cy="274320"/>
          </a:xfrm>
          <a:prstGeom prst="rect">
            <a:avLst/>
          </a:prstGeom>
          <a:noFill/>
          <a:ln/>
        </p:spPr>
        <p:txBody>
          <a:bodyPr wrap="square" lIns="0" tIns="0" rIns="0" bIns="0" rtlCol="0" anchor="ctr"/>
          <a:lstStyle/>
          <a:p>
            <a:pPr marL="0" indent="0">
              <a:buNone/>
            </a:pPr>
            <a:r>
              <a:rPr lang="en-US" sz="1050" b="1" kern="0" spc="150" dirty="0">
                <a:solidFill>
                  <a:srgbClr val="0F9D8A"/>
                </a:solidFill>
                <a:latin typeface="Calibri" pitchFamily="34" charset="0"/>
                <a:ea typeface="Calibri" pitchFamily="34" charset="-122"/>
                <a:cs typeface="Calibri" pitchFamily="34" charset="-120"/>
              </a:rPr>
              <a:t>NOTEBOOK OUTPUT</a:t>
            </a:r>
            <a:endParaRPr lang="en-US" sz="1050" dirty="0"/>
          </a:p>
        </p:txBody>
      </p:sp>
      <p:pic>
        <p:nvPicPr>
          <p:cNvPr id="32" name="Image 0" descr="/home/claude/assets/features_screenshot.png"/>
          <p:cNvPicPr>
            <a:picLocks noChangeAspect="1"/>
          </p:cNvPicPr>
          <p:nvPr/>
        </p:nvPicPr>
        <p:blipFill>
          <a:blip r:embed="rId3"/>
          <a:stretch>
            <a:fillRect/>
          </a:stretch>
        </p:blipFill>
        <p:spPr>
          <a:xfrm>
            <a:off x="8042969" y="2450592"/>
            <a:ext cx="1635134" cy="3291840"/>
          </a:xfrm>
          <a:prstGeom prst="rect">
            <a:avLst/>
          </a:prstGeom>
        </p:spPr>
      </p:pic>
      <p:sp>
        <p:nvSpPr>
          <p:cNvPr id="33" name="Shape 30"/>
          <p:cNvSpPr/>
          <p:nvPr/>
        </p:nvSpPr>
        <p:spPr>
          <a:xfrm>
            <a:off x="457200" y="6053328"/>
            <a:ext cx="11277295" cy="566928"/>
          </a:xfrm>
          <a:prstGeom prst="roundRect">
            <a:avLst>
              <a:gd name="adj" fmla="val 14516"/>
            </a:avLst>
          </a:prstGeom>
          <a:solidFill>
            <a:srgbClr val="1E2761"/>
          </a:solidFill>
          <a:ln/>
          <a:effectLst>
            <a:outerShdw blurRad="127000" dist="38100" dir="5400000" algn="bl" rotWithShape="0">
              <a:srgbClr val="9AA5B5">
                <a:alpha val="35000"/>
              </a:srgbClr>
            </a:outerShdw>
          </a:effectLst>
        </p:spPr>
      </p:sp>
      <p:sp>
        <p:nvSpPr>
          <p:cNvPr id="34" name="Text 31"/>
          <p:cNvSpPr txBox="1"/>
          <p:nvPr/>
        </p:nvSpPr>
        <p:spPr>
          <a:xfrm>
            <a:off x="731520" y="6053328"/>
            <a:ext cx="10728655" cy="566928"/>
          </a:xfrm>
          <a:prstGeom prst="rect">
            <a:avLst/>
          </a:prstGeom>
          <a:noFill/>
          <a:ln/>
        </p:spPr>
        <p:txBody>
          <a:bodyPr wrap="square" lIns="0" tIns="0" rIns="0" bIns="0"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Result: every engineered feature passed validation - no missing, infinite, or degenerate values -  and the engineered EXT_SOURCE aggregates outranked every original external score column.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WHAT WE LEARNED FROM THE DATA</a:t>
            </a:r>
            <a:endParaRPr lang="en-US" sz="1150" dirty="0"/>
          </a:p>
        </p:txBody>
      </p:sp>
      <p:sp>
        <p:nvSpPr>
          <p:cNvPr id="3" name="Text 1"/>
          <p:cNvSpPr txBox="1"/>
          <p:nvPr/>
        </p:nvSpPr>
        <p:spPr>
          <a:xfrm>
            <a:off x="457200" y="621792"/>
            <a:ext cx="11247120" cy="5486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No single feature moves the needle alone</a:t>
            </a:r>
            <a:endParaRPr lang="en-US" sz="2700" dirty="0"/>
          </a:p>
        </p:txBody>
      </p:sp>
      <p:sp>
        <p:nvSpPr>
          <p:cNvPr id="4" name="Text 2"/>
          <p:cNvSpPr txBox="1"/>
          <p:nvPr/>
        </p:nvSpPr>
        <p:spPr>
          <a:xfrm>
            <a:off x="457200" y="1170432"/>
            <a:ext cx="11247120" cy="32004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Correlation of every raw feature with TARGET, before feature engineering (top 19 by magnitude)</a:t>
            </a:r>
            <a:endParaRPr lang="en-US" sz="1200" dirty="0"/>
          </a:p>
        </p:txBody>
      </p:sp>
      <p:sp>
        <p:nvSpPr>
          <p:cNvPr id="6" name="Shape 3"/>
          <p:cNvSpPr/>
          <p:nvPr/>
        </p:nvSpPr>
        <p:spPr>
          <a:xfrm>
            <a:off x="7726680" y="1600200"/>
            <a:ext cx="4005072" cy="4892040"/>
          </a:xfrm>
          <a:prstGeom prst="roundRect">
            <a:avLst>
              <a:gd name="adj" fmla="val 182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7" name="Text 4"/>
          <p:cNvSpPr txBox="1"/>
          <p:nvPr/>
        </p:nvSpPr>
        <p:spPr>
          <a:xfrm>
            <a:off x="7982712" y="1819656"/>
            <a:ext cx="3493008"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takeaways</a:t>
            </a:r>
            <a:endParaRPr lang="en-US" sz="1300" dirty="0"/>
          </a:p>
        </p:txBody>
      </p:sp>
      <p:sp>
        <p:nvSpPr>
          <p:cNvPr id="8" name="Text 5"/>
          <p:cNvSpPr txBox="1"/>
          <p:nvPr/>
        </p:nvSpPr>
        <p:spPr>
          <a:xfrm>
            <a:off x="7982712" y="2203704"/>
            <a:ext cx="3493008" cy="4069080"/>
          </a:xfrm>
          <a:prstGeom prst="rect">
            <a:avLst/>
          </a:prstGeom>
          <a:noFill/>
          <a:ln/>
        </p:spPr>
        <p:txBody>
          <a:bodyPr wrap="square" lIns="0" tIns="0" rIns="0" bIns="0" rtlCol="0" anchor="t"/>
          <a:lstStyle/>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The strongest raw feature (EXT_SOURCE_2) explains very little on its own - a correlation of only -0.16.</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The three external credit scores are the clearest protective signals; everything else clusters much closer to zero.</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Weak risk-increasing signals - late-payment history, prior refusals, applicant age, bureau activity - sit in a narrow band of +0.05 to +0.09.</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No linear boundary separates defaulters from non-defaulters on any single feature.</a:t>
            </a:r>
            <a:endParaRPr lang="en-US" sz="1150" dirty="0"/>
          </a:p>
          <a:p>
            <a:pPr marL="177800" indent="-177800">
              <a:lnSpc>
                <a:spcPts val="1550"/>
              </a:lnSpc>
              <a:buSzPct val="100000"/>
              <a:buChar char="●"/>
            </a:pPr>
            <a:r>
              <a:rPr lang="en-US" sz="1150" dirty="0">
                <a:solidFill>
                  <a:srgbClr val="474747"/>
                </a:solidFill>
                <a:latin typeface="Calibri" pitchFamily="34" charset="0"/>
                <a:ea typeface="Calibri" pitchFamily="34" charset="-122"/>
                <a:cs typeface="Calibri" pitchFamily="34" charset="-120"/>
              </a:rPr>
              <a:t>This is exactly the pattern tree-based ensembles (Random Forest, XGBoost, LightGBM) are built to exploit: combining many weak, individually unremarkable signals.</a:t>
            </a:r>
            <a:endParaRPr lang="en-US" sz="1150" dirty="0"/>
          </a:p>
        </p:txBody>
      </p:sp>
      <p:sp>
        <p:nvSpPr>
          <p:cNvPr id="9" name="Text 6"/>
          <p:cNvSpPr txBox="1"/>
          <p:nvPr/>
        </p:nvSpPr>
        <p:spPr>
          <a:xfrm>
            <a:off x="457200" y="6473952"/>
            <a:ext cx="3657600" cy="274320"/>
          </a:xfrm>
          <a:prstGeom prst="rect">
            <a:avLst/>
          </a:prstGeom>
          <a:noFill/>
          <a:ln/>
        </p:spPr>
        <p:txBody>
          <a:bodyPr wrap="square" lIns="0" tIns="0" rIns="0" bIns="0" rtlCol="0" anchor="ctr"/>
          <a:lstStyle/>
          <a:p>
            <a:pPr marL="0" indent="0">
              <a:buNone/>
            </a:pPr>
            <a:endParaRPr lang="en-US" sz="900" dirty="0"/>
          </a:p>
        </p:txBody>
      </p:sp>
      <p:sp>
        <p:nvSpPr>
          <p:cNvPr id="10" name="Text 7"/>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11</a:t>
            </a:r>
            <a:endParaRPr lang="en-US" sz="900" dirty="0"/>
          </a:p>
        </p:txBody>
      </p:sp>
      <p:pic>
        <p:nvPicPr>
          <p:cNvPr id="13" name="Picture 12">
            <a:extLst>
              <a:ext uri="{FF2B5EF4-FFF2-40B4-BE49-F238E27FC236}">
                <a16:creationId xmlns:a16="http://schemas.microsoft.com/office/drawing/2014/main" id="{FC6A9F80-F626-417F-B037-9EC818794421}"/>
              </a:ext>
            </a:extLst>
          </p:cNvPr>
          <p:cNvPicPr>
            <a:picLocks noChangeAspect="1"/>
          </p:cNvPicPr>
          <p:nvPr/>
        </p:nvPicPr>
        <p:blipFill>
          <a:blip r:embed="rId3"/>
          <a:stretch>
            <a:fillRect/>
          </a:stretch>
        </p:blipFill>
        <p:spPr>
          <a:xfrm>
            <a:off x="660491" y="1819655"/>
            <a:ext cx="6459399" cy="4554511"/>
          </a:xfrm>
          <a:prstGeom prst="rect">
            <a:avLst/>
          </a:prstGeom>
          <a:effectLst>
            <a:outerShdw blurRad="50800" dist="38100" dir="18900000" algn="bl" rotWithShape="0">
              <a:prstClr val="black">
                <a:alpha val="40000"/>
              </a:prst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WHAT WE LEARNED FROM THE DATA</a:t>
            </a:r>
            <a:endParaRPr lang="en-US" sz="1150" dirty="0"/>
          </a:p>
        </p:txBody>
      </p:sp>
      <p:sp>
        <p:nvSpPr>
          <p:cNvPr id="3" name="Text 1"/>
          <p:cNvSpPr txBox="1"/>
          <p:nvPr/>
        </p:nvSpPr>
        <p:spPr>
          <a:xfrm>
            <a:off x="457200" y="621792"/>
            <a:ext cx="11247120" cy="5486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External credit scores stand out - and get stronger through engineering</a:t>
            </a:r>
            <a:endParaRPr lang="en-US" sz="2700" dirty="0"/>
          </a:p>
        </p:txBody>
      </p:sp>
      <p:sp>
        <p:nvSpPr>
          <p:cNvPr id="4" name="Text 2"/>
          <p:cNvSpPr txBox="1"/>
          <p:nvPr/>
        </p:nvSpPr>
        <p:spPr>
          <a:xfrm>
            <a:off x="457200" y="1170432"/>
            <a:ext cx="11247120" cy="32004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Correlation with default risk, before vs. after feature engineering (negative = lower risk)</a:t>
            </a:r>
            <a:endParaRPr lang="en-US" sz="1200" dirty="0"/>
          </a:p>
        </p:txBody>
      </p:sp>
      <p:graphicFrame>
        <p:nvGraphicFramePr>
          <p:cNvPr id="5" name="Chart 0"/>
          <p:cNvGraphicFramePr/>
          <p:nvPr>
            <p:extLst>
              <p:ext uri="{D42A27DB-BD31-4B8C-83A1-F6EECF244321}">
                <p14:modId xmlns:p14="http://schemas.microsoft.com/office/powerpoint/2010/main" val="1771847995"/>
              </p:ext>
            </p:extLst>
          </p:nvPr>
        </p:nvGraphicFramePr>
        <p:xfrm>
          <a:off x="457200" y="1645920"/>
          <a:ext cx="6903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57200" y="5029200"/>
            <a:ext cx="3063240" cy="868680"/>
          </a:xfrm>
          <a:prstGeom prst="roundRect">
            <a:avLst>
              <a:gd name="adj" fmla="val 10526"/>
            </a:avLst>
          </a:prstGeom>
          <a:solidFill>
            <a:srgbClr val="1E2761"/>
          </a:solidFill>
          <a:ln/>
          <a:effectLst>
            <a:outerShdw blurRad="50800" dist="38100" dir="18900000" algn="bl" rotWithShape="0">
              <a:prstClr val="black">
                <a:alpha val="40000"/>
              </a:prstClr>
            </a:outerShdw>
          </a:effectLst>
        </p:spPr>
      </p:sp>
      <p:sp>
        <p:nvSpPr>
          <p:cNvPr id="7" name="Text 4"/>
          <p:cNvSpPr txBox="1"/>
          <p:nvPr/>
        </p:nvSpPr>
        <p:spPr>
          <a:xfrm>
            <a:off x="640080" y="5120640"/>
            <a:ext cx="2743200" cy="320040"/>
          </a:xfrm>
          <a:prstGeom prst="rect">
            <a:avLst/>
          </a:prstGeom>
          <a:noFill/>
          <a:ln/>
        </p:spPr>
        <p:txBody>
          <a:bodyPr wrap="square" lIns="0" tIns="0" rIns="0" bIns="0" rtlCol="0" anchor="ctr"/>
          <a:lstStyle/>
          <a:p>
            <a:pPr marL="0" indent="0">
              <a:buNone/>
            </a:pPr>
            <a:r>
              <a:rPr lang="en-US" sz="2200" b="1" dirty="0">
                <a:solidFill>
                  <a:srgbClr val="0F9D8A"/>
                </a:solidFill>
                <a:latin typeface="Calibri" pitchFamily="34" charset="0"/>
                <a:ea typeface="Calibri" pitchFamily="34" charset="-122"/>
                <a:cs typeface="Calibri" pitchFamily="34" charset="-120"/>
              </a:rPr>
              <a:t>+38%  </a:t>
            </a:r>
            <a:r>
              <a:rPr lang="en-US" sz="1200" dirty="0">
                <a:solidFill>
                  <a:srgbClr val="FFFFFF"/>
                </a:solidFill>
                <a:latin typeface="Calibri" pitchFamily="34" charset="0"/>
                <a:ea typeface="Calibri" pitchFamily="34" charset="-122"/>
                <a:cs typeface="Calibri" pitchFamily="34" charset="-120"/>
              </a:rPr>
              <a:t>stronger signal</a:t>
            </a:r>
            <a:endParaRPr lang="en-US" sz="2200" dirty="0"/>
          </a:p>
        </p:txBody>
      </p:sp>
      <p:sp>
        <p:nvSpPr>
          <p:cNvPr id="8" name="Text 5"/>
          <p:cNvSpPr txBox="1"/>
          <p:nvPr/>
        </p:nvSpPr>
        <p:spPr>
          <a:xfrm>
            <a:off x="640080" y="5468112"/>
            <a:ext cx="2743200" cy="365760"/>
          </a:xfrm>
          <a:prstGeom prst="rect">
            <a:avLst/>
          </a:prstGeom>
          <a:noFill/>
          <a:ln/>
        </p:spPr>
        <p:txBody>
          <a:bodyPr wrap="square" lIns="0" tIns="0" rIns="0" bIns="0" rtlCol="0" anchor="ctr"/>
          <a:lstStyle/>
          <a:p>
            <a:pPr marL="0" indent="0">
              <a:lnSpc>
                <a:spcPts val="1100"/>
              </a:lnSpc>
              <a:buNone/>
            </a:pPr>
            <a:r>
              <a:rPr lang="en-US" sz="900" dirty="0">
                <a:solidFill>
                  <a:srgbClr val="C7D0EA"/>
                </a:solidFill>
                <a:latin typeface="Calibri" pitchFamily="34" charset="0"/>
                <a:ea typeface="Calibri" pitchFamily="34" charset="-122"/>
                <a:cs typeface="Calibri" pitchFamily="34" charset="-120"/>
              </a:rPr>
              <a:t>EXT_SOURCE_MEAN (-0.221) vs. best single raw score, EXT_SOURCE_2 (-0.160)</a:t>
            </a:r>
            <a:endParaRPr lang="en-US" sz="900" dirty="0"/>
          </a:p>
        </p:txBody>
      </p:sp>
      <p:sp>
        <p:nvSpPr>
          <p:cNvPr id="11" name="Shape 8"/>
          <p:cNvSpPr/>
          <p:nvPr/>
        </p:nvSpPr>
        <p:spPr>
          <a:xfrm>
            <a:off x="7452360" y="1645920"/>
            <a:ext cx="4279392" cy="4800600"/>
          </a:xfrm>
          <a:prstGeom prst="roundRect">
            <a:avLst>
              <a:gd name="adj" fmla="val 1709"/>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2" name="Text 9"/>
          <p:cNvSpPr txBox="1"/>
          <p:nvPr/>
        </p:nvSpPr>
        <p:spPr>
          <a:xfrm>
            <a:off x="7708392" y="1865376"/>
            <a:ext cx="3767328"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takeaways</a:t>
            </a:r>
            <a:endParaRPr lang="en-US" sz="1300" dirty="0"/>
          </a:p>
        </p:txBody>
      </p:sp>
      <p:sp>
        <p:nvSpPr>
          <p:cNvPr id="13" name="Text 10"/>
          <p:cNvSpPr txBox="1"/>
          <p:nvPr/>
        </p:nvSpPr>
        <p:spPr>
          <a:xfrm>
            <a:off x="7708392" y="2249424"/>
            <a:ext cx="3767328" cy="3977640"/>
          </a:xfrm>
          <a:prstGeom prst="rect">
            <a:avLst/>
          </a:prstGeom>
          <a:noFill/>
          <a:ln/>
        </p:spPr>
        <p:txBody>
          <a:bodyPr wrap="square" lIns="0" tIns="0" rIns="0" bIns="0" rtlCol="0" anchor="t"/>
          <a:lstStyle/>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Combining the three external scores into EXT_SOURCE_SUM / MEAN made the signal noticeably stronger than any single score alone - a 38% larger correlation than the best raw feature.</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EXT_SOURCE_MIN and EXT_SOURCE_MAX also both outperform every individual raw score, so the aggregation helps regardless of which summary statistic is used.</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Even after engineering, the data is not linearly separable - defaulters and non-defaulters still overlap heavily feature-by-feature.</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Other raw signals (late payments, prior refusals, applicant age) stay in the +0.05 to +0.09 range - informative, but individually weak.</a:t>
            </a:r>
            <a:endParaRPr lang="en-US" sz="1150" dirty="0"/>
          </a:p>
          <a:p>
            <a:pPr marL="177800" indent="-177800">
              <a:lnSpc>
                <a:spcPts val="1550"/>
              </a:lnSpc>
              <a:buSzPct val="100000"/>
              <a:buChar char="●"/>
            </a:pPr>
            <a:r>
              <a:rPr lang="en-US" sz="1150" dirty="0">
                <a:solidFill>
                  <a:srgbClr val="474747"/>
                </a:solidFill>
                <a:latin typeface="Calibri" pitchFamily="34" charset="0"/>
                <a:ea typeface="Calibri" pitchFamily="34" charset="-122"/>
                <a:cs typeface="Calibri" pitchFamily="34" charset="-120"/>
              </a:rPr>
              <a:t>Together, this pointed us toward tree-based models (Random Forest, XGBoost, LightGBM, CatBoost) rather than a simple linear model.</a:t>
            </a:r>
            <a:endParaRPr lang="en-US" sz="1150" dirty="0"/>
          </a:p>
        </p:txBody>
      </p:sp>
      <p:sp>
        <p:nvSpPr>
          <p:cNvPr id="15" name="Text 12"/>
          <p:cNvSpPr txBox="1"/>
          <p:nvPr/>
        </p:nvSpPr>
        <p:spPr>
          <a:xfrm>
            <a:off x="11505895" y="6518341"/>
            <a:ext cx="365760" cy="274320"/>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38809"/>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MODELING</a:t>
            </a:r>
            <a:endParaRPr lang="en-US" sz="1150" dirty="0"/>
          </a:p>
        </p:txBody>
      </p:sp>
      <p:sp>
        <p:nvSpPr>
          <p:cNvPr id="3" name="Text 1"/>
          <p:cNvSpPr txBox="1"/>
          <p:nvPr/>
        </p:nvSpPr>
        <p:spPr>
          <a:xfrm>
            <a:off x="457200" y="603504"/>
            <a:ext cx="11247120" cy="502920"/>
          </a:xfrm>
          <a:prstGeom prst="rect">
            <a:avLst/>
          </a:prstGeom>
          <a:noFill/>
          <a:ln/>
        </p:spPr>
        <p:txBody>
          <a:bodyPr wrap="square" lIns="0" tIns="0" rIns="0" bIns="0"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Testing several algorithms, choosing on evidence</a:t>
            </a:r>
            <a:endParaRPr lang="en-US" sz="25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Baseline ROC-AUC on the validation set (higher = better at ranking risk)</a:t>
            </a:r>
            <a:endParaRPr lang="en-US" sz="1150" dirty="0"/>
          </a:p>
        </p:txBody>
      </p:sp>
      <p:graphicFrame>
        <p:nvGraphicFramePr>
          <p:cNvPr id="5" name="Chart 0"/>
          <p:cNvGraphicFramePr/>
          <p:nvPr/>
        </p:nvGraphicFramePr>
        <p:xfrm>
          <a:off x="457200" y="1536192"/>
          <a:ext cx="66751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536192"/>
            <a:ext cx="4370832" cy="2788920"/>
          </a:xfrm>
          <a:prstGeom prst="roundRect">
            <a:avLst>
              <a:gd name="adj" fmla="val 3279"/>
            </a:avLst>
          </a:prstGeom>
          <a:solidFill>
            <a:srgbClr val="1E2761"/>
          </a:solidFill>
          <a:ln/>
          <a:effectLst>
            <a:outerShdw blurRad="50800" dist="38100" dir="18900000" algn="bl" rotWithShape="0">
              <a:prstClr val="black">
                <a:alpha val="40000"/>
              </a:prstClr>
            </a:outerShdw>
          </a:effectLst>
        </p:spPr>
      </p:sp>
      <p:sp>
        <p:nvSpPr>
          <p:cNvPr id="7" name="Text 4"/>
          <p:cNvSpPr txBox="1"/>
          <p:nvPr/>
        </p:nvSpPr>
        <p:spPr>
          <a:xfrm>
            <a:off x="7635240" y="1773936"/>
            <a:ext cx="3822192"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finalists moved forward</a:t>
            </a:r>
            <a:endParaRPr lang="en-US" sz="1400" dirty="0"/>
          </a:p>
        </p:txBody>
      </p:sp>
      <p:sp>
        <p:nvSpPr>
          <p:cNvPr id="8" name="Shape 5"/>
          <p:cNvSpPr/>
          <p:nvPr/>
        </p:nvSpPr>
        <p:spPr>
          <a:xfrm>
            <a:off x="7653528" y="2249424"/>
            <a:ext cx="118872" cy="118872"/>
          </a:xfrm>
          <a:prstGeom prst="ellipse">
            <a:avLst/>
          </a:prstGeom>
          <a:solidFill>
            <a:srgbClr val="0F9D8A"/>
          </a:solidFill>
          <a:ln/>
        </p:spPr>
      </p:sp>
      <p:sp>
        <p:nvSpPr>
          <p:cNvPr id="9" name="Text 6"/>
          <p:cNvSpPr txBox="1"/>
          <p:nvPr/>
        </p:nvSpPr>
        <p:spPr>
          <a:xfrm>
            <a:off x="7872984" y="2139696"/>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10" name="Shape 7"/>
          <p:cNvSpPr/>
          <p:nvPr/>
        </p:nvSpPr>
        <p:spPr>
          <a:xfrm>
            <a:off x="7653528" y="2596896"/>
            <a:ext cx="118872" cy="118872"/>
          </a:xfrm>
          <a:prstGeom prst="ellipse">
            <a:avLst/>
          </a:prstGeom>
          <a:solidFill>
            <a:srgbClr val="0F9D8A"/>
          </a:solidFill>
          <a:ln/>
        </p:spPr>
      </p:sp>
      <p:sp>
        <p:nvSpPr>
          <p:cNvPr id="11" name="Text 8"/>
          <p:cNvSpPr txBox="1"/>
          <p:nvPr/>
        </p:nvSpPr>
        <p:spPr>
          <a:xfrm>
            <a:off x="7872984" y="2487168"/>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LightGBM</a:t>
            </a:r>
            <a:endParaRPr lang="en-US" sz="1300" dirty="0"/>
          </a:p>
        </p:txBody>
      </p:sp>
      <p:sp>
        <p:nvSpPr>
          <p:cNvPr id="12" name="Shape 9"/>
          <p:cNvSpPr/>
          <p:nvPr/>
        </p:nvSpPr>
        <p:spPr>
          <a:xfrm>
            <a:off x="7653528" y="2944368"/>
            <a:ext cx="118872" cy="118872"/>
          </a:xfrm>
          <a:prstGeom prst="ellipse">
            <a:avLst/>
          </a:prstGeom>
          <a:solidFill>
            <a:srgbClr val="0F9D8A"/>
          </a:solidFill>
          <a:ln/>
        </p:spPr>
      </p:sp>
      <p:sp>
        <p:nvSpPr>
          <p:cNvPr id="13" name="Text 10"/>
          <p:cNvSpPr txBox="1"/>
          <p:nvPr/>
        </p:nvSpPr>
        <p:spPr>
          <a:xfrm>
            <a:off x="7872984" y="2834640"/>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CatBoost</a:t>
            </a:r>
            <a:endParaRPr lang="en-US" sz="1300" dirty="0"/>
          </a:p>
        </p:txBody>
      </p:sp>
      <p:sp>
        <p:nvSpPr>
          <p:cNvPr id="14" name="Text 11"/>
          <p:cNvSpPr txBox="1"/>
          <p:nvPr/>
        </p:nvSpPr>
        <p:spPr>
          <a:xfrm>
            <a:off x="7635240" y="3364992"/>
            <a:ext cx="3822192" cy="685800"/>
          </a:xfrm>
          <a:prstGeom prst="rect">
            <a:avLst/>
          </a:prstGeom>
          <a:noFill/>
          <a:ln/>
        </p:spPr>
        <p:txBody>
          <a:bodyPr wrap="square" lIns="0" tIns="0" rIns="0" bIns="0" rtlCol="0" anchor="t"/>
          <a:lstStyle/>
          <a:p>
            <a:pPr marL="152400" indent="-152400">
              <a:lnSpc>
                <a:spcPts val="1350"/>
              </a:lnSpc>
              <a:buSzPct val="100000"/>
              <a:buChar char="●"/>
            </a:pPr>
            <a:r>
              <a:rPr lang="en-US" sz="1050" dirty="0">
                <a:solidFill>
                  <a:srgbClr val="D6DCF2"/>
                </a:solidFill>
                <a:latin typeface="Calibri" pitchFamily="34" charset="0"/>
                <a:ea typeface="Calibri" pitchFamily="34" charset="-122"/>
                <a:cs typeface="Calibri" pitchFamily="34" charset="-120"/>
              </a:rPr>
              <a:t>All five models hit  92% accuracy - misleading, since only  8% of applicants actually default.</a:t>
            </a:r>
            <a:endParaRPr lang="en-US" sz="1050" dirty="0"/>
          </a:p>
        </p:txBody>
      </p:sp>
      <p:sp>
        <p:nvSpPr>
          <p:cNvPr id="15" name="Text 12"/>
          <p:cNvSpPr txBox="1"/>
          <p:nvPr/>
        </p:nvSpPr>
        <p:spPr>
          <a:xfrm>
            <a:off x="7635240" y="3867912"/>
            <a:ext cx="3822192" cy="365760"/>
          </a:xfrm>
          <a:prstGeom prst="rect">
            <a:avLst/>
          </a:prstGeom>
          <a:noFill/>
          <a:ln/>
        </p:spPr>
        <p:txBody>
          <a:bodyPr wrap="square" lIns="0" tIns="0" rIns="0" bIns="0" rtlCol="0" anchor="t"/>
          <a:lstStyle/>
          <a:p>
            <a:pPr marL="0" indent="0">
              <a:lnSpc>
                <a:spcPts val="1200"/>
              </a:lnSpc>
              <a:buNone/>
            </a:pPr>
            <a:r>
              <a:rPr lang="en-US" sz="950" i="1" dirty="0">
                <a:solidFill>
                  <a:srgbClr val="A9B1D6"/>
                </a:solidFill>
                <a:latin typeface="Calibri" pitchFamily="34" charset="0"/>
                <a:ea typeface="Calibri" pitchFamily="34" charset="-122"/>
                <a:cs typeface="Calibri" pitchFamily="34" charset="-120"/>
              </a:rPr>
              <a:t>Random Forest &amp; XGBoost dropped after cross-validation.</a:t>
            </a:r>
            <a:endParaRPr lang="en-US" sz="950" dirty="0"/>
          </a:p>
        </p:txBody>
      </p:sp>
      <p:sp>
        <p:nvSpPr>
          <p:cNvPr id="16" name="Text 13"/>
          <p:cNvSpPr txBox="1"/>
          <p:nvPr/>
        </p:nvSpPr>
        <p:spPr>
          <a:xfrm>
            <a:off x="457200" y="4434840"/>
            <a:ext cx="7315200" cy="2560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Full baseline metrics - validation set, default 0.50 threshold</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979865482"/>
              </p:ext>
            </p:extLst>
          </p:nvPr>
        </p:nvGraphicFramePr>
        <p:xfrm>
          <a:off x="457200" y="4727448"/>
          <a:ext cx="11274552" cy="1616979"/>
        </p:xfrm>
        <a:graphic>
          <a:graphicData uri="http://schemas.openxmlformats.org/drawingml/2006/table">
            <a:tbl>
              <a:tblPr>
                <a:effectLst>
                  <a:outerShdw blurRad="50800" dist="38100" dir="18900000" algn="bl" rotWithShape="0">
                    <a:prstClr val="black">
                      <a:alpha val="40000"/>
                    </a:prstClr>
                  </a:outerShdw>
                </a:effectLst>
              </a:tblPr>
              <a:tblGrid>
                <a:gridCol w="2862072">
                  <a:extLst>
                    <a:ext uri="{9D8B030D-6E8A-4147-A177-3AD203B41FA5}">
                      <a16:colId xmlns:a16="http://schemas.microsoft.com/office/drawing/2014/main" val="20000"/>
                    </a:ext>
                  </a:extLst>
                </a:gridCol>
                <a:gridCol w="1682496">
                  <a:extLst>
                    <a:ext uri="{9D8B030D-6E8A-4147-A177-3AD203B41FA5}">
                      <a16:colId xmlns:a16="http://schemas.microsoft.com/office/drawing/2014/main" val="20001"/>
                    </a:ext>
                  </a:extLst>
                </a:gridCol>
                <a:gridCol w="1682496">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gridCol w="1682496">
                  <a:extLst>
                    <a:ext uri="{9D8B030D-6E8A-4147-A177-3AD203B41FA5}">
                      <a16:colId xmlns:a16="http://schemas.microsoft.com/office/drawing/2014/main" val="20004"/>
                    </a:ext>
                  </a:extLst>
                </a:gridCol>
                <a:gridCol w="1682496">
                  <a:extLst>
                    <a:ext uri="{9D8B030D-6E8A-4147-A177-3AD203B41FA5}">
                      <a16:colId xmlns:a16="http://schemas.microsoft.com/office/drawing/2014/main" val="20005"/>
                    </a:ext>
                  </a:extLst>
                </a:gridCol>
              </a:tblGrid>
              <a:tr h="2514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F1-score</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LightGBM</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0.9199</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0.5853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0.0256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0.0490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0.7823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CatBoost</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0.9202</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0.6596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0.0250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0.0481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0.7803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35967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Logistic Regression</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0.9201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0.5676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0.0423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0.0787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0.7786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XGBoost</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0.9188</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0.4813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0.0675</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0.1184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0.7739</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0.9193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0.5077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0.0066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0.0131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0.7352</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8" name="Text 14"/>
          <p:cNvSpPr txBox="1"/>
          <p:nvPr/>
        </p:nvSpPr>
        <p:spPr>
          <a:xfrm>
            <a:off x="457200" y="6492240"/>
            <a:ext cx="3657600" cy="256032"/>
          </a:xfrm>
          <a:prstGeom prst="rect">
            <a:avLst/>
          </a:prstGeom>
          <a:noFill/>
          <a:ln/>
        </p:spPr>
        <p:txBody>
          <a:bodyPr wrap="square" lIns="0" tIns="0" rIns="0" bIns="0" rtlCol="0" anchor="ctr"/>
          <a:lstStyle/>
          <a:p>
            <a:pPr marL="0" indent="0">
              <a:buNone/>
            </a:pPr>
            <a:endParaRPr lang="en-US" sz="900" dirty="0"/>
          </a:p>
        </p:txBody>
      </p:sp>
      <p:sp>
        <p:nvSpPr>
          <p:cNvPr id="19" name="Text 15"/>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11962"/>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MODELING</a:t>
            </a:r>
            <a:endParaRPr lang="en-US" sz="1150" dirty="0"/>
          </a:p>
        </p:txBody>
      </p:sp>
      <p:sp>
        <p:nvSpPr>
          <p:cNvPr id="3" name="Text 1"/>
          <p:cNvSpPr txBox="1"/>
          <p:nvPr/>
        </p:nvSpPr>
        <p:spPr>
          <a:xfrm>
            <a:off x="457200" y="603504"/>
            <a:ext cx="11247120" cy="502920"/>
          </a:xfrm>
          <a:prstGeom prst="rect">
            <a:avLst/>
          </a:prstGeom>
          <a:noFill/>
          <a:ln/>
        </p:spPr>
        <p:txBody>
          <a:bodyPr wrap="square" lIns="0" tIns="0" rIns="0" bIns="0"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Similar ranking ability, different trade-offs</a:t>
            </a:r>
            <a:endParaRPr lang="en-US" sz="25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ROC and Precision-Recall curves across all five baseline models</a:t>
            </a:r>
            <a:endParaRPr lang="en-US" sz="1150" dirty="0"/>
          </a:p>
        </p:txBody>
      </p:sp>
      <p:pic>
        <p:nvPicPr>
          <p:cNvPr id="5" name="Image 0" descr="/home/claude/assets2/roc_curve.png"/>
          <p:cNvPicPr>
            <a:picLocks noChangeAspect="1"/>
          </p:cNvPicPr>
          <p:nvPr/>
        </p:nvPicPr>
        <p:blipFill>
          <a:blip r:embed="rId3"/>
          <a:stretch>
            <a:fillRect/>
          </a:stretch>
        </p:blipFill>
        <p:spPr>
          <a:xfrm>
            <a:off x="457200" y="1417320"/>
            <a:ext cx="5166360" cy="3804542"/>
          </a:xfrm>
          <a:prstGeom prst="rect">
            <a:avLst/>
          </a:prstGeom>
          <a:effectLst>
            <a:outerShdw blurRad="50800" dist="38100" dir="18900000" algn="bl" rotWithShape="0">
              <a:prstClr val="black">
                <a:alpha val="40000"/>
              </a:prstClr>
            </a:outerShdw>
          </a:effectLst>
        </p:spPr>
      </p:pic>
      <p:pic>
        <p:nvPicPr>
          <p:cNvPr id="6" name="Image 1" descr="/home/claude/assets2/pr_curve.png"/>
          <p:cNvPicPr>
            <a:picLocks noChangeAspect="1"/>
          </p:cNvPicPr>
          <p:nvPr/>
        </p:nvPicPr>
        <p:blipFill>
          <a:blip r:embed="rId4"/>
          <a:stretch>
            <a:fillRect/>
          </a:stretch>
        </p:blipFill>
        <p:spPr>
          <a:xfrm>
            <a:off x="6568135" y="1417320"/>
            <a:ext cx="5166360" cy="3804542"/>
          </a:xfrm>
          <a:prstGeom prst="rect">
            <a:avLst/>
          </a:prstGeom>
          <a:effectLst>
            <a:outerShdw blurRad="50800" dist="38100" dir="18900000" algn="bl" rotWithShape="0">
              <a:prstClr val="black">
                <a:alpha val="40000"/>
              </a:prstClr>
            </a:outerShdw>
          </a:effectLst>
        </p:spPr>
      </p:pic>
      <p:sp>
        <p:nvSpPr>
          <p:cNvPr id="7" name="Text 3"/>
          <p:cNvSpPr txBox="1"/>
          <p:nvPr/>
        </p:nvSpPr>
        <p:spPr>
          <a:xfrm>
            <a:off x="457200" y="5313302"/>
            <a:ext cx="11274552"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Reading the curves</a:t>
            </a:r>
            <a:endParaRPr lang="en-US" sz="1250" dirty="0"/>
          </a:p>
        </p:txBody>
      </p:sp>
      <p:sp>
        <p:nvSpPr>
          <p:cNvPr id="8" name="Text 4"/>
          <p:cNvSpPr txBox="1"/>
          <p:nvPr/>
        </p:nvSpPr>
        <p:spPr>
          <a:xfrm>
            <a:off x="457200" y="5561522"/>
            <a:ext cx="11274552" cy="777240"/>
          </a:xfrm>
          <a:prstGeom prst="rect">
            <a:avLst/>
          </a:prstGeom>
          <a:noFill/>
          <a:ln/>
        </p:spPr>
        <p:txBody>
          <a:bodyPr wrap="square" lIns="0" tIns="0" rIns="0" bIns="0" rtlCol="0" anchor="t"/>
          <a:lstStyle/>
          <a:p>
            <a:pPr marL="0" indent="0">
              <a:lnSpc>
                <a:spcPts val="1300"/>
              </a:lnSpc>
              <a:buNone/>
            </a:pPr>
            <a:r>
              <a:rPr lang="en-US" sz="1000" dirty="0">
                <a:solidFill>
                  <a:srgbClr val="474747"/>
                </a:solidFill>
                <a:latin typeface="Calibri" pitchFamily="34" charset="0"/>
                <a:ea typeface="Calibri" pitchFamily="34" charset="-122"/>
                <a:cs typeface="Calibri" pitchFamily="34" charset="-120"/>
              </a:rPr>
              <a:t>All five models sit comfortably above the random-guess line. On ROC-AUC, the top four - </a:t>
            </a:r>
            <a:r>
              <a:rPr lang="en-US" sz="1000" dirty="0" err="1">
                <a:solidFill>
                  <a:srgbClr val="474747"/>
                </a:solidFill>
                <a:latin typeface="Calibri" pitchFamily="34" charset="0"/>
                <a:ea typeface="Calibri" pitchFamily="34" charset="-122"/>
                <a:cs typeface="Calibri" pitchFamily="34" charset="-120"/>
              </a:rPr>
              <a:t>LightGBM</a:t>
            </a:r>
            <a:r>
              <a:rPr lang="en-US" sz="1000" dirty="0">
                <a:solidFill>
                  <a:srgbClr val="474747"/>
                </a:solidFill>
                <a:latin typeface="Calibri" pitchFamily="34" charset="0"/>
                <a:ea typeface="Calibri" pitchFamily="34" charset="-122"/>
                <a:cs typeface="Calibri" pitchFamily="34" charset="-120"/>
              </a:rPr>
              <a:t> (0.782), CatBoost (0.780), Logistic Regression (0.779), and XGBoost (0.774) -  are hard to separate, while Random Forest (0.735) is clearly weaker. Average Precision tells a slightly different story: CatBoost (0.276) edges ahead of LightGBM (0.275), Logistic Regression (0.269), and XGBoost (0.264), with Random Forest again lowest (0.206). Both curves confirm the same trade-off: pushing recall higher comes at the cost of precision - why threshold selection matters as much as model choice.</a:t>
            </a:r>
            <a:endParaRPr lang="en-US" sz="1000" dirty="0"/>
          </a:p>
        </p:txBody>
      </p:sp>
      <p:sp>
        <p:nvSpPr>
          <p:cNvPr id="9" name="Text 5"/>
          <p:cNvSpPr txBox="1"/>
          <p:nvPr/>
        </p:nvSpPr>
        <p:spPr>
          <a:xfrm>
            <a:off x="457200" y="6492240"/>
            <a:ext cx="3657600" cy="256032"/>
          </a:xfrm>
          <a:prstGeom prst="rect">
            <a:avLst/>
          </a:prstGeom>
          <a:noFill/>
          <a:ln/>
        </p:spPr>
        <p:txBody>
          <a:bodyPr wrap="square" lIns="0" tIns="0" rIns="0" bIns="0" rtlCol="0" anchor="ctr"/>
          <a:lstStyle/>
          <a:p>
            <a:pPr marL="0" indent="0">
              <a:buNone/>
            </a:pPr>
            <a:endParaRPr lang="en-US" sz="900" dirty="0"/>
          </a:p>
        </p:txBody>
      </p:sp>
      <p:sp>
        <p:nvSpPr>
          <p:cNvPr id="10" name="Text 6"/>
          <p:cNvSpPr txBox="1"/>
          <p:nvPr/>
        </p:nvSpPr>
        <p:spPr>
          <a:xfrm>
            <a:off x="11514773"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47472"/>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MODELING</a:t>
            </a:r>
            <a:endParaRPr lang="en-US" sz="1150" dirty="0"/>
          </a:p>
        </p:txBody>
      </p:sp>
      <p:sp>
        <p:nvSpPr>
          <p:cNvPr id="3" name="Text 1"/>
          <p:cNvSpPr txBox="1"/>
          <p:nvPr/>
        </p:nvSpPr>
        <p:spPr>
          <a:xfrm>
            <a:off x="457200" y="603504"/>
            <a:ext cx="11247120" cy="502920"/>
          </a:xfrm>
          <a:prstGeom prst="rect">
            <a:avLst/>
          </a:prstGeom>
          <a:noFill/>
          <a:ln/>
        </p:spPr>
        <p:txBody>
          <a:bodyPr wrap="square" lIns="0" tIns="0" rIns="0" bIns="0"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Cross-validation confirms the ranking is stable</a:t>
            </a:r>
            <a:endParaRPr lang="en-US" sz="25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3-fold stratified CV ROC-AUC - mean across folds (SMOTE applied within each training fold only)</a:t>
            </a:r>
            <a:endParaRPr lang="en-US" sz="1150" dirty="0"/>
          </a:p>
        </p:txBody>
      </p:sp>
      <p:graphicFrame>
        <p:nvGraphicFramePr>
          <p:cNvPr id="5" name="Chart 0"/>
          <p:cNvGraphicFramePr/>
          <p:nvPr>
            <p:extLst>
              <p:ext uri="{D42A27DB-BD31-4B8C-83A1-F6EECF244321}">
                <p14:modId xmlns:p14="http://schemas.microsoft.com/office/powerpoint/2010/main" val="1636014926"/>
              </p:ext>
            </p:extLst>
          </p:nvPr>
        </p:nvGraphicFramePr>
        <p:xfrm>
          <a:off x="457200" y="1536192"/>
          <a:ext cx="66751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536192"/>
            <a:ext cx="4370832" cy="2788920"/>
          </a:xfrm>
          <a:prstGeom prst="roundRect">
            <a:avLst>
              <a:gd name="adj" fmla="val 3279"/>
            </a:avLst>
          </a:prstGeom>
          <a:solidFill>
            <a:srgbClr val="1E2761"/>
          </a:solidFill>
          <a:ln/>
          <a:effectLst>
            <a:outerShdw blurRad="50800" dist="38100" dir="18900000" algn="bl" rotWithShape="0">
              <a:prstClr val="black">
                <a:alpha val="40000"/>
              </a:prstClr>
            </a:outerShdw>
          </a:effectLst>
        </p:spPr>
      </p:sp>
      <p:sp>
        <p:nvSpPr>
          <p:cNvPr id="7" name="Text 4"/>
          <p:cNvSpPr txBox="1"/>
          <p:nvPr/>
        </p:nvSpPr>
        <p:spPr>
          <a:xfrm>
            <a:off x="7635240" y="1773936"/>
            <a:ext cx="3822192"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finalists confirmed</a:t>
            </a:r>
            <a:endParaRPr lang="en-US" sz="1400" dirty="0"/>
          </a:p>
        </p:txBody>
      </p:sp>
      <p:sp>
        <p:nvSpPr>
          <p:cNvPr id="8" name="Shape 5"/>
          <p:cNvSpPr/>
          <p:nvPr/>
        </p:nvSpPr>
        <p:spPr>
          <a:xfrm>
            <a:off x="7653528" y="2249424"/>
            <a:ext cx="118872" cy="118872"/>
          </a:xfrm>
          <a:prstGeom prst="ellipse">
            <a:avLst/>
          </a:prstGeom>
          <a:solidFill>
            <a:srgbClr val="0F9D8A"/>
          </a:solidFill>
          <a:ln/>
        </p:spPr>
      </p:sp>
      <p:sp>
        <p:nvSpPr>
          <p:cNvPr id="9" name="Text 6"/>
          <p:cNvSpPr txBox="1"/>
          <p:nvPr/>
        </p:nvSpPr>
        <p:spPr>
          <a:xfrm>
            <a:off x="7872984" y="2139696"/>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10" name="Shape 7"/>
          <p:cNvSpPr/>
          <p:nvPr/>
        </p:nvSpPr>
        <p:spPr>
          <a:xfrm>
            <a:off x="7653528" y="2596896"/>
            <a:ext cx="118872" cy="118872"/>
          </a:xfrm>
          <a:prstGeom prst="ellipse">
            <a:avLst/>
          </a:prstGeom>
          <a:solidFill>
            <a:srgbClr val="0F9D8A"/>
          </a:solidFill>
          <a:ln/>
        </p:spPr>
      </p:sp>
      <p:sp>
        <p:nvSpPr>
          <p:cNvPr id="11" name="Text 8"/>
          <p:cNvSpPr txBox="1"/>
          <p:nvPr/>
        </p:nvSpPr>
        <p:spPr>
          <a:xfrm>
            <a:off x="7872984" y="2487168"/>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LightGBM</a:t>
            </a:r>
            <a:endParaRPr lang="en-US" sz="1300" dirty="0"/>
          </a:p>
        </p:txBody>
      </p:sp>
      <p:sp>
        <p:nvSpPr>
          <p:cNvPr id="12" name="Shape 9"/>
          <p:cNvSpPr/>
          <p:nvPr/>
        </p:nvSpPr>
        <p:spPr>
          <a:xfrm>
            <a:off x="7653528" y="2944368"/>
            <a:ext cx="118872" cy="118872"/>
          </a:xfrm>
          <a:prstGeom prst="ellipse">
            <a:avLst/>
          </a:prstGeom>
          <a:solidFill>
            <a:srgbClr val="0F9D8A"/>
          </a:solidFill>
          <a:ln/>
        </p:spPr>
      </p:sp>
      <p:sp>
        <p:nvSpPr>
          <p:cNvPr id="13" name="Text 10"/>
          <p:cNvSpPr txBox="1"/>
          <p:nvPr/>
        </p:nvSpPr>
        <p:spPr>
          <a:xfrm>
            <a:off x="7872984" y="2834640"/>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CatBoost</a:t>
            </a:r>
            <a:endParaRPr lang="en-US" sz="1300" dirty="0"/>
          </a:p>
        </p:txBody>
      </p:sp>
      <p:sp>
        <p:nvSpPr>
          <p:cNvPr id="14" name="Text 11"/>
          <p:cNvSpPr txBox="1"/>
          <p:nvPr/>
        </p:nvSpPr>
        <p:spPr>
          <a:xfrm>
            <a:off x="7635240" y="3364992"/>
            <a:ext cx="3822192" cy="685800"/>
          </a:xfrm>
          <a:prstGeom prst="rect">
            <a:avLst/>
          </a:prstGeom>
          <a:noFill/>
          <a:ln/>
        </p:spPr>
        <p:txBody>
          <a:bodyPr wrap="square" lIns="0" tIns="0" rIns="0" bIns="0" rtlCol="0" anchor="t"/>
          <a:lstStyle/>
          <a:p>
            <a:pPr marL="152400" indent="-152400">
              <a:lnSpc>
                <a:spcPts val="1350"/>
              </a:lnSpc>
              <a:buSzPct val="100000"/>
              <a:buChar char="●"/>
            </a:pPr>
            <a:r>
              <a:rPr lang="en-US" sz="1050" dirty="0">
                <a:solidFill>
                  <a:srgbClr val="D6DCF2"/>
                </a:solidFill>
                <a:latin typeface="Calibri" pitchFamily="34" charset="0"/>
                <a:ea typeface="Calibri" pitchFamily="34" charset="-122"/>
                <a:cs typeface="Calibri" pitchFamily="34" charset="-120"/>
              </a:rPr>
              <a:t>LightGBM stayed on top, but its edge over Logistic Regression (0.0019) is within fold-to-fold noise.</a:t>
            </a:r>
            <a:endParaRPr lang="en-US" sz="1050" dirty="0"/>
          </a:p>
        </p:txBody>
      </p:sp>
      <p:sp>
        <p:nvSpPr>
          <p:cNvPr id="15" name="Text 12"/>
          <p:cNvSpPr txBox="1"/>
          <p:nvPr/>
        </p:nvSpPr>
        <p:spPr>
          <a:xfrm>
            <a:off x="7635240" y="3867912"/>
            <a:ext cx="3822192" cy="365760"/>
          </a:xfrm>
          <a:prstGeom prst="rect">
            <a:avLst/>
          </a:prstGeom>
          <a:noFill/>
          <a:ln/>
        </p:spPr>
        <p:txBody>
          <a:bodyPr wrap="square" lIns="0" tIns="0" rIns="0" bIns="0" rtlCol="0" anchor="t"/>
          <a:lstStyle/>
          <a:p>
            <a:pPr marL="0" indent="0">
              <a:lnSpc>
                <a:spcPts val="1200"/>
              </a:lnSpc>
              <a:buNone/>
            </a:pPr>
            <a:r>
              <a:rPr lang="en-US" sz="950" i="1" dirty="0">
                <a:solidFill>
                  <a:srgbClr val="A9B1D6"/>
                </a:solidFill>
                <a:latin typeface="Calibri" pitchFamily="34" charset="0"/>
                <a:ea typeface="Calibri" pitchFamily="34" charset="-122"/>
                <a:cs typeface="Calibri" pitchFamily="34" charset="-120"/>
              </a:rPr>
              <a:t>XGBoost dropped - lowest mean CV ROC-AUC and no longer competitive.</a:t>
            </a:r>
            <a:endParaRPr lang="en-US" sz="950" dirty="0"/>
          </a:p>
        </p:txBody>
      </p:sp>
      <p:sp>
        <p:nvSpPr>
          <p:cNvPr id="16" name="Text 13"/>
          <p:cNvSpPr txBox="1"/>
          <p:nvPr/>
        </p:nvSpPr>
        <p:spPr>
          <a:xfrm>
            <a:off x="457200" y="4434840"/>
            <a:ext cx="7315200" cy="2560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Mean ± standard deviation </a:t>
            </a:r>
            <a:r>
              <a:rPr lang="en-US" sz="1100" b="1">
                <a:solidFill>
                  <a:srgbClr val="1E2761"/>
                </a:solidFill>
                <a:latin typeface="Calibri" pitchFamily="34" charset="0"/>
                <a:ea typeface="Calibri" pitchFamily="34" charset="-122"/>
                <a:cs typeface="Calibri" pitchFamily="34" charset="-120"/>
              </a:rPr>
              <a:t>across 3 folds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127143295"/>
              </p:ext>
            </p:extLst>
          </p:nvPr>
        </p:nvGraphicFramePr>
        <p:xfrm>
          <a:off x="457200" y="4727448"/>
          <a:ext cx="7498080" cy="1463040"/>
        </p:xfrm>
        <a:graphic>
          <a:graphicData uri="http://schemas.openxmlformats.org/drawingml/2006/table">
            <a:tbl>
              <a:tblPr>
                <a:effectLst>
                  <a:outerShdw blurRad="50800" dist="38100" dir="18900000" algn="bl" rotWithShape="0">
                    <a:prstClr val="black">
                      <a:alpha val="40000"/>
                    </a:prstClr>
                  </a:outerShdw>
                </a:effectLst>
              </a:tblPr>
              <a:tblGrid>
                <a:gridCol w="3291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2926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CV ROC-AUC Mean</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CV ROC-AUC Std</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0.7770</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0.0026</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0.7751</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0.0025</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CatBoost</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0.7734</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0.0027</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0.7655</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0.0025</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bl>
          </a:graphicData>
        </a:graphic>
      </p:graphicFrame>
      <p:sp>
        <p:nvSpPr>
          <p:cNvPr id="18" name="Text 14"/>
          <p:cNvSpPr txBox="1"/>
          <p:nvPr/>
        </p:nvSpPr>
        <p:spPr>
          <a:xfrm>
            <a:off x="8138160" y="4727448"/>
            <a:ext cx="3593592" cy="1463040"/>
          </a:xfrm>
          <a:prstGeom prst="rect">
            <a:avLst/>
          </a:prstGeom>
          <a:noFill/>
          <a:ln/>
        </p:spPr>
        <p:txBody>
          <a:bodyPr wrap="square" lIns="0" tIns="0" rIns="0" bIns="0" rtlCol="0" anchor="t"/>
          <a:lstStyle/>
          <a:p>
            <a:pPr marL="0" indent="0">
              <a:lnSpc>
                <a:spcPts val="1400"/>
              </a:lnSpc>
              <a:buNone/>
            </a:pPr>
            <a:r>
              <a:rPr lang="en-US" sz="1050" b="1" dirty="0">
                <a:solidFill>
                  <a:srgbClr val="1E2761"/>
                </a:solidFill>
                <a:latin typeface="Calibri" pitchFamily="34" charset="0"/>
                <a:ea typeface="Calibri" pitchFamily="34" charset="-122"/>
                <a:cs typeface="Calibri" pitchFamily="34" charset="-120"/>
              </a:rPr>
              <a:t>Why this matters:  </a:t>
            </a:r>
            <a:r>
              <a:rPr lang="en-US" sz="1050" dirty="0">
                <a:solidFill>
                  <a:srgbClr val="474747"/>
                </a:solidFill>
                <a:latin typeface="Calibri" pitchFamily="34" charset="0"/>
                <a:ea typeface="Calibri" pitchFamily="34" charset="-122"/>
                <a:cs typeface="Calibri" pitchFamily="34" charset="-120"/>
              </a:rPr>
              <a:t>small, consistent standard deviations (0.0025-0.0027) show none of the four models got lucky or unlucky on a single split - the single 80/20 ranking above is confirmed, not an artefact of one particular train/validation split.</a:t>
            </a:r>
            <a:endParaRPr lang="en-US" sz="1050" dirty="0"/>
          </a:p>
        </p:txBody>
      </p:sp>
      <p:sp>
        <p:nvSpPr>
          <p:cNvPr id="19" name="Text 15"/>
          <p:cNvSpPr txBox="1"/>
          <p:nvPr/>
        </p:nvSpPr>
        <p:spPr>
          <a:xfrm>
            <a:off x="457200" y="6492240"/>
            <a:ext cx="3657600" cy="256032"/>
          </a:xfrm>
          <a:prstGeom prst="rect">
            <a:avLst/>
          </a:prstGeom>
          <a:noFill/>
          <a:ln/>
        </p:spPr>
        <p:txBody>
          <a:bodyPr wrap="square" lIns="0" tIns="0" rIns="0" bIns="0" rtlCol="0" anchor="ctr"/>
          <a:lstStyle/>
          <a:p>
            <a:pPr marL="0" indent="0">
              <a:buNone/>
            </a:pPr>
            <a:endParaRPr lang="en-US" sz="900" dirty="0"/>
          </a:p>
        </p:txBody>
      </p:sp>
      <p:sp>
        <p:nvSpPr>
          <p:cNvPr id="20" name="Text 16"/>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20521"/>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30352"/>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Class weighting wins on the full 842-feature set</a:t>
            </a:r>
            <a:endParaRPr lang="en-US" sz="2200" dirty="0"/>
          </a:p>
        </p:txBody>
      </p:sp>
      <p:sp>
        <p:nvSpPr>
          <p:cNvPr id="4" name="Text 2"/>
          <p:cNvSpPr txBox="1"/>
          <p:nvPr/>
        </p:nvSpPr>
        <p:spPr>
          <a:xfrm>
            <a:off x="457200" y="969264"/>
            <a:ext cx="11247120" cy="27432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Defaulter recall, SMOTE vs. class weighting: Logistic Regression, LightGBM, CatBoost</a:t>
            </a:r>
            <a:endParaRPr lang="en-US" sz="1050" dirty="0"/>
          </a:p>
        </p:txBody>
      </p:sp>
      <p:sp>
        <p:nvSpPr>
          <p:cNvPr id="5" name="Text 3"/>
          <p:cNvSpPr txBox="1"/>
          <p:nvPr/>
        </p:nvSpPr>
        <p:spPr>
          <a:xfrm>
            <a:off x="457200" y="1343635"/>
            <a:ext cx="626364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SMOTE vs. class weighting - same 3 models, both approaches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3931965225"/>
              </p:ext>
            </p:extLst>
          </p:nvPr>
        </p:nvGraphicFramePr>
        <p:xfrm>
          <a:off x="457200" y="1572768"/>
          <a:ext cx="6263640" cy="1737358"/>
        </p:xfrm>
        <a:graphic>
          <a:graphicData uri="http://schemas.openxmlformats.org/drawingml/2006/table">
            <a:tbl>
              <a:tblPr>
                <a:effectLst>
                  <a:outerShdw blurRad="50800" dist="38100" dir="18900000" algn="bl" rotWithShape="0">
                    <a:prstClr val="black">
                      <a:alpha val="40000"/>
                    </a:prstClr>
                  </a:outerShdw>
                </a:effectLst>
              </a:tblPr>
              <a:tblGrid>
                <a:gridCol w="2331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24819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Approach</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97706"/>
                          </a:solidFill>
                          <a:latin typeface="Calibri" pitchFamily="34" charset="0"/>
                          <a:ea typeface="Calibri" pitchFamily="34" charset="-122"/>
                          <a:cs typeface="Calibri" pitchFamily="34" charset="-120"/>
                        </a:rPr>
                        <a:t>SMOTE</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b="1" dirty="0">
                          <a:solidFill>
                            <a:srgbClr val="0F9D8A"/>
                          </a:solidFill>
                          <a:latin typeface="Calibri" pitchFamily="34" charset="0"/>
                          <a:ea typeface="Calibri" pitchFamily="34" charset="-122"/>
                          <a:cs typeface="Calibri" pitchFamily="34" charset="-120"/>
                        </a:rPr>
                        <a:t>Class-Weighted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97706"/>
                          </a:solidFill>
                          <a:latin typeface="Calibri" pitchFamily="34" charset="0"/>
                          <a:ea typeface="Calibri" pitchFamily="34" charset="-122"/>
                          <a:cs typeface="Calibri" pitchFamily="34" charset="-120"/>
                        </a:rPr>
                        <a:t>SMOTE</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0.7803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b="1" dirty="0">
                          <a:solidFill>
                            <a:srgbClr val="0F9D8A"/>
                          </a:solidFill>
                          <a:latin typeface="Calibri" pitchFamily="34" charset="0"/>
                          <a:ea typeface="Calibri" pitchFamily="34" charset="-122"/>
                          <a:cs typeface="Calibri" pitchFamily="34" charset="-120"/>
                        </a:rPr>
                        <a:t>Class-Weighted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0.7854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97706"/>
                          </a:solidFill>
                          <a:latin typeface="Calibri" pitchFamily="34" charset="0"/>
                          <a:ea typeface="Calibri" pitchFamily="34" charset="-122"/>
                          <a:cs typeface="Calibri" pitchFamily="34" charset="-120"/>
                        </a:rPr>
                        <a:t>SMOTE</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b="1" dirty="0">
                          <a:solidFill>
                            <a:srgbClr val="0F9D8A"/>
                          </a:solidFill>
                          <a:latin typeface="Calibri" pitchFamily="34" charset="0"/>
                          <a:ea typeface="Calibri" pitchFamily="34" charset="-122"/>
                          <a:cs typeface="Calibri" pitchFamily="34" charset="-120"/>
                        </a:rPr>
                        <a:t>Class-Weighted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6"/>
                  </a:ext>
                </a:extLst>
              </a:tr>
            </a:tbl>
          </a:graphicData>
        </a:graphic>
      </p:graphicFrame>
      <p:sp>
        <p:nvSpPr>
          <p:cNvPr id="7" name="Shape 4"/>
          <p:cNvSpPr/>
          <p:nvPr/>
        </p:nvSpPr>
        <p:spPr>
          <a:xfrm>
            <a:off x="6995160" y="950976"/>
            <a:ext cx="4736592" cy="2644480"/>
          </a:xfrm>
          <a:prstGeom prst="roundRect">
            <a:avLst>
              <a:gd name="adj" fmla="val 4186"/>
            </a:avLst>
          </a:prstGeom>
          <a:solidFill>
            <a:srgbClr val="1E2761"/>
          </a:solidFill>
          <a:ln/>
          <a:effectLst>
            <a:outerShdw blurRad="50800" dist="38100" dir="18900000" algn="bl" rotWithShape="0">
              <a:prstClr val="black">
                <a:alpha val="40000"/>
              </a:prstClr>
            </a:outerShdw>
          </a:effectLst>
        </p:spPr>
      </p:sp>
      <p:sp>
        <p:nvSpPr>
          <p:cNvPr id="10" name="Text 7"/>
          <p:cNvSpPr txBox="1"/>
          <p:nvPr/>
        </p:nvSpPr>
        <p:spPr>
          <a:xfrm>
            <a:off x="457200" y="3456432"/>
            <a:ext cx="914400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Full results — all 5 baseline (SMOTE) models plus the 3 class-weighted variants</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923838396"/>
              </p:ext>
            </p:extLst>
          </p:nvPr>
        </p:nvGraphicFramePr>
        <p:xfrm>
          <a:off x="457200" y="3749040"/>
          <a:ext cx="11274552" cy="2514600"/>
        </p:xfrm>
        <a:graphic>
          <a:graphicData uri="http://schemas.openxmlformats.org/drawingml/2006/table">
            <a:tbl>
              <a:tblPr>
                <a:effectLst>
                  <a:outerShdw blurRad="50800" dist="38100" dir="18900000" algn="bl" rotWithShape="0">
                    <a:prstClr val="black">
                      <a:alpha val="40000"/>
                    </a:prstClr>
                  </a:outerShdw>
                </a:effectLst>
              </a:tblPr>
              <a:tblGrid>
                <a:gridCol w="3776472">
                  <a:extLst>
                    <a:ext uri="{9D8B030D-6E8A-4147-A177-3AD203B41FA5}">
                      <a16:colId xmlns:a16="http://schemas.microsoft.com/office/drawing/2014/main" val="20000"/>
                    </a:ext>
                  </a:extLst>
                </a:gridCol>
                <a:gridCol w="1499616">
                  <a:extLst>
                    <a:ext uri="{9D8B030D-6E8A-4147-A177-3AD203B41FA5}">
                      <a16:colId xmlns:a16="http://schemas.microsoft.com/office/drawing/2014/main" val="20001"/>
                    </a:ext>
                  </a:extLst>
                </a:gridCol>
                <a:gridCol w="1499616">
                  <a:extLst>
                    <a:ext uri="{9D8B030D-6E8A-4147-A177-3AD203B41FA5}">
                      <a16:colId xmlns:a16="http://schemas.microsoft.com/office/drawing/2014/main" val="20002"/>
                    </a:ext>
                  </a:extLst>
                </a:gridCol>
                <a:gridCol w="1499616">
                  <a:extLst>
                    <a:ext uri="{9D8B030D-6E8A-4147-A177-3AD203B41FA5}">
                      <a16:colId xmlns:a16="http://schemas.microsoft.com/office/drawing/2014/main" val="20003"/>
                    </a:ext>
                  </a:extLst>
                </a:gridCol>
                <a:gridCol w="1499616">
                  <a:extLst>
                    <a:ext uri="{9D8B030D-6E8A-4147-A177-3AD203B41FA5}">
                      <a16:colId xmlns:a16="http://schemas.microsoft.com/office/drawing/2014/main" val="20004"/>
                    </a:ext>
                  </a:extLst>
                </a:gridCol>
                <a:gridCol w="1499616">
                  <a:extLst>
                    <a:ext uri="{9D8B030D-6E8A-4147-A177-3AD203B41FA5}">
                      <a16:colId xmlns:a16="http://schemas.microsoft.com/office/drawing/2014/main" val="20005"/>
                    </a:ext>
                  </a:extLst>
                </a:gridCol>
              </a:tblGrid>
              <a:tr h="27940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 (class_weight)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72.49%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18.53%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0.2938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 (class_weight)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71.99%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18.25%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0.2904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0.7854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2"/>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91.99%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58.53%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0.0490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92.02%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65.96%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0.0481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0.7803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92.01%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56.76%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0.0787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 (class_weight)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71.65%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17.98%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0.2866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6"/>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91.88%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48.13%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6.75%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0.1184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0.7739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Random Forest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91.93%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50.77%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0.66%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0.0131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0.7352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8"/>
                  </a:ext>
                </a:extLst>
              </a:tr>
            </a:tbl>
          </a:graphicData>
        </a:graphic>
      </p:graphicFrame>
      <p:sp>
        <p:nvSpPr>
          <p:cNvPr id="12" name="Text 8"/>
          <p:cNvSpPr txBox="1"/>
          <p:nvPr/>
        </p:nvSpPr>
        <p:spPr>
          <a:xfrm>
            <a:off x="457200" y="6263640"/>
            <a:ext cx="11274552" cy="256032"/>
          </a:xfrm>
          <a:prstGeom prst="rect">
            <a:avLst/>
          </a:prstGeom>
          <a:noFill/>
          <a:ln/>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Bottom line: </a:t>
            </a:r>
            <a:r>
              <a:rPr lang="en-US" sz="900" dirty="0">
                <a:solidFill>
                  <a:srgbClr val="474747"/>
                </a:solidFill>
                <a:latin typeface="Calibri" pitchFamily="34" charset="0"/>
                <a:ea typeface="Calibri" pitchFamily="34" charset="-122"/>
                <a:cs typeface="Calibri" pitchFamily="34" charset="-120"/>
              </a:rPr>
              <a:t>across every model tested, class weighting is the only approach that gives the business a model capable of actually catching defaulters — that's why it was carried forward into tuning.</a:t>
            </a:r>
            <a:endParaRPr lang="en-US" sz="900" dirty="0"/>
          </a:p>
        </p:txBody>
      </p:sp>
      <p:sp>
        <p:nvSpPr>
          <p:cNvPr id="14" name="Text 10"/>
          <p:cNvSpPr txBox="1"/>
          <p:nvPr/>
        </p:nvSpPr>
        <p:spPr>
          <a:xfrm>
            <a:off x="11505895" y="6537960"/>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16</a:t>
            </a:r>
            <a:endParaRPr lang="en-US" sz="900" dirty="0"/>
          </a:p>
        </p:txBody>
      </p:sp>
      <p:sp>
        <p:nvSpPr>
          <p:cNvPr id="15" name="TextBox 14">
            <a:extLst>
              <a:ext uri="{FF2B5EF4-FFF2-40B4-BE49-F238E27FC236}">
                <a16:creationId xmlns:a16="http://schemas.microsoft.com/office/drawing/2014/main" id="{57389A66-F353-4FC6-9A36-A5D08A69F86F}"/>
              </a:ext>
            </a:extLst>
          </p:cNvPr>
          <p:cNvSpPr txBox="1"/>
          <p:nvPr/>
        </p:nvSpPr>
        <p:spPr>
          <a:xfrm>
            <a:off x="7182035" y="987552"/>
            <a:ext cx="4549717" cy="1661993"/>
          </a:xfrm>
          <a:prstGeom prst="rect">
            <a:avLst/>
          </a:prstGeom>
          <a:noFill/>
        </p:spPr>
        <p:txBody>
          <a:bodyPr wrap="square" rtlCol="0">
            <a:spAutoFit/>
          </a:bodyPr>
          <a:lstStyle/>
          <a:p>
            <a:r>
              <a:rPr lang="en-US" sz="1200" b="1" dirty="0">
                <a:solidFill>
                  <a:schemeClr val="bg1"/>
                </a:solidFill>
                <a:latin typeface="Calibri" pitchFamily="34" charset="0"/>
                <a:ea typeface="Calibri" pitchFamily="34" charset="-122"/>
                <a:cs typeface="Calibri" pitchFamily="34" charset="-120"/>
              </a:rPr>
              <a:t>What went wrong with SMOTE</a:t>
            </a:r>
          </a:p>
          <a:p>
            <a:endParaRPr lang="en-US" sz="1200" b="1" dirty="0">
              <a:solidFill>
                <a:schemeClr val="bg1"/>
              </a:solidFill>
              <a:latin typeface="Calibri" pitchFamily="34" charset="0"/>
              <a:ea typeface="Calibri" pitchFamily="34" charset="-122"/>
              <a:cs typeface="Calibri" pitchFamily="34" charset="-120"/>
            </a:endParaRPr>
          </a:p>
          <a:p>
            <a:r>
              <a:rPr lang="en-US" sz="1200" dirty="0">
                <a:solidFill>
                  <a:schemeClr val="bg1"/>
                </a:solidFill>
                <a:latin typeface="Calibri" pitchFamily="34" charset="0"/>
                <a:ea typeface="Calibri" pitchFamily="34" charset="-122"/>
                <a:cs typeface="Calibri" pitchFamily="34" charset="-120"/>
              </a:rPr>
              <a:t>SMOTE invents synthetic "defaulter" examples by interpolating between real ones. With ~790 features spanning very different financial histories, those synthetic points often don't represent realistic customers - so the model learned little about what a real defaulter looks like</a:t>
            </a:r>
            <a:endParaRPr lang="en-US" sz="1200" dirty="0">
              <a:solidFill>
                <a:schemeClr val="bg1"/>
              </a:solidFill>
            </a:endParaRPr>
          </a:p>
          <a:p>
            <a:endParaRPr lang="en-US" dirty="0"/>
          </a:p>
        </p:txBody>
      </p:sp>
      <p:sp>
        <p:nvSpPr>
          <p:cNvPr id="16" name="TextBox 15">
            <a:extLst>
              <a:ext uri="{FF2B5EF4-FFF2-40B4-BE49-F238E27FC236}">
                <a16:creationId xmlns:a16="http://schemas.microsoft.com/office/drawing/2014/main" id="{AAB193ED-F67E-4CDB-AF4A-9A50677C549C}"/>
              </a:ext>
            </a:extLst>
          </p:cNvPr>
          <p:cNvSpPr txBox="1"/>
          <p:nvPr/>
        </p:nvSpPr>
        <p:spPr>
          <a:xfrm>
            <a:off x="7182035" y="2311938"/>
            <a:ext cx="4208015" cy="1292662"/>
          </a:xfrm>
          <a:prstGeom prst="rect">
            <a:avLst/>
          </a:prstGeom>
          <a:noFill/>
        </p:spPr>
        <p:txBody>
          <a:bodyPr wrap="square" rtlCol="0">
            <a:spAutoFit/>
          </a:bodyPr>
          <a:lstStyle/>
          <a:p>
            <a:r>
              <a:rPr lang="en-US" sz="1200" b="1" dirty="0">
                <a:solidFill>
                  <a:schemeClr val="bg1"/>
                </a:solidFill>
                <a:latin typeface="Calibri" pitchFamily="34" charset="0"/>
                <a:ea typeface="Calibri" pitchFamily="34" charset="-122"/>
                <a:cs typeface="Calibri" pitchFamily="34" charset="-120"/>
              </a:rPr>
              <a:t>The fix: class weighting</a:t>
            </a:r>
          </a:p>
          <a:p>
            <a:r>
              <a:rPr lang="en-US" sz="1200" dirty="0">
                <a:solidFill>
                  <a:schemeClr val="bg1"/>
                </a:solidFill>
                <a:latin typeface="Calibri" pitchFamily="34" charset="0"/>
                <a:ea typeface="Calibri" pitchFamily="34" charset="-122"/>
                <a:cs typeface="Calibri" pitchFamily="34" charset="-120"/>
              </a:rPr>
              <a:t>Instead of inventing data, we kept every real record and simply told the model to penalize missed defaulters more heavily. Recall jumped from ~3% to ~71%, at the cost of some accuracy - a trade the business actually wants.</a:t>
            </a:r>
            <a:endParaRPr lang="en-US" sz="1200" dirty="0">
              <a:solidFill>
                <a:schemeClr val="bg1"/>
              </a:solidFill>
            </a:endParaRP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38810"/>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12064"/>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Tuning found better models - it didn't find the right cutoff</a:t>
            </a:r>
            <a:endParaRPr lang="en-US" sz="2200" dirty="0"/>
          </a:p>
        </p:txBody>
      </p:sp>
      <p:sp>
        <p:nvSpPr>
          <p:cNvPr id="4" name="Text 2"/>
          <p:cNvSpPr txBox="1"/>
          <p:nvPr/>
        </p:nvSpPr>
        <p:spPr>
          <a:xfrm>
            <a:off x="457200" y="906587"/>
            <a:ext cx="11247120" cy="27432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Hyperparameter tuning improves ranking ability; it says nothing about where to draw the decision line</a:t>
            </a:r>
            <a:endParaRPr lang="en-US" sz="1050" dirty="0"/>
          </a:p>
        </p:txBody>
      </p:sp>
      <p:sp>
        <p:nvSpPr>
          <p:cNvPr id="5" name="Text 3"/>
          <p:cNvSpPr txBox="1"/>
          <p:nvPr/>
        </p:nvSpPr>
        <p:spPr>
          <a:xfrm>
            <a:off x="457200" y="1371600"/>
            <a:ext cx="667512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1 · After hyperparameter tuning (default 0.50 threshold)</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2884824335"/>
              </p:ext>
            </p:extLst>
          </p:nvPr>
        </p:nvGraphicFramePr>
        <p:xfrm>
          <a:off x="457200" y="1627632"/>
          <a:ext cx="6675120" cy="1051560"/>
        </p:xfrm>
        <a:graphic>
          <a:graphicData uri="http://schemas.openxmlformats.org/drawingml/2006/table">
            <a:tbl>
              <a:tblPr>
                <a:effectLst>
                  <a:outerShdw blurRad="50800" dist="38100" dir="18900000" algn="bl" rotWithShape="0">
                    <a:prstClr val="black">
                      <a:alpha val="40000"/>
                    </a:prstClr>
                  </a:outerShdw>
                </a:effectLst>
              </a:tblPr>
              <a:tblGrid>
                <a:gridCol w="19202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CV 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Val. 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0.7839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0.7869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0.8752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0.2992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0.4066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0.3447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0.7836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0.7895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0.7350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0.1899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0.6989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0.7757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0.9022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0.3489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0.2443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0.2874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7360920" y="1371600"/>
            <a:ext cx="4370832" cy="1307592"/>
          </a:xfrm>
          <a:prstGeom prst="roundRect">
            <a:avLst>
              <a:gd name="adj" fmla="val 6294"/>
            </a:avLst>
          </a:prstGeom>
          <a:solidFill>
            <a:srgbClr val="1E2761"/>
          </a:solidFill>
          <a:ln/>
          <a:effectLst>
            <a:outerShdw blurRad="50800" dist="38100" dir="18900000" algn="bl" rotWithShape="0">
              <a:prstClr val="black">
                <a:alpha val="40000"/>
              </a:prstClr>
            </a:outerShdw>
          </a:effectLst>
        </p:spPr>
      </p:sp>
      <p:sp>
        <p:nvSpPr>
          <p:cNvPr id="8" name="Text 5"/>
          <p:cNvSpPr txBox="1"/>
          <p:nvPr/>
        </p:nvSpPr>
        <p:spPr>
          <a:xfrm>
            <a:off x="7543800" y="1481328"/>
            <a:ext cx="4023360" cy="23774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So why not stop here?</a:t>
            </a:r>
            <a:endParaRPr lang="en-US" sz="1150" dirty="0"/>
          </a:p>
        </p:txBody>
      </p:sp>
      <p:sp>
        <p:nvSpPr>
          <p:cNvPr id="9" name="Text 6"/>
          <p:cNvSpPr txBox="1"/>
          <p:nvPr/>
        </p:nvSpPr>
        <p:spPr>
          <a:xfrm>
            <a:off x="7543800" y="1737360"/>
            <a:ext cx="4023360" cy="896112"/>
          </a:xfrm>
          <a:prstGeom prst="rect">
            <a:avLst/>
          </a:prstGeom>
          <a:noFill/>
          <a:ln/>
        </p:spPr>
        <p:txBody>
          <a:bodyPr wrap="square" lIns="0" tIns="0" rIns="0" bIns="0" rtlCol="0" anchor="t"/>
          <a:lstStyle/>
          <a:p>
            <a:pPr marL="0" indent="0">
              <a:lnSpc>
                <a:spcPts val="1200"/>
              </a:lnSpc>
              <a:buNone/>
            </a:pPr>
            <a:r>
              <a:rPr lang="en-US" sz="950" dirty="0">
                <a:solidFill>
                  <a:srgbClr val="D6DCF2"/>
                </a:solidFill>
                <a:latin typeface="Calibri" pitchFamily="34" charset="0"/>
                <a:ea typeface="Calibri" pitchFamily="34" charset="-122"/>
                <a:cs typeface="Calibri" pitchFamily="34" charset="-120"/>
              </a:rPr>
              <a:t>Tuning only optimised ROC-AUC - ranking ability. It never touched the 0.50 cutoff used to turn a probability into a decision. At 0.50, CatBoost still misses 59% of defaulters and LightGBM still misses over 30% of non-defaulters as false alarms. The threshold is a free lever tuning never pulled.</a:t>
            </a:r>
            <a:endParaRPr lang="en-US" sz="950" dirty="0"/>
          </a:p>
        </p:txBody>
      </p:sp>
      <p:sp>
        <p:nvSpPr>
          <p:cNvPr id="10" name="Text 7"/>
          <p:cNvSpPr txBox="1"/>
          <p:nvPr/>
        </p:nvSpPr>
        <p:spPr>
          <a:xfrm>
            <a:off x="457200" y="2816352"/>
            <a:ext cx="74066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2 · Cost-sensitive threshold search (false positive = 1, false negative = 5)</a:t>
            </a:r>
            <a:endParaRPr lang="en-US" sz="1050" dirty="0"/>
          </a:p>
        </p:txBody>
      </p:sp>
      <p:graphicFrame>
        <p:nvGraphicFramePr>
          <p:cNvPr id="11" name="Chart 0"/>
          <p:cNvGraphicFramePr/>
          <p:nvPr>
            <p:extLst>
              <p:ext uri="{D42A27DB-BD31-4B8C-83A1-F6EECF244321}">
                <p14:modId xmlns:p14="http://schemas.microsoft.com/office/powerpoint/2010/main" val="3605657174"/>
              </p:ext>
            </p:extLst>
          </p:nvPr>
        </p:nvGraphicFramePr>
        <p:xfrm>
          <a:off x="457200" y="3090672"/>
          <a:ext cx="740664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8"/>
          <p:cNvSpPr/>
          <p:nvPr/>
        </p:nvSpPr>
        <p:spPr>
          <a:xfrm>
            <a:off x="8001000" y="2816352"/>
            <a:ext cx="3730752" cy="3017520"/>
          </a:xfrm>
          <a:prstGeom prst="roundRect">
            <a:avLst>
              <a:gd name="adj" fmla="val 3030"/>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3" name="Text 9"/>
          <p:cNvSpPr txBox="1"/>
          <p:nvPr/>
        </p:nvSpPr>
        <p:spPr>
          <a:xfrm>
            <a:off x="8211312" y="2971800"/>
            <a:ext cx="3291840" cy="384048"/>
          </a:xfrm>
          <a:prstGeom prst="rect">
            <a:avLst/>
          </a:prstGeom>
          <a:noFill/>
          <a:ln/>
        </p:spPr>
        <p:txBody>
          <a:bodyPr wrap="square" lIns="0" tIns="0" rIns="0" bIns="0" rtlCol="0" anchor="ctr"/>
          <a:lstStyle/>
          <a:p>
            <a:pPr marL="0" indent="0">
              <a:lnSpc>
                <a:spcPts val="1300"/>
              </a:lnSpc>
              <a:buNone/>
            </a:pPr>
            <a:r>
              <a:rPr lang="en-US" sz="1150" b="1" dirty="0">
                <a:solidFill>
                  <a:srgbClr val="1E2761"/>
                </a:solidFill>
                <a:latin typeface="Calibri" pitchFamily="34" charset="0"/>
                <a:ea typeface="Calibri" pitchFamily="34" charset="-122"/>
                <a:cs typeface="Calibri" pitchFamily="34" charset="-120"/>
              </a:rPr>
              <a:t>Lowest-cost threshold per model</a:t>
            </a:r>
            <a:endParaRPr lang="en-US" sz="1150" dirty="0"/>
          </a:p>
        </p:txBody>
      </p:sp>
      <p:sp>
        <p:nvSpPr>
          <p:cNvPr id="14" name="Shape 10"/>
          <p:cNvSpPr/>
          <p:nvPr/>
        </p:nvSpPr>
        <p:spPr>
          <a:xfrm>
            <a:off x="8211312" y="3401568"/>
            <a:ext cx="3310128" cy="640080"/>
          </a:xfrm>
          <a:prstGeom prst="roundRect">
            <a:avLst>
              <a:gd name="adj" fmla="val 10000"/>
            </a:avLst>
          </a:prstGeom>
          <a:solidFill>
            <a:srgbClr val="E4F5F0"/>
          </a:solidFill>
          <a:ln w="15875">
            <a:solidFill>
              <a:srgbClr val="0F9D8A"/>
            </a:solidFill>
            <a:prstDash val="solid"/>
          </a:ln>
        </p:spPr>
      </p:sp>
      <p:sp>
        <p:nvSpPr>
          <p:cNvPr id="15" name="Text 11"/>
          <p:cNvSpPr txBox="1"/>
          <p:nvPr/>
        </p:nvSpPr>
        <p:spPr>
          <a:xfrm>
            <a:off x="8357616" y="3456432"/>
            <a:ext cx="30175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CatBoost</a:t>
            </a:r>
            <a:endParaRPr lang="en-US" sz="1100" dirty="0"/>
          </a:p>
        </p:txBody>
      </p:sp>
      <p:sp>
        <p:nvSpPr>
          <p:cNvPr id="16" name="Text 12"/>
          <p:cNvSpPr txBox="1"/>
          <p:nvPr/>
        </p:nvSpPr>
        <p:spPr>
          <a:xfrm>
            <a:off x="8357616" y="3721608"/>
            <a:ext cx="3017520" cy="256032"/>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threshold 0.50   </a:t>
            </a:r>
            <a:r>
              <a:rPr lang="en-US" sz="1000" b="1" dirty="0">
                <a:solidFill>
                  <a:srgbClr val="1E9E6F"/>
                </a:solidFill>
                <a:latin typeface="Calibri" pitchFamily="34" charset="0"/>
                <a:ea typeface="Calibri" pitchFamily="34" charset="-122"/>
                <a:cs typeface="Calibri" pitchFamily="34" charset="-120"/>
              </a:rPr>
              <a:t>cost 19,459</a:t>
            </a:r>
            <a:endParaRPr lang="en-US" sz="950" dirty="0"/>
          </a:p>
        </p:txBody>
      </p:sp>
      <p:sp>
        <p:nvSpPr>
          <p:cNvPr id="17" name="Shape 13"/>
          <p:cNvSpPr/>
          <p:nvPr/>
        </p:nvSpPr>
        <p:spPr>
          <a:xfrm>
            <a:off x="8211312" y="4133088"/>
            <a:ext cx="3310128" cy="640080"/>
          </a:xfrm>
          <a:prstGeom prst="roundRect">
            <a:avLst>
              <a:gd name="adj" fmla="val 10000"/>
            </a:avLst>
          </a:prstGeom>
          <a:solidFill>
            <a:srgbClr val="F1F4FA"/>
          </a:solidFill>
          <a:ln w="12700">
            <a:solidFill>
              <a:srgbClr val="E3E8F0"/>
            </a:solidFill>
            <a:prstDash val="solid"/>
          </a:ln>
        </p:spPr>
      </p:sp>
      <p:sp>
        <p:nvSpPr>
          <p:cNvPr id="18" name="Text 14"/>
          <p:cNvSpPr txBox="1"/>
          <p:nvPr/>
        </p:nvSpPr>
        <p:spPr>
          <a:xfrm>
            <a:off x="8357616" y="4187952"/>
            <a:ext cx="30175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Logistic Regression</a:t>
            </a:r>
            <a:endParaRPr lang="en-US" sz="1100" dirty="0"/>
          </a:p>
        </p:txBody>
      </p:sp>
      <p:sp>
        <p:nvSpPr>
          <p:cNvPr id="19" name="Text 15"/>
          <p:cNvSpPr txBox="1"/>
          <p:nvPr/>
        </p:nvSpPr>
        <p:spPr>
          <a:xfrm>
            <a:off x="8357616" y="4453128"/>
            <a:ext cx="3017520" cy="256032"/>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threshold 0.40   </a:t>
            </a:r>
            <a:r>
              <a:rPr lang="en-US" sz="1000" b="1" dirty="0">
                <a:solidFill>
                  <a:srgbClr val="474747"/>
                </a:solidFill>
                <a:latin typeface="Calibri" pitchFamily="34" charset="0"/>
                <a:ea typeface="Calibri" pitchFamily="34" charset="-122"/>
                <a:cs typeface="Calibri" pitchFamily="34" charset="-120"/>
              </a:rPr>
              <a:t>cost 19,987</a:t>
            </a:r>
            <a:endParaRPr lang="en-US" sz="950" dirty="0"/>
          </a:p>
        </p:txBody>
      </p:sp>
      <p:sp>
        <p:nvSpPr>
          <p:cNvPr id="20" name="Shape 16"/>
          <p:cNvSpPr/>
          <p:nvPr/>
        </p:nvSpPr>
        <p:spPr>
          <a:xfrm>
            <a:off x="8211312" y="4864608"/>
            <a:ext cx="3310128" cy="640080"/>
          </a:xfrm>
          <a:prstGeom prst="roundRect">
            <a:avLst>
              <a:gd name="adj" fmla="val 10000"/>
            </a:avLst>
          </a:prstGeom>
          <a:solidFill>
            <a:srgbClr val="F1F4FA"/>
          </a:solidFill>
          <a:ln w="12700">
            <a:solidFill>
              <a:srgbClr val="E3E8F0"/>
            </a:solidFill>
            <a:prstDash val="solid"/>
          </a:ln>
        </p:spPr>
      </p:sp>
      <p:sp>
        <p:nvSpPr>
          <p:cNvPr id="21" name="Text 17"/>
          <p:cNvSpPr txBox="1"/>
          <p:nvPr/>
        </p:nvSpPr>
        <p:spPr>
          <a:xfrm>
            <a:off x="8357616" y="4919472"/>
            <a:ext cx="30175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LightGBM</a:t>
            </a:r>
            <a:endParaRPr lang="en-US" sz="1100" dirty="0"/>
          </a:p>
        </p:txBody>
      </p:sp>
      <p:sp>
        <p:nvSpPr>
          <p:cNvPr id="22" name="Text 18"/>
          <p:cNvSpPr txBox="1"/>
          <p:nvPr/>
        </p:nvSpPr>
        <p:spPr>
          <a:xfrm>
            <a:off x="8357616" y="5184648"/>
            <a:ext cx="3017520" cy="256032"/>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threshold 0.50   </a:t>
            </a:r>
            <a:r>
              <a:rPr lang="en-US" sz="1000" b="1" dirty="0">
                <a:solidFill>
                  <a:srgbClr val="474747"/>
                </a:solidFill>
                <a:latin typeface="Calibri" pitchFamily="34" charset="0"/>
                <a:ea typeface="Calibri" pitchFamily="34" charset="-122"/>
                <a:cs typeface="Calibri" pitchFamily="34" charset="-120"/>
              </a:rPr>
              <a:t>cost 22,278</a:t>
            </a:r>
            <a:endParaRPr lang="en-US" sz="950" dirty="0"/>
          </a:p>
        </p:txBody>
      </p:sp>
      <p:sp>
        <p:nvSpPr>
          <p:cNvPr id="23" name="Text 19"/>
          <p:cNvSpPr txBox="1"/>
          <p:nvPr/>
        </p:nvSpPr>
        <p:spPr>
          <a:xfrm>
            <a:off x="8211312" y="5614416"/>
            <a:ext cx="3310128" cy="292608"/>
          </a:xfrm>
          <a:prstGeom prst="rect">
            <a:avLst/>
          </a:prstGeom>
          <a:noFill/>
          <a:ln/>
        </p:spPr>
        <p:txBody>
          <a:bodyPr wrap="square" lIns="0" tIns="0" rIns="0" bIns="0" rtlCol="0" anchor="t"/>
          <a:lstStyle/>
          <a:p>
            <a:pPr marL="0" indent="0">
              <a:lnSpc>
                <a:spcPts val="1050"/>
              </a:lnSpc>
              <a:buNone/>
            </a:pPr>
            <a:r>
              <a:rPr lang="en-US" sz="870" i="1" dirty="0">
                <a:solidFill>
                  <a:srgbClr val="5B6472"/>
                </a:solidFill>
                <a:latin typeface="Calibri" pitchFamily="34" charset="0"/>
                <a:ea typeface="Calibri" pitchFamily="34" charset="-122"/>
                <a:cs typeface="Calibri" pitchFamily="34" charset="-120"/>
              </a:rPr>
              <a:t>CatBoost's curve is flattest and lowest; LightGBM's only worsens below 0.50.</a:t>
            </a:r>
            <a:endParaRPr lang="en-US" sz="870" dirty="0"/>
          </a:p>
        </p:txBody>
      </p:sp>
      <p:sp>
        <p:nvSpPr>
          <p:cNvPr id="24" name="Text 20"/>
          <p:cNvSpPr txBox="1"/>
          <p:nvPr/>
        </p:nvSpPr>
        <p:spPr>
          <a:xfrm>
            <a:off x="457200" y="5870448"/>
            <a:ext cx="7406640" cy="685800"/>
          </a:xfrm>
          <a:prstGeom prst="rect">
            <a:avLst/>
          </a:prstGeom>
          <a:noFill/>
          <a:ln/>
        </p:spPr>
        <p:txBody>
          <a:bodyPr wrap="square" lIns="0" tIns="0" rIns="0" bIns="0" rtlCol="0" anchor="ctr"/>
          <a:lstStyle/>
          <a:p>
            <a:pPr marL="0" indent="0">
              <a:lnSpc>
                <a:spcPts val="1200"/>
              </a:lnSpc>
              <a:buNone/>
            </a:pPr>
            <a:r>
              <a:rPr lang="en-US" sz="950" b="1" dirty="0">
                <a:solidFill>
                  <a:srgbClr val="1E2761"/>
                </a:solidFill>
                <a:latin typeface="Calibri" pitchFamily="34" charset="0"/>
                <a:ea typeface="Calibri" pitchFamily="34" charset="-122"/>
                <a:cs typeface="Calibri" pitchFamily="34" charset="-120"/>
              </a:rPr>
              <a:t>Bottom line: </a:t>
            </a:r>
            <a:r>
              <a:rPr lang="en-US" sz="950" dirty="0">
                <a:solidFill>
                  <a:srgbClr val="474747"/>
                </a:solidFill>
                <a:latin typeface="Calibri" pitchFamily="34" charset="0"/>
                <a:ea typeface="Calibri" pitchFamily="34" charset="-122"/>
                <a:cs typeface="Calibri" pitchFamily="34" charset="-120"/>
              </a:rPr>
              <a:t>hyperparameter tuning picks the best model; threshold tuning decides how that model should actually be used. Skipping step 2 would have left CatBoost catching only 41% of defaulters (0.50) instead of the 44.8% reached later at its calibrated cost-optimal threshold.</a:t>
            </a:r>
            <a:endParaRPr lang="en-US" sz="950" dirty="0"/>
          </a:p>
        </p:txBody>
      </p:sp>
      <p:sp>
        <p:nvSpPr>
          <p:cNvPr id="26" name="Text 22"/>
          <p:cNvSpPr txBox="1"/>
          <p:nvPr/>
        </p:nvSpPr>
        <p:spPr>
          <a:xfrm>
            <a:off x="11505895" y="6537960"/>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12064"/>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Does a "20% risk" score actually mean a 20% chance?</a:t>
            </a:r>
            <a:endParaRPr lang="en-US" sz="2200" dirty="0"/>
          </a:p>
        </p:txBody>
      </p:sp>
      <p:sp>
        <p:nvSpPr>
          <p:cNvPr id="4" name="Text 2"/>
          <p:cNvSpPr txBox="1"/>
          <p:nvPr/>
        </p:nvSpPr>
        <p:spPr>
          <a:xfrm>
            <a:off x="457200" y="941832"/>
            <a:ext cx="11247120" cy="329184"/>
          </a:xfrm>
          <a:prstGeom prst="rect">
            <a:avLst/>
          </a:prstGeom>
          <a:noFill/>
          <a:ln/>
        </p:spPr>
        <p:txBody>
          <a:bodyPr wrap="square" lIns="0" tIns="0" rIns="0" bIns="0" rtlCol="0" anchor="ctr"/>
          <a:lstStyle/>
          <a:p>
            <a:pPr marL="0" indent="0">
              <a:lnSpc>
                <a:spcPts val="1200"/>
              </a:lnSpc>
              <a:buNone/>
            </a:pPr>
            <a:r>
              <a:rPr lang="en-US" sz="1050" i="1" dirty="0">
                <a:solidFill>
                  <a:srgbClr val="5B6472"/>
                </a:solidFill>
                <a:latin typeface="Calibri" pitchFamily="34" charset="0"/>
                <a:ea typeface="Calibri" pitchFamily="34" charset="-122"/>
                <a:cs typeface="Calibri" pitchFamily="34" charset="-120"/>
              </a:rPr>
              <a:t>Calibration checks whether the model's predicted probabilities can be trusted at face value — not just whether it ranks risk correctly</a:t>
            </a:r>
            <a:endParaRPr lang="en-US" sz="1050" dirty="0"/>
          </a:p>
        </p:txBody>
      </p:sp>
      <p:sp>
        <p:nvSpPr>
          <p:cNvPr id="5" name="Shape 3"/>
          <p:cNvSpPr/>
          <p:nvPr/>
        </p:nvSpPr>
        <p:spPr>
          <a:xfrm>
            <a:off x="411480" y="1325880"/>
            <a:ext cx="2487168" cy="2518371"/>
          </a:xfrm>
          <a:prstGeom prst="roundRect">
            <a:avLst>
              <a:gd name="adj" fmla="val 220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pic>
        <p:nvPicPr>
          <p:cNvPr id="6" name="Image 0" descr="/home/claude/assets3/calib_logreg.png"/>
          <p:cNvPicPr>
            <a:picLocks noChangeAspect="1"/>
          </p:cNvPicPr>
          <p:nvPr/>
        </p:nvPicPr>
        <p:blipFill>
          <a:blip r:embed="rId3"/>
          <a:stretch>
            <a:fillRect/>
          </a:stretch>
        </p:blipFill>
        <p:spPr>
          <a:xfrm>
            <a:off x="457200" y="1371600"/>
            <a:ext cx="2395728" cy="2426931"/>
          </a:xfrm>
          <a:prstGeom prst="rect">
            <a:avLst/>
          </a:prstGeom>
        </p:spPr>
      </p:pic>
      <p:sp>
        <p:nvSpPr>
          <p:cNvPr id="7" name="Shape 4"/>
          <p:cNvSpPr/>
          <p:nvPr/>
        </p:nvSpPr>
        <p:spPr>
          <a:xfrm>
            <a:off x="3008376" y="1325880"/>
            <a:ext cx="2487168" cy="2518371"/>
          </a:xfrm>
          <a:prstGeom prst="roundRect">
            <a:avLst>
              <a:gd name="adj" fmla="val 220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pic>
        <p:nvPicPr>
          <p:cNvPr id="8" name="Image 1" descr="/home/claude/assets3/calib_lgbm.png"/>
          <p:cNvPicPr>
            <a:picLocks noChangeAspect="1"/>
          </p:cNvPicPr>
          <p:nvPr/>
        </p:nvPicPr>
        <p:blipFill>
          <a:blip r:embed="rId4"/>
          <a:stretch>
            <a:fillRect/>
          </a:stretch>
        </p:blipFill>
        <p:spPr>
          <a:xfrm>
            <a:off x="3054096" y="1371600"/>
            <a:ext cx="2395728" cy="2426931"/>
          </a:xfrm>
          <a:prstGeom prst="rect">
            <a:avLst/>
          </a:prstGeom>
        </p:spPr>
      </p:pic>
      <p:sp>
        <p:nvSpPr>
          <p:cNvPr id="9" name="Shape 5"/>
          <p:cNvSpPr/>
          <p:nvPr/>
        </p:nvSpPr>
        <p:spPr>
          <a:xfrm>
            <a:off x="5605272" y="1325880"/>
            <a:ext cx="2487168" cy="2518371"/>
          </a:xfrm>
          <a:prstGeom prst="roundRect">
            <a:avLst>
              <a:gd name="adj" fmla="val 220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pic>
        <p:nvPicPr>
          <p:cNvPr id="10" name="Image 2" descr="/home/claude/assets3/calib_catboost.png"/>
          <p:cNvPicPr>
            <a:picLocks noChangeAspect="1"/>
          </p:cNvPicPr>
          <p:nvPr/>
        </p:nvPicPr>
        <p:blipFill>
          <a:blip r:embed="rId5"/>
          <a:stretch>
            <a:fillRect/>
          </a:stretch>
        </p:blipFill>
        <p:spPr>
          <a:xfrm>
            <a:off x="5650992" y="1371600"/>
            <a:ext cx="2395728" cy="2426931"/>
          </a:xfrm>
          <a:prstGeom prst="rect">
            <a:avLst/>
          </a:prstGeom>
        </p:spPr>
      </p:pic>
      <p:sp>
        <p:nvSpPr>
          <p:cNvPr id="11" name="Shape 6"/>
          <p:cNvSpPr/>
          <p:nvPr/>
        </p:nvSpPr>
        <p:spPr>
          <a:xfrm>
            <a:off x="8202168" y="1325880"/>
            <a:ext cx="3346704" cy="2518371"/>
          </a:xfrm>
          <a:prstGeom prst="roundRect">
            <a:avLst>
              <a:gd name="adj" fmla="val 3268"/>
            </a:avLst>
          </a:prstGeom>
          <a:solidFill>
            <a:srgbClr val="1E2761"/>
          </a:solidFill>
          <a:ln/>
          <a:effectLst>
            <a:outerShdw blurRad="50800" dist="38100" dir="18900000" algn="bl" rotWithShape="0">
              <a:prstClr val="black">
                <a:alpha val="40000"/>
              </a:prstClr>
            </a:outerShdw>
          </a:effectLst>
        </p:spPr>
      </p:sp>
      <p:sp>
        <p:nvSpPr>
          <p:cNvPr id="12" name="Text 7"/>
          <p:cNvSpPr txBox="1"/>
          <p:nvPr/>
        </p:nvSpPr>
        <p:spPr>
          <a:xfrm>
            <a:off x="8412480" y="1481328"/>
            <a:ext cx="3017520" cy="2289771"/>
          </a:xfrm>
          <a:prstGeom prst="rect">
            <a:avLst/>
          </a:prstGeom>
          <a:noFill/>
          <a:ln/>
        </p:spPr>
        <p:txBody>
          <a:bodyPr wrap="square" lIns="0" tIns="0" rIns="0" bIns="0" rtlCol="0" anchor="t"/>
          <a:lstStyle/>
          <a:p>
            <a:pPr marL="0" indent="0">
              <a:lnSpc>
                <a:spcPts val="1250"/>
              </a:lnSpc>
              <a:spcAft>
                <a:spcPts val="600"/>
              </a:spcAft>
              <a:buNone/>
            </a:pPr>
            <a:r>
              <a:rPr lang="en-US" sz="1100" b="1" dirty="0">
                <a:solidFill>
                  <a:srgbClr val="FFFFFF"/>
                </a:solidFill>
                <a:latin typeface="Calibri" pitchFamily="34" charset="0"/>
                <a:ea typeface="Calibri" pitchFamily="34" charset="-122"/>
                <a:cs typeface="Calibri" pitchFamily="34" charset="-120"/>
              </a:rPr>
              <a:t>In plain terms  </a:t>
            </a:r>
            <a:endParaRPr lang="en-US" sz="1100" dirty="0"/>
          </a:p>
          <a:p>
            <a:pPr marL="0" indent="0">
              <a:lnSpc>
                <a:spcPts val="1250"/>
              </a:lnSpc>
              <a:spcAft>
                <a:spcPts val="600"/>
              </a:spcAft>
              <a:buNone/>
            </a:pPr>
            <a:r>
              <a:rPr lang="en-US" sz="970" dirty="0">
                <a:solidFill>
                  <a:srgbClr val="D6DCF2"/>
                </a:solidFill>
                <a:latin typeface="Calibri" pitchFamily="34" charset="0"/>
                <a:ea typeface="Calibri" pitchFamily="34" charset="-122"/>
                <a:cs typeface="Calibri" pitchFamily="34" charset="-120"/>
              </a:rPr>
              <a:t>The dashed red line is "perfect" - where predicted risk exactly matches what actually happened. Every raw model (blue) sits below that line: it was overestimating risk. After calibration (orange/green), all three models sit almost on top of the line.</a:t>
            </a:r>
            <a:endParaRPr lang="en-US" sz="1100" dirty="0"/>
          </a:p>
          <a:p>
            <a:pPr marL="0" indent="0">
              <a:lnSpc>
                <a:spcPts val="1250"/>
              </a:lnSpc>
              <a:buNone/>
            </a:pPr>
            <a:r>
              <a:rPr lang="en-US" sz="970" b="1" dirty="0">
                <a:solidFill>
                  <a:srgbClr val="0F9D8A"/>
                </a:solidFill>
                <a:latin typeface="Calibri" pitchFamily="34" charset="0"/>
                <a:ea typeface="Calibri" pitchFamily="34" charset="-122"/>
                <a:cs typeface="Calibri" pitchFamily="34" charset="-120"/>
              </a:rPr>
              <a:t>LightGBM needed it most - its raw scores were badly overconfident.</a:t>
            </a:r>
            <a:endParaRPr lang="en-US" sz="1100" dirty="0"/>
          </a:p>
        </p:txBody>
      </p:sp>
      <p:sp>
        <p:nvSpPr>
          <p:cNvPr id="13" name="Text 8"/>
          <p:cNvSpPr txBox="1"/>
          <p:nvPr/>
        </p:nvSpPr>
        <p:spPr>
          <a:xfrm>
            <a:off x="457200" y="3999699"/>
            <a:ext cx="914400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Brier score - how far predictions are from reality (0 = perfect, lower is better)</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517767615"/>
              </p:ext>
            </p:extLst>
          </p:nvPr>
        </p:nvGraphicFramePr>
        <p:xfrm>
          <a:off x="457200" y="4255731"/>
          <a:ext cx="11274552" cy="1051560"/>
        </p:xfrm>
        <a:graphic>
          <a:graphicData uri="http://schemas.openxmlformats.org/drawingml/2006/table">
            <a:tbl>
              <a:tblPr>
                <a:effectLst>
                  <a:outerShdw blurRad="50800" dist="38100" dir="18900000" algn="bl" rotWithShape="0">
                    <a:prstClr val="black">
                      <a:alpha val="40000"/>
                    </a:prstClr>
                  </a:outerShdw>
                </a:effectLst>
              </a:tblPr>
              <a:tblGrid>
                <a:gridCol w="286207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Raw Brier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Raw 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Sigmoid Brier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Isotonic Brier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Winner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0.0808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0.7915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0.0673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0.0670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Isotonic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0.1718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0.7981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0.0665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0.0663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Isotonic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0.1009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0.7971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0.0651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0.0651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Isotonic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ext 9"/>
          <p:cNvSpPr txBox="1"/>
          <p:nvPr/>
        </p:nvSpPr>
        <p:spPr>
          <a:xfrm>
            <a:off x="457200" y="5321808"/>
            <a:ext cx="548640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Calibration alone doesn't fix the decision -recall at 0.50 is still tiny</a:t>
            </a:r>
            <a:endParaRPr lang="en-US" sz="1050" dirty="0"/>
          </a:p>
        </p:txBody>
      </p:sp>
      <p:sp>
        <p:nvSpPr>
          <p:cNvPr id="16" name="Shape 10"/>
          <p:cNvSpPr/>
          <p:nvPr/>
        </p:nvSpPr>
        <p:spPr>
          <a:xfrm>
            <a:off x="457200" y="5596128"/>
            <a:ext cx="1810512" cy="777240"/>
          </a:xfrm>
          <a:prstGeom prst="roundRect">
            <a:avLst>
              <a:gd name="adj" fmla="val 8235"/>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7" name="Text 11"/>
          <p:cNvSpPr txBox="1"/>
          <p:nvPr/>
        </p:nvSpPr>
        <p:spPr>
          <a:xfrm>
            <a:off x="566928" y="5660136"/>
            <a:ext cx="1591056" cy="274320"/>
          </a:xfrm>
          <a:prstGeom prst="rect">
            <a:avLst/>
          </a:prstGeom>
          <a:noFill/>
          <a:ln/>
        </p:spPr>
        <p:txBody>
          <a:bodyPr wrap="square" lIns="0" tIns="0" rIns="0" bIns="0" rtlCol="0" anchor="ctr"/>
          <a:lstStyle/>
          <a:p>
            <a:pPr marL="0" indent="0">
              <a:buNone/>
            </a:pPr>
            <a:r>
              <a:rPr lang="en-US" sz="1500" b="1" dirty="0">
                <a:solidFill>
                  <a:srgbClr val="C1440E"/>
                </a:solidFill>
                <a:latin typeface="Cambria" pitchFamily="34" charset="0"/>
                <a:ea typeface="Cambria" pitchFamily="34" charset="-122"/>
                <a:cs typeface="Cambria" pitchFamily="34" charset="-120"/>
              </a:rPr>
              <a:t>1.11%</a:t>
            </a:r>
            <a:endParaRPr lang="en-US" sz="1500" dirty="0"/>
          </a:p>
        </p:txBody>
      </p:sp>
      <p:sp>
        <p:nvSpPr>
          <p:cNvPr id="18" name="Text 12"/>
          <p:cNvSpPr txBox="1"/>
          <p:nvPr/>
        </p:nvSpPr>
        <p:spPr>
          <a:xfrm>
            <a:off x="566928" y="5925312"/>
            <a:ext cx="1591056" cy="201168"/>
          </a:xfrm>
          <a:prstGeom prst="rect">
            <a:avLst/>
          </a:prstGeom>
          <a:noFill/>
          <a:ln/>
        </p:spPr>
        <p:txBody>
          <a:bodyPr wrap="square" lIns="0" tIns="0" rIns="0" bIns="0"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Logistic Regression</a:t>
            </a:r>
            <a:endParaRPr lang="en-US" sz="800" dirty="0"/>
          </a:p>
        </p:txBody>
      </p:sp>
      <p:sp>
        <p:nvSpPr>
          <p:cNvPr id="19" name="Text 13"/>
          <p:cNvSpPr txBox="1"/>
          <p:nvPr/>
        </p:nvSpPr>
        <p:spPr>
          <a:xfrm>
            <a:off x="566928" y="6117336"/>
            <a:ext cx="1591056" cy="219456"/>
          </a:xfrm>
          <a:prstGeom prst="rect">
            <a:avLst/>
          </a:prstGeom>
          <a:noFill/>
          <a:ln/>
        </p:spPr>
        <p:txBody>
          <a:bodyPr wrap="square" lIns="0" tIns="0" rIns="0" bIns="0" rtlCol="0" anchor="ctr"/>
          <a:lstStyle/>
          <a:p>
            <a:pPr marL="0" indent="0">
              <a:lnSpc>
                <a:spcPts val="850"/>
              </a:lnSpc>
              <a:buNone/>
            </a:pPr>
            <a:r>
              <a:rPr lang="en-US" sz="730" dirty="0">
                <a:solidFill>
                  <a:srgbClr val="5B6472"/>
                </a:solidFill>
                <a:latin typeface="Calibri" pitchFamily="34" charset="0"/>
                <a:ea typeface="Calibri" pitchFamily="34" charset="-122"/>
                <a:cs typeface="Calibri" pitchFamily="34" charset="-120"/>
              </a:rPr>
              <a:t>11 of 993 defaulters caught</a:t>
            </a:r>
            <a:endParaRPr lang="en-US" sz="730" dirty="0"/>
          </a:p>
        </p:txBody>
      </p:sp>
      <p:sp>
        <p:nvSpPr>
          <p:cNvPr id="20" name="Shape 14"/>
          <p:cNvSpPr/>
          <p:nvPr/>
        </p:nvSpPr>
        <p:spPr>
          <a:xfrm>
            <a:off x="2377440" y="5596128"/>
            <a:ext cx="1810512" cy="777240"/>
          </a:xfrm>
          <a:prstGeom prst="roundRect">
            <a:avLst>
              <a:gd name="adj" fmla="val 8235"/>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21" name="Text 15"/>
          <p:cNvSpPr txBox="1"/>
          <p:nvPr/>
        </p:nvSpPr>
        <p:spPr>
          <a:xfrm>
            <a:off x="2487168" y="5660136"/>
            <a:ext cx="1591056" cy="274320"/>
          </a:xfrm>
          <a:prstGeom prst="rect">
            <a:avLst/>
          </a:prstGeom>
          <a:noFill/>
          <a:ln/>
        </p:spPr>
        <p:txBody>
          <a:bodyPr wrap="square" lIns="0" tIns="0" rIns="0" bIns="0" rtlCol="0" anchor="ctr"/>
          <a:lstStyle/>
          <a:p>
            <a:pPr marL="0" indent="0">
              <a:buNone/>
            </a:pPr>
            <a:r>
              <a:rPr lang="en-US" sz="1500" b="1" dirty="0">
                <a:solidFill>
                  <a:srgbClr val="C1440E"/>
                </a:solidFill>
                <a:latin typeface="Cambria" pitchFamily="34" charset="0"/>
                <a:ea typeface="Cambria" pitchFamily="34" charset="-122"/>
                <a:cs typeface="Cambria" pitchFamily="34" charset="-120"/>
              </a:rPr>
              <a:t>1.31%</a:t>
            </a:r>
            <a:endParaRPr lang="en-US" sz="1500" dirty="0"/>
          </a:p>
        </p:txBody>
      </p:sp>
      <p:sp>
        <p:nvSpPr>
          <p:cNvPr id="22" name="Text 16"/>
          <p:cNvSpPr txBox="1"/>
          <p:nvPr/>
        </p:nvSpPr>
        <p:spPr>
          <a:xfrm>
            <a:off x="2487168" y="5925312"/>
            <a:ext cx="1591056" cy="201168"/>
          </a:xfrm>
          <a:prstGeom prst="rect">
            <a:avLst/>
          </a:prstGeom>
          <a:noFill/>
          <a:ln/>
        </p:spPr>
        <p:txBody>
          <a:bodyPr wrap="square" lIns="0" tIns="0" rIns="0" bIns="0"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LightGBM</a:t>
            </a:r>
            <a:endParaRPr lang="en-US" sz="800" dirty="0"/>
          </a:p>
        </p:txBody>
      </p:sp>
      <p:sp>
        <p:nvSpPr>
          <p:cNvPr id="23" name="Text 17"/>
          <p:cNvSpPr txBox="1"/>
          <p:nvPr/>
        </p:nvSpPr>
        <p:spPr>
          <a:xfrm>
            <a:off x="2487168" y="6117336"/>
            <a:ext cx="1591056" cy="219456"/>
          </a:xfrm>
          <a:prstGeom prst="rect">
            <a:avLst/>
          </a:prstGeom>
          <a:noFill/>
          <a:ln/>
        </p:spPr>
        <p:txBody>
          <a:bodyPr wrap="square" lIns="0" tIns="0" rIns="0" bIns="0" rtlCol="0" anchor="ctr"/>
          <a:lstStyle/>
          <a:p>
            <a:pPr marL="0" indent="0">
              <a:lnSpc>
                <a:spcPts val="850"/>
              </a:lnSpc>
              <a:buNone/>
            </a:pPr>
            <a:r>
              <a:rPr lang="en-US" sz="730" dirty="0">
                <a:solidFill>
                  <a:srgbClr val="5B6472"/>
                </a:solidFill>
                <a:latin typeface="Calibri" pitchFamily="34" charset="0"/>
                <a:ea typeface="Calibri" pitchFamily="34" charset="-122"/>
                <a:cs typeface="Calibri" pitchFamily="34" charset="-120"/>
              </a:rPr>
              <a:t>13 of 993 defaulters caught</a:t>
            </a:r>
            <a:endParaRPr lang="en-US" sz="730" dirty="0"/>
          </a:p>
        </p:txBody>
      </p:sp>
      <p:sp>
        <p:nvSpPr>
          <p:cNvPr id="24" name="Shape 18"/>
          <p:cNvSpPr/>
          <p:nvPr/>
        </p:nvSpPr>
        <p:spPr>
          <a:xfrm>
            <a:off x="4297680" y="5596128"/>
            <a:ext cx="1810512" cy="777240"/>
          </a:xfrm>
          <a:prstGeom prst="roundRect">
            <a:avLst>
              <a:gd name="adj" fmla="val 8235"/>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25" name="Text 19"/>
          <p:cNvSpPr txBox="1"/>
          <p:nvPr/>
        </p:nvSpPr>
        <p:spPr>
          <a:xfrm>
            <a:off x="4407408" y="5660136"/>
            <a:ext cx="1591056" cy="274320"/>
          </a:xfrm>
          <a:prstGeom prst="rect">
            <a:avLst/>
          </a:prstGeom>
          <a:noFill/>
          <a:ln/>
        </p:spPr>
        <p:txBody>
          <a:bodyPr wrap="square" lIns="0" tIns="0" rIns="0" bIns="0" rtlCol="0" anchor="ctr"/>
          <a:lstStyle/>
          <a:p>
            <a:pPr marL="0" indent="0">
              <a:buNone/>
            </a:pPr>
            <a:r>
              <a:rPr lang="en-US" sz="1500" b="1" dirty="0">
                <a:solidFill>
                  <a:srgbClr val="C1440E"/>
                </a:solidFill>
                <a:latin typeface="Cambria" pitchFamily="34" charset="0"/>
                <a:ea typeface="Cambria" pitchFamily="34" charset="-122"/>
                <a:cs typeface="Cambria" pitchFamily="34" charset="-120"/>
              </a:rPr>
              <a:t>2.01%</a:t>
            </a:r>
            <a:endParaRPr lang="en-US" sz="1500" dirty="0"/>
          </a:p>
        </p:txBody>
      </p:sp>
      <p:sp>
        <p:nvSpPr>
          <p:cNvPr id="26" name="Text 20"/>
          <p:cNvSpPr txBox="1"/>
          <p:nvPr/>
        </p:nvSpPr>
        <p:spPr>
          <a:xfrm>
            <a:off x="4407408" y="5925312"/>
            <a:ext cx="1591056" cy="201168"/>
          </a:xfrm>
          <a:prstGeom prst="rect">
            <a:avLst/>
          </a:prstGeom>
          <a:noFill/>
          <a:ln/>
        </p:spPr>
        <p:txBody>
          <a:bodyPr wrap="square" lIns="0" tIns="0" rIns="0" bIns="0"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CatBoost</a:t>
            </a:r>
            <a:endParaRPr lang="en-US" sz="800" dirty="0"/>
          </a:p>
        </p:txBody>
      </p:sp>
      <p:sp>
        <p:nvSpPr>
          <p:cNvPr id="27" name="Text 21"/>
          <p:cNvSpPr txBox="1"/>
          <p:nvPr/>
        </p:nvSpPr>
        <p:spPr>
          <a:xfrm>
            <a:off x="4407408" y="6117336"/>
            <a:ext cx="1591056" cy="219456"/>
          </a:xfrm>
          <a:prstGeom prst="rect">
            <a:avLst/>
          </a:prstGeom>
          <a:noFill/>
          <a:ln/>
        </p:spPr>
        <p:txBody>
          <a:bodyPr wrap="square" lIns="0" tIns="0" rIns="0" bIns="0" rtlCol="0" anchor="ctr"/>
          <a:lstStyle/>
          <a:p>
            <a:pPr marL="0" indent="0">
              <a:lnSpc>
                <a:spcPts val="850"/>
              </a:lnSpc>
              <a:buNone/>
            </a:pPr>
            <a:r>
              <a:rPr lang="en-US" sz="730" dirty="0">
                <a:solidFill>
                  <a:srgbClr val="5B6472"/>
                </a:solidFill>
                <a:latin typeface="Calibri" pitchFamily="34" charset="0"/>
                <a:ea typeface="Calibri" pitchFamily="34" charset="-122"/>
                <a:cs typeface="Calibri" pitchFamily="34" charset="-120"/>
              </a:rPr>
              <a:t>20 of 993 defaulters caught</a:t>
            </a:r>
            <a:endParaRPr lang="en-US" sz="730" dirty="0"/>
          </a:p>
        </p:txBody>
      </p:sp>
      <p:sp>
        <p:nvSpPr>
          <p:cNvPr id="28" name="Shape 22"/>
          <p:cNvSpPr/>
          <p:nvPr/>
        </p:nvSpPr>
        <p:spPr>
          <a:xfrm>
            <a:off x="6217920" y="5321808"/>
            <a:ext cx="5516575" cy="1051560"/>
          </a:xfrm>
          <a:prstGeom prst="roundRect">
            <a:avLst>
              <a:gd name="adj" fmla="val 7826"/>
            </a:avLst>
          </a:prstGeom>
          <a:solidFill>
            <a:srgbClr val="E4F5F0"/>
          </a:solidFill>
          <a:ln w="15875">
            <a:solidFill>
              <a:srgbClr val="0F9D8A"/>
            </a:solidFill>
            <a:prstDash val="solid"/>
          </a:ln>
          <a:effectLst>
            <a:outerShdw blurRad="50800" dist="38100" dir="18900000" algn="bl" rotWithShape="0">
              <a:prstClr val="black">
                <a:alpha val="40000"/>
              </a:prstClr>
            </a:outerShdw>
          </a:effectLst>
        </p:spPr>
      </p:sp>
      <p:sp>
        <p:nvSpPr>
          <p:cNvPr id="29" name="Text 23"/>
          <p:cNvSpPr txBox="1"/>
          <p:nvPr/>
        </p:nvSpPr>
        <p:spPr>
          <a:xfrm>
            <a:off x="6400800" y="5422392"/>
            <a:ext cx="5150815" cy="868680"/>
          </a:xfrm>
          <a:prstGeom prst="rect">
            <a:avLst/>
          </a:prstGeom>
          <a:noFill/>
          <a:ln/>
        </p:spPr>
        <p:txBody>
          <a:bodyPr wrap="square" lIns="0" tIns="0" rIns="0" bIns="0" rtlCol="0" anchor="t"/>
          <a:lstStyle/>
          <a:p>
            <a:pPr marL="0" indent="0">
              <a:lnSpc>
                <a:spcPts val="1200"/>
              </a:lnSpc>
              <a:buNone/>
            </a:pPr>
            <a:r>
              <a:rPr lang="en-US" sz="1050" b="1" dirty="0">
                <a:solidFill>
                  <a:srgbClr val="1E2761"/>
                </a:solidFill>
                <a:latin typeface="Calibri" pitchFamily="34" charset="0"/>
                <a:ea typeface="Calibri" pitchFamily="34" charset="-122"/>
                <a:cs typeface="Calibri" pitchFamily="34" charset="-120"/>
              </a:rPr>
              <a:t>Conclusion:  </a:t>
            </a:r>
            <a:r>
              <a:rPr lang="en-US" sz="930" dirty="0">
                <a:solidFill>
                  <a:srgbClr val="474747"/>
                </a:solidFill>
                <a:latin typeface="Calibri" pitchFamily="34" charset="0"/>
                <a:ea typeface="Calibri" pitchFamily="34" charset="-122"/>
                <a:cs typeface="Calibri" pitchFamily="34" charset="-120"/>
              </a:rPr>
              <a:t>Calibration did its job - all three models now give honest probabilities (Brier ~0.065–0.067). But it doesn't decide where to draw the line between "safe" and "risky." At the standard 0.50 cutoff, every model still misses over 97% of real defaulters. The next step is to search for a better cutoff, not to trust 0.50 by default.</a:t>
            </a:r>
            <a:endParaRPr lang="en-US" sz="1050" dirty="0"/>
          </a:p>
        </p:txBody>
      </p:sp>
      <p:sp>
        <p:nvSpPr>
          <p:cNvPr id="31" name="Text 25"/>
          <p:cNvSpPr txBox="1"/>
          <p:nvPr/>
        </p:nvSpPr>
        <p:spPr>
          <a:xfrm>
            <a:off x="11505895" y="6537960"/>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12064"/>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Finding the cutoff that costs the business the least</a:t>
            </a:r>
            <a:endParaRPr lang="en-US" sz="2200" dirty="0"/>
          </a:p>
        </p:txBody>
      </p:sp>
      <p:sp>
        <p:nvSpPr>
          <p:cNvPr id="4" name="Text 2"/>
          <p:cNvSpPr txBox="1"/>
          <p:nvPr/>
        </p:nvSpPr>
        <p:spPr>
          <a:xfrm>
            <a:off x="457200" y="941832"/>
            <a:ext cx="11247120" cy="329184"/>
          </a:xfrm>
          <a:prstGeom prst="rect">
            <a:avLst/>
          </a:prstGeom>
          <a:noFill/>
          <a:ln/>
        </p:spPr>
        <p:txBody>
          <a:bodyPr wrap="square" lIns="0" tIns="0" rIns="0" bIns="0" rtlCol="0" anchor="ctr"/>
          <a:lstStyle/>
          <a:p>
            <a:pPr marL="0" indent="0">
              <a:lnSpc>
                <a:spcPts val="1200"/>
              </a:lnSpc>
              <a:buNone/>
            </a:pPr>
            <a:r>
              <a:rPr lang="en-US" sz="1050" i="1" dirty="0">
                <a:solidFill>
                  <a:srgbClr val="5B6472"/>
                </a:solidFill>
                <a:latin typeface="Calibri" pitchFamily="34" charset="0"/>
                <a:ea typeface="Calibri" pitchFamily="34" charset="-122"/>
                <a:cs typeface="Calibri" pitchFamily="34" charset="-120"/>
              </a:rPr>
              <a:t>Tested on a held-out slice of 12,301 applicants set aside purely for this check - cutoffs from 0.50 down to 0.01, using the calibrated probabilities</a:t>
            </a:r>
            <a:endParaRPr lang="en-US" sz="1050" dirty="0"/>
          </a:p>
        </p:txBody>
      </p:sp>
      <p:sp>
        <p:nvSpPr>
          <p:cNvPr id="5" name="Text 3"/>
          <p:cNvSpPr txBox="1"/>
          <p:nvPr/>
        </p:nvSpPr>
        <p:spPr>
          <a:xfrm>
            <a:off x="457200" y="1353312"/>
            <a:ext cx="11274552"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How this works, in plain terms</a:t>
            </a:r>
            <a:endParaRPr lang="en-US" sz="1100" dirty="0"/>
          </a:p>
        </p:txBody>
      </p:sp>
      <p:sp>
        <p:nvSpPr>
          <p:cNvPr id="6" name="Text 4"/>
          <p:cNvSpPr txBox="1"/>
          <p:nvPr/>
        </p:nvSpPr>
        <p:spPr>
          <a:xfrm>
            <a:off x="457200" y="1609344"/>
            <a:ext cx="11274552" cy="502920"/>
          </a:xfrm>
          <a:prstGeom prst="rect">
            <a:avLst/>
          </a:prstGeom>
          <a:noFill/>
          <a:ln/>
        </p:spPr>
        <p:txBody>
          <a:bodyPr wrap="square" lIns="0" tIns="0" rIns="0" bIns="0" rtlCol="0" anchor="ctr"/>
          <a:lstStyle/>
          <a:p>
            <a:pPr marL="0" indent="0">
              <a:lnSpc>
                <a:spcPts val="1300"/>
              </a:lnSpc>
              <a:buNone/>
            </a:pPr>
            <a:r>
              <a:rPr lang="en-US" sz="1000" dirty="0">
                <a:solidFill>
                  <a:srgbClr val="474747"/>
                </a:solidFill>
                <a:latin typeface="Calibri" pitchFamily="34" charset="0"/>
                <a:ea typeface="Calibri" pitchFamily="34" charset="-122"/>
                <a:cs typeface="Calibri" pitchFamily="34" charset="-120"/>
              </a:rPr>
              <a:t>I assumed missing a real defaulter (a "false negative") costs the business 5 times more than wrongly flagging a safe customer (a "false positive"). For each model, I tried 10 different cutoffs and added up the total cost at each one - then picked whichever cutoff produced the lowest bill.</a:t>
            </a:r>
            <a:endParaRPr lang="en-US" sz="1000" dirty="0"/>
          </a:p>
        </p:txBody>
      </p:sp>
      <p:sp>
        <p:nvSpPr>
          <p:cNvPr id="7" name="Text 5"/>
          <p:cNvSpPr txBox="1"/>
          <p:nvPr/>
        </p:nvSpPr>
        <p:spPr>
          <a:xfrm>
            <a:off x="457200" y="2212848"/>
            <a:ext cx="11274552"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Best cutoff found for each model</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228204318"/>
              </p:ext>
            </p:extLst>
          </p:nvPr>
        </p:nvGraphicFramePr>
        <p:xfrm>
          <a:off x="457200" y="2487168"/>
          <a:ext cx="11274552" cy="1051560"/>
        </p:xfrm>
        <a:graphic>
          <a:graphicData uri="http://schemas.openxmlformats.org/drawingml/2006/table">
            <a:tbl>
              <a:tblPr>
                <a:effectLst>
                  <a:outerShdw blurRad="50800" dist="38100" dir="18900000" algn="bl" rotWithShape="0">
                    <a:prstClr val="black">
                      <a:alpha val="40000"/>
                    </a:prstClr>
                  </a:outerShdw>
                </a:effectLst>
              </a:tblPr>
              <a:tblGrid>
                <a:gridCol w="23317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737360">
                  <a:extLst>
                    <a:ext uri="{9D8B030D-6E8A-4147-A177-3AD203B41FA5}">
                      <a16:colId xmlns:a16="http://schemas.microsoft.com/office/drawing/2014/main" val="20006"/>
                    </a:ext>
                  </a:extLst>
                </a:gridCol>
                <a:gridCol w="1719072">
                  <a:extLst>
                    <a:ext uri="{9D8B030D-6E8A-4147-A177-3AD203B41FA5}">
                      <a16:colId xmlns:a16="http://schemas.microsoft.com/office/drawing/2014/main" val="20007"/>
                    </a:ext>
                  </a:extLst>
                </a:gridCol>
              </a:tblGrid>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Best Cutoff</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False Alarms</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Defaulters Missed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Total Cost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28.11%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44.81%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0.3455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1,138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548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33.02%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31.92%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0.3246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643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676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4,023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25.17%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43.71%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0.3195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1,290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559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4,085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txBox="1"/>
          <p:nvPr/>
        </p:nvSpPr>
        <p:spPr>
          <a:xfrm>
            <a:off x="457200" y="3794760"/>
            <a:ext cx="69494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The pay-off: calibrated probabilities cut the cheapest achievable cost by 5×</a:t>
            </a:r>
            <a:endParaRPr lang="en-US" sz="1050" dirty="0"/>
          </a:p>
        </p:txBody>
      </p:sp>
      <p:graphicFrame>
        <p:nvGraphicFramePr>
          <p:cNvPr id="10" name="Chart 0"/>
          <p:cNvGraphicFramePr/>
          <p:nvPr>
            <p:extLst>
              <p:ext uri="{D42A27DB-BD31-4B8C-83A1-F6EECF244321}">
                <p14:modId xmlns:p14="http://schemas.microsoft.com/office/powerpoint/2010/main" val="3937925818"/>
              </p:ext>
            </p:extLst>
          </p:nvPr>
        </p:nvGraphicFramePr>
        <p:xfrm>
          <a:off x="457200" y="4069080"/>
          <a:ext cx="694944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7"/>
          <p:cNvSpPr/>
          <p:nvPr/>
        </p:nvSpPr>
        <p:spPr>
          <a:xfrm>
            <a:off x="7680960" y="3794760"/>
            <a:ext cx="4050792" cy="2514600"/>
          </a:xfrm>
          <a:prstGeom prst="roundRect">
            <a:avLst>
              <a:gd name="adj" fmla="val 3636"/>
            </a:avLst>
          </a:prstGeom>
          <a:solidFill>
            <a:srgbClr val="1E2761"/>
          </a:solidFill>
          <a:ln/>
          <a:effectLst>
            <a:outerShdw blurRad="50800" dist="38100" dir="18900000" algn="bl" rotWithShape="0">
              <a:prstClr val="black">
                <a:alpha val="40000"/>
              </a:prstClr>
            </a:outerShdw>
          </a:effectLst>
        </p:spPr>
      </p:sp>
      <p:sp>
        <p:nvSpPr>
          <p:cNvPr id="12" name="Text 8"/>
          <p:cNvSpPr txBox="1"/>
          <p:nvPr/>
        </p:nvSpPr>
        <p:spPr>
          <a:xfrm>
            <a:off x="7909560" y="3977640"/>
            <a:ext cx="3611880" cy="25603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Conclusion</a:t>
            </a:r>
            <a:endParaRPr lang="en-US" sz="1300" dirty="0"/>
          </a:p>
        </p:txBody>
      </p:sp>
      <p:sp>
        <p:nvSpPr>
          <p:cNvPr id="13" name="Text 9"/>
          <p:cNvSpPr txBox="1"/>
          <p:nvPr/>
        </p:nvSpPr>
        <p:spPr>
          <a:xfrm>
            <a:off x="7909560" y="4315968"/>
            <a:ext cx="3611880" cy="1874520"/>
          </a:xfrm>
          <a:prstGeom prst="rect">
            <a:avLst/>
          </a:prstGeom>
          <a:noFill/>
          <a:ln/>
        </p:spPr>
        <p:txBody>
          <a:bodyPr wrap="square" lIns="0" tIns="0" rIns="0" bIns="0" rtlCol="0" anchor="t"/>
          <a:lstStyle/>
          <a:p>
            <a:pPr marL="0" indent="0">
              <a:lnSpc>
                <a:spcPts val="1300"/>
              </a:lnSpc>
              <a:buNone/>
            </a:pPr>
            <a:r>
              <a:rPr lang="en-US" sz="970" dirty="0">
                <a:solidFill>
                  <a:srgbClr val="D6DCF2"/>
                </a:solidFill>
                <a:latin typeface="Calibri" pitchFamily="34" charset="0"/>
                <a:ea typeface="Calibri" pitchFamily="34" charset="-122"/>
                <a:cs typeface="Calibri" pitchFamily="34" charset="-120"/>
              </a:rPr>
              <a:t>Tuned CatBoost at a 0.15 cutoff is the winner. It costs the least (3,878), catches the most defaulters (44.8%), and has the best balance of precision and recall (F1 = 0.346) of the three finalists at their own best cutoffs. LightGBM has fewer false alarms, but it misses more real defaulters - and each miss is assumed 5× more expensive. This choice depends entirely on the 1:5 cost assumption; a real lender should replace it with actual financial figures before deploying.</a:t>
            </a:r>
            <a:endParaRPr lang="en-US" sz="970" dirty="0"/>
          </a:p>
        </p:txBody>
      </p:sp>
      <p:sp>
        <p:nvSpPr>
          <p:cNvPr id="15" name="Text 11"/>
          <p:cNvSpPr txBox="1"/>
          <p:nvPr/>
        </p:nvSpPr>
        <p:spPr>
          <a:xfrm>
            <a:off x="11505895" y="6582349"/>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RESULTS</a:t>
            </a:r>
            <a:endParaRPr lang="en-US" sz="1150" dirty="0"/>
          </a:p>
        </p:txBody>
      </p:sp>
      <p:sp>
        <p:nvSpPr>
          <p:cNvPr id="3" name="Text 1"/>
          <p:cNvSpPr txBox="1"/>
          <p:nvPr/>
        </p:nvSpPr>
        <p:spPr>
          <a:xfrm>
            <a:off x="457200" y="544068"/>
            <a:ext cx="1124712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How well does the final model perform?</a:t>
            </a:r>
            <a:endParaRPr lang="en-US" sz="26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Tuned, class-weighted CatBoost + isotonic calibration - evaluated on 61,503 held-out applicants, threshold 0.15</a:t>
            </a:r>
            <a:endParaRPr lang="en-US" sz="1150" dirty="0"/>
          </a:p>
        </p:txBody>
      </p:sp>
      <p:sp>
        <p:nvSpPr>
          <p:cNvPr id="5" name="Shape 3"/>
          <p:cNvSpPr/>
          <p:nvPr/>
        </p:nvSpPr>
        <p:spPr>
          <a:xfrm>
            <a:off x="457200" y="1572768"/>
            <a:ext cx="2651760" cy="1234440"/>
          </a:xfrm>
          <a:prstGeom prst="roundRect">
            <a:avLst>
              <a:gd name="adj" fmla="val 592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6" name="Text 4"/>
          <p:cNvSpPr txBox="1"/>
          <p:nvPr/>
        </p:nvSpPr>
        <p:spPr>
          <a:xfrm>
            <a:off x="640080" y="1691640"/>
            <a:ext cx="228600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86.32%</a:t>
            </a:r>
            <a:endParaRPr lang="en-US" sz="2600" dirty="0"/>
          </a:p>
        </p:txBody>
      </p:sp>
      <p:sp>
        <p:nvSpPr>
          <p:cNvPr id="7" name="Text 5"/>
          <p:cNvSpPr txBox="1"/>
          <p:nvPr/>
        </p:nvSpPr>
        <p:spPr>
          <a:xfrm>
            <a:off x="640080"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Overall accuracy</a:t>
            </a:r>
            <a:endParaRPr lang="en-US" sz="950" dirty="0"/>
          </a:p>
        </p:txBody>
      </p:sp>
      <p:sp>
        <p:nvSpPr>
          <p:cNvPr id="8" name="Shape 6"/>
          <p:cNvSpPr/>
          <p:nvPr/>
        </p:nvSpPr>
        <p:spPr>
          <a:xfrm>
            <a:off x="3310128" y="1572768"/>
            <a:ext cx="2651760" cy="1234440"/>
          </a:xfrm>
          <a:prstGeom prst="roundRect">
            <a:avLst>
              <a:gd name="adj" fmla="val 592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9" name="Text 7"/>
          <p:cNvSpPr txBox="1"/>
          <p:nvPr/>
        </p:nvSpPr>
        <p:spPr>
          <a:xfrm>
            <a:off x="3493008" y="1691640"/>
            <a:ext cx="2286000" cy="502920"/>
          </a:xfrm>
          <a:prstGeom prst="rect">
            <a:avLst/>
          </a:prstGeom>
          <a:noFill/>
          <a:ln/>
        </p:spPr>
        <p:txBody>
          <a:bodyPr wrap="square" lIns="0" tIns="0" rIns="0" bIns="0" rtlCol="0" anchor="ctr"/>
          <a:lstStyle/>
          <a:p>
            <a:pPr marL="0" indent="0">
              <a:buNone/>
            </a:pPr>
            <a:r>
              <a:rPr lang="en-US" sz="2600" b="1" dirty="0">
                <a:solidFill>
                  <a:srgbClr val="0F9D8A"/>
                </a:solidFill>
                <a:latin typeface="Cambria" pitchFamily="34" charset="0"/>
                <a:ea typeface="Cambria" pitchFamily="34" charset="-122"/>
                <a:cs typeface="Cambria" pitchFamily="34" charset="-120"/>
              </a:rPr>
              <a:t>0.79</a:t>
            </a:r>
            <a:endParaRPr lang="en-US" sz="2600" dirty="0"/>
          </a:p>
        </p:txBody>
      </p:sp>
      <p:sp>
        <p:nvSpPr>
          <p:cNvPr id="10" name="Text 8"/>
          <p:cNvSpPr txBox="1"/>
          <p:nvPr/>
        </p:nvSpPr>
        <p:spPr>
          <a:xfrm>
            <a:off x="3493008"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ROC-AUC score</a:t>
            </a:r>
            <a:endParaRPr lang="en-US" sz="950" dirty="0"/>
          </a:p>
        </p:txBody>
      </p:sp>
      <p:sp>
        <p:nvSpPr>
          <p:cNvPr id="11" name="Shape 9"/>
          <p:cNvSpPr/>
          <p:nvPr/>
        </p:nvSpPr>
        <p:spPr>
          <a:xfrm>
            <a:off x="6163056" y="1572768"/>
            <a:ext cx="2651760" cy="1234440"/>
          </a:xfrm>
          <a:prstGeom prst="roundRect">
            <a:avLst>
              <a:gd name="adj" fmla="val 592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2" name="Text 10"/>
          <p:cNvSpPr txBox="1"/>
          <p:nvPr/>
        </p:nvSpPr>
        <p:spPr>
          <a:xfrm>
            <a:off x="6345936" y="1691640"/>
            <a:ext cx="2286000" cy="502920"/>
          </a:xfrm>
          <a:prstGeom prst="rect">
            <a:avLst/>
          </a:prstGeom>
          <a:noFill/>
          <a:ln/>
        </p:spPr>
        <p:txBody>
          <a:bodyPr wrap="square" lIns="0" tIns="0" rIns="0" bIns="0" rtlCol="0" anchor="ctr"/>
          <a:lstStyle/>
          <a:p>
            <a:pPr marL="0" indent="0">
              <a:buNone/>
            </a:pPr>
            <a:r>
              <a:rPr lang="en-US" sz="2600" b="1" dirty="0">
                <a:solidFill>
                  <a:srgbClr val="C1440E"/>
                </a:solidFill>
                <a:latin typeface="Cambria" pitchFamily="34" charset="0"/>
                <a:ea typeface="Cambria" pitchFamily="34" charset="-122"/>
                <a:cs typeface="Cambria" pitchFamily="34" charset="-120"/>
              </a:rPr>
              <a:t>44.8%</a:t>
            </a:r>
            <a:endParaRPr lang="en-US" sz="2600" dirty="0"/>
          </a:p>
        </p:txBody>
      </p:sp>
      <p:sp>
        <p:nvSpPr>
          <p:cNvPr id="13" name="Text 11"/>
          <p:cNvSpPr txBox="1"/>
          <p:nvPr/>
        </p:nvSpPr>
        <p:spPr>
          <a:xfrm>
            <a:off x="6345936"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Of actual defaulters correctly flagged (recall)</a:t>
            </a:r>
            <a:endParaRPr lang="en-US" sz="950" dirty="0"/>
          </a:p>
        </p:txBody>
      </p:sp>
      <p:sp>
        <p:nvSpPr>
          <p:cNvPr id="14" name="Shape 12"/>
          <p:cNvSpPr/>
          <p:nvPr/>
        </p:nvSpPr>
        <p:spPr>
          <a:xfrm>
            <a:off x="9015984" y="1572768"/>
            <a:ext cx="2651760" cy="1234440"/>
          </a:xfrm>
          <a:prstGeom prst="roundRect">
            <a:avLst>
              <a:gd name="adj" fmla="val 592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5" name="Text 13"/>
          <p:cNvSpPr txBox="1"/>
          <p:nvPr/>
        </p:nvSpPr>
        <p:spPr>
          <a:xfrm>
            <a:off x="9198864" y="1691640"/>
            <a:ext cx="2286000" cy="502920"/>
          </a:xfrm>
          <a:prstGeom prst="rect">
            <a:avLst/>
          </a:prstGeom>
          <a:noFill/>
          <a:ln/>
        </p:spPr>
        <p:txBody>
          <a:bodyPr wrap="square" lIns="0" tIns="0" rIns="0" bIns="0" rtlCol="0" anchor="ctr"/>
          <a:lstStyle/>
          <a:p>
            <a:pPr marL="0" indent="0">
              <a:buNone/>
            </a:pPr>
            <a:r>
              <a:rPr lang="en-US" sz="2600" b="1" dirty="0">
                <a:solidFill>
                  <a:srgbClr val="D97706"/>
                </a:solidFill>
                <a:latin typeface="Cambria" pitchFamily="34" charset="0"/>
                <a:ea typeface="Cambria" pitchFamily="34" charset="-122"/>
                <a:cs typeface="Cambria" pitchFamily="34" charset="-120"/>
              </a:rPr>
              <a:t>28.2%</a:t>
            </a:r>
            <a:endParaRPr lang="en-US" sz="2600" dirty="0"/>
          </a:p>
        </p:txBody>
      </p:sp>
      <p:sp>
        <p:nvSpPr>
          <p:cNvPr id="16" name="Text 14"/>
          <p:cNvSpPr txBox="1"/>
          <p:nvPr/>
        </p:nvSpPr>
        <p:spPr>
          <a:xfrm>
            <a:off x="9198864"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Of flagged applicants who were true defaulters (precision)</a:t>
            </a:r>
            <a:endParaRPr lang="en-US" sz="950" dirty="0"/>
          </a:p>
        </p:txBody>
      </p:sp>
      <p:sp>
        <p:nvSpPr>
          <p:cNvPr id="17" name="Text 15"/>
          <p:cNvSpPr txBox="1"/>
          <p:nvPr/>
        </p:nvSpPr>
        <p:spPr>
          <a:xfrm>
            <a:off x="457200" y="2999232"/>
            <a:ext cx="11274552" cy="384048"/>
          </a:xfrm>
          <a:prstGeom prst="rect">
            <a:avLst/>
          </a:prstGeom>
          <a:noFill/>
          <a:ln/>
        </p:spPr>
        <p:txBody>
          <a:bodyPr wrap="square" lIns="0" tIns="0" rIns="0" bIns="0" rtlCol="0" anchor="ctr"/>
          <a:lstStyle/>
          <a:p>
            <a:pPr marL="0" indent="0">
              <a:lnSpc>
                <a:spcPts val="1300"/>
              </a:lnSpc>
              <a:buNone/>
            </a:pPr>
            <a:r>
              <a:rPr lang="en-US" sz="1050" i="1" dirty="0">
                <a:solidFill>
                  <a:srgbClr val="5B6472"/>
                </a:solidFill>
                <a:latin typeface="Calibri" pitchFamily="34" charset="0"/>
                <a:ea typeface="Calibri" pitchFamily="34" charset="-122"/>
                <a:cs typeface="Calibri" pitchFamily="34" charset="-120"/>
              </a:rPr>
              <a:t>Accuracy alone is misleading here   with only 8% of applicants defaulting, a model could reach ~92% accuracy just by approving everyone. That's why recall, precision, and ROC-AUC matter more for this problem.</a:t>
            </a:r>
            <a:endParaRPr lang="en-US" sz="1050" dirty="0"/>
          </a:p>
        </p:txBody>
      </p:sp>
      <p:graphicFrame>
        <p:nvGraphicFramePr>
          <p:cNvPr id="18" name="Chart 0"/>
          <p:cNvGraphicFramePr/>
          <p:nvPr>
            <p:extLst>
              <p:ext uri="{D42A27DB-BD31-4B8C-83A1-F6EECF244321}">
                <p14:modId xmlns:p14="http://schemas.microsoft.com/office/powerpoint/2010/main" val="52988449"/>
              </p:ext>
            </p:extLst>
          </p:nvPr>
        </p:nvGraphicFramePr>
        <p:xfrm>
          <a:off x="457200" y="3456432"/>
          <a:ext cx="653796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7178040" y="3456432"/>
            <a:ext cx="4553712" cy="2606040"/>
          </a:xfrm>
          <a:prstGeom prst="roundRect">
            <a:avLst>
              <a:gd name="adj" fmla="val 3509"/>
            </a:avLst>
          </a:prstGeom>
          <a:solidFill>
            <a:srgbClr val="1E2761"/>
          </a:solidFill>
          <a:ln/>
          <a:effectLst>
            <a:outerShdw blurRad="50800" dist="38100" dir="18900000" algn="bl" rotWithShape="0">
              <a:prstClr val="black">
                <a:alpha val="40000"/>
              </a:prstClr>
            </a:outerShdw>
          </a:effectLst>
        </p:spPr>
      </p:sp>
      <p:sp>
        <p:nvSpPr>
          <p:cNvPr id="20" name="Text 17"/>
          <p:cNvSpPr txBox="1"/>
          <p:nvPr/>
        </p:nvSpPr>
        <p:spPr>
          <a:xfrm>
            <a:off x="7434072" y="3639312"/>
            <a:ext cx="402336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changed from the baseline</a:t>
            </a:r>
            <a:endParaRPr lang="en-US" sz="1300" dirty="0"/>
          </a:p>
        </p:txBody>
      </p:sp>
      <p:sp>
        <p:nvSpPr>
          <p:cNvPr id="21" name="Text 18"/>
          <p:cNvSpPr txBox="1"/>
          <p:nvPr/>
        </p:nvSpPr>
        <p:spPr>
          <a:xfrm>
            <a:off x="7434072" y="3986784"/>
            <a:ext cx="4023360" cy="1920240"/>
          </a:xfrm>
          <a:prstGeom prst="rect">
            <a:avLst/>
          </a:prstGeom>
          <a:noFill/>
          <a:ln/>
        </p:spPr>
        <p:txBody>
          <a:bodyPr wrap="square" lIns="0" tIns="0" rIns="0" bIns="0" rtlCol="0" anchor="t"/>
          <a:lstStyle/>
          <a:p>
            <a:pPr marL="0" indent="0">
              <a:lnSpc>
                <a:spcPts val="1500"/>
              </a:lnSpc>
              <a:buNone/>
            </a:pPr>
            <a:r>
              <a:rPr lang="en-US" sz="1100" b="1" dirty="0">
                <a:solidFill>
                  <a:srgbClr val="FFFFFF"/>
                </a:solidFill>
                <a:latin typeface="Calibri" pitchFamily="34" charset="0"/>
                <a:ea typeface="Calibri" pitchFamily="34" charset="-122"/>
                <a:cs typeface="Calibri" pitchFamily="34" charset="-120"/>
              </a:rPr>
              <a:t>Defaulter recall:  </a:t>
            </a:r>
            <a:r>
              <a:rPr lang="en-US" sz="1100" b="1" dirty="0">
                <a:solidFill>
                  <a:srgbClr val="0F9D8A"/>
                </a:solidFill>
                <a:latin typeface="Calibri" pitchFamily="34" charset="0"/>
                <a:ea typeface="Calibri" pitchFamily="34" charset="-122"/>
                <a:cs typeface="Calibri" pitchFamily="34" charset="-120"/>
              </a:rPr>
              <a:t>~2.5% → 44.8%</a:t>
            </a:r>
            <a:endParaRPr lang="en-US" sz="1100" dirty="0"/>
          </a:p>
          <a:p>
            <a:pPr marL="0" indent="0">
              <a:lnSpc>
                <a:spcPts val="1500"/>
              </a:lnSpc>
              <a:buNone/>
            </a:pPr>
            <a:r>
              <a:rPr lang="en-US" sz="1100" b="1" dirty="0">
                <a:solidFill>
                  <a:srgbClr val="FFFFFF"/>
                </a:solidFill>
                <a:latin typeface="Calibri" pitchFamily="34" charset="0"/>
                <a:ea typeface="Calibri" pitchFamily="34" charset="-122"/>
                <a:cs typeface="Calibri" pitchFamily="34" charset="-120"/>
              </a:rPr>
              <a:t>Total business cost (test fold):  </a:t>
            </a:r>
            <a:r>
              <a:rPr lang="en-US" sz="1100" b="1" dirty="0">
                <a:solidFill>
                  <a:srgbClr val="0F9D8A"/>
                </a:solidFill>
                <a:latin typeface="Calibri" pitchFamily="34" charset="0"/>
                <a:ea typeface="Calibri" pitchFamily="34" charset="-122"/>
                <a:cs typeface="Calibri" pitchFamily="34" charset="-120"/>
              </a:rPr>
              <a:t>19,459 → 3,878 (≈5× lower)</a:t>
            </a:r>
            <a:endParaRPr lang="en-US" sz="1100" dirty="0"/>
          </a:p>
          <a:p>
            <a:pPr marL="0" indent="0">
              <a:lnSpc>
                <a:spcPts val="1500"/>
              </a:lnSpc>
              <a:buNone/>
            </a:pPr>
            <a:r>
              <a:rPr lang="en-US" sz="1100" b="1" dirty="0">
                <a:solidFill>
                  <a:srgbClr val="FFFFFF"/>
                </a:solidFill>
                <a:latin typeface="Calibri" pitchFamily="34" charset="0"/>
                <a:ea typeface="Calibri" pitchFamily="34" charset="-122"/>
                <a:cs typeface="Calibri" pitchFamily="34" charset="-120"/>
              </a:rPr>
              <a:t>Decision threshold:  </a:t>
            </a:r>
            <a:r>
              <a:rPr lang="en-US" sz="1100" b="1" dirty="0">
                <a:solidFill>
                  <a:srgbClr val="0F9D8A"/>
                </a:solidFill>
                <a:latin typeface="Calibri" pitchFamily="34" charset="0"/>
                <a:ea typeface="Calibri" pitchFamily="34" charset="-122"/>
                <a:cs typeface="Calibri" pitchFamily="34" charset="-120"/>
              </a:rPr>
              <a:t>0.50 (default) → 0.15 (cost-optimal)</a:t>
            </a:r>
            <a:endParaRPr lang="en-US" sz="1100" dirty="0"/>
          </a:p>
        </p:txBody>
      </p:sp>
      <p:sp>
        <p:nvSpPr>
          <p:cNvPr id="22" name="Text 19"/>
          <p:cNvSpPr txBox="1"/>
          <p:nvPr/>
        </p:nvSpPr>
        <p:spPr>
          <a:xfrm>
            <a:off x="457200" y="6492240"/>
            <a:ext cx="3657600" cy="256032"/>
          </a:xfrm>
          <a:prstGeom prst="rect">
            <a:avLst/>
          </a:prstGeom>
          <a:noFill/>
          <a:ln/>
        </p:spPr>
        <p:txBody>
          <a:bodyPr wrap="square" lIns="0" tIns="0" rIns="0" bIns="0" rtlCol="0" anchor="ctr"/>
          <a:lstStyle/>
          <a:p>
            <a:pPr marL="0" indent="0">
              <a:buNone/>
            </a:pPr>
            <a:r>
              <a:rPr lang="en-US" sz="900" dirty="0">
                <a:solidFill>
                  <a:srgbClr val="8890A3"/>
                </a:solidFill>
                <a:latin typeface="Calibri" pitchFamily="34" charset="0"/>
                <a:ea typeface="Calibri" pitchFamily="34" charset="-122"/>
                <a:cs typeface="Calibri" pitchFamily="34" charset="-120"/>
              </a:rPr>
              <a:t>Predicting Loan Default Risk</a:t>
            </a:r>
            <a:endParaRPr lang="en-US" sz="900" dirty="0"/>
          </a:p>
        </p:txBody>
      </p:sp>
      <p:sp>
        <p:nvSpPr>
          <p:cNvPr id="23" name="Text 20"/>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EXPLAINABILITY</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How each feature swings the decision</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Average SHAP contribution when a feature is Low vs. High -positive pushes risk up, negative pushes it down</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66767878"/>
              </p:ext>
            </p:extLst>
          </p:nvPr>
        </p:nvGraphicFramePr>
        <p:xfrm>
          <a:off x="457200" y="1554480"/>
          <a:ext cx="7360920" cy="2834643"/>
        </p:xfrm>
        <a:graphic>
          <a:graphicData uri="http://schemas.openxmlformats.org/drawingml/2006/table">
            <a:tbl>
              <a:tblPr>
                <a:effectLst>
                  <a:outerShdw blurRad="50800" dist="38100" dir="18900000" algn="bl" rotWithShape="0">
                    <a:prstClr val="black">
                      <a:alpha val="40000"/>
                    </a:prstClr>
                  </a:outerShdw>
                </a:effectLst>
              </a:tblPr>
              <a:tblGrid>
                <a:gridCol w="32461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04949">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Low value → SHAP</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High value → SHAP</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Behaviour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EXT_SOURCE_MEAN</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+0.274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-0.377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Continuous signal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EXT_SOURCE_SUM</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+0.194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-0.240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Continuous signal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INSTAL_RECENCY_WEIGHTED_LATE_RATE</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+0.145</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Warning trigger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CREDIT_GOODS_RATIO</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-0.107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+0.141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Warning trigger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PREV_DAYS_LAST_DUE (1st version, max)</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+0.130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Warning trigger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AMT_ANNUITY</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-0.135</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+0.084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Continuous signal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6"/>
                  </a:ext>
                </a:extLst>
              </a:tr>
            </a:tbl>
          </a:graphicData>
        </a:graphic>
      </p:graphicFrame>
      <p:sp>
        <p:nvSpPr>
          <p:cNvPr id="6" name="Shape 3"/>
          <p:cNvSpPr/>
          <p:nvPr/>
        </p:nvSpPr>
        <p:spPr>
          <a:xfrm>
            <a:off x="8001000" y="1554480"/>
            <a:ext cx="3730752" cy="2834640"/>
          </a:xfrm>
          <a:prstGeom prst="roundRect">
            <a:avLst>
              <a:gd name="adj" fmla="val 3226"/>
            </a:avLst>
          </a:prstGeom>
          <a:solidFill>
            <a:srgbClr val="1E2761"/>
          </a:solidFill>
          <a:ln/>
          <a:effectLst>
            <a:outerShdw blurRad="50800" dist="38100" dir="18900000" algn="bl" rotWithShape="0">
              <a:prstClr val="black">
                <a:alpha val="40000"/>
              </a:prstClr>
            </a:outerShdw>
          </a:effectLst>
        </p:spPr>
      </p:sp>
      <p:sp>
        <p:nvSpPr>
          <p:cNvPr id="7" name="Text 4"/>
          <p:cNvSpPr txBox="1"/>
          <p:nvPr/>
        </p:nvSpPr>
        <p:spPr>
          <a:xfrm>
            <a:off x="8257032" y="1755648"/>
            <a:ext cx="32461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Two kinds of features</a:t>
            </a:r>
            <a:endParaRPr lang="en-US" sz="1300" dirty="0"/>
          </a:p>
        </p:txBody>
      </p:sp>
      <p:sp>
        <p:nvSpPr>
          <p:cNvPr id="8" name="Text 5"/>
          <p:cNvSpPr txBox="1"/>
          <p:nvPr/>
        </p:nvSpPr>
        <p:spPr>
          <a:xfrm>
            <a:off x="8257032" y="2103120"/>
            <a:ext cx="3246120" cy="2148840"/>
          </a:xfrm>
          <a:prstGeom prst="rect">
            <a:avLst/>
          </a:prstGeom>
          <a:noFill/>
          <a:ln/>
        </p:spPr>
        <p:txBody>
          <a:bodyPr wrap="square" lIns="0" tIns="0" rIns="0" bIns="0" rtlCol="0" anchor="t"/>
          <a:lstStyle/>
          <a:p>
            <a:pPr marL="0" indent="0">
              <a:lnSpc>
                <a:spcPts val="1400"/>
              </a:lnSpc>
              <a:buNone/>
            </a:pPr>
            <a:r>
              <a:rPr lang="en-US" sz="1150" b="1" dirty="0">
                <a:solidFill>
                  <a:srgbClr val="0F9D8A"/>
                </a:solidFill>
                <a:latin typeface="Calibri" pitchFamily="34" charset="0"/>
                <a:ea typeface="Calibri" pitchFamily="34" charset="-122"/>
                <a:cs typeface="Calibri" pitchFamily="34" charset="-120"/>
              </a:rPr>
              <a:t>Continuous signals  </a:t>
            </a:r>
            <a:endParaRPr lang="en-US" sz="1150" dirty="0"/>
          </a:p>
          <a:p>
            <a:pPr marL="0" indent="0">
              <a:lnSpc>
                <a:spcPts val="1400"/>
              </a:lnSpc>
              <a:spcAft>
                <a:spcPts val="1200"/>
              </a:spcAft>
              <a:buNone/>
            </a:pPr>
            <a:r>
              <a:rPr lang="en-US" sz="1050" dirty="0">
                <a:solidFill>
                  <a:srgbClr val="D6DCF2"/>
                </a:solidFill>
                <a:latin typeface="Calibri" pitchFamily="34" charset="0"/>
                <a:ea typeface="Calibri" pitchFamily="34" charset="-122"/>
                <a:cs typeface="Calibri" pitchFamily="34" charset="-120"/>
              </a:rPr>
              <a:t>External credit scores and annuity size shift risk smoothly across their whole range - every point of improvement helps a little.</a:t>
            </a:r>
            <a:endParaRPr lang="en-US" sz="1150" dirty="0"/>
          </a:p>
          <a:p>
            <a:pPr marL="0" indent="0">
              <a:lnSpc>
                <a:spcPts val="1400"/>
              </a:lnSpc>
              <a:buNone/>
            </a:pPr>
            <a:r>
              <a:rPr lang="en-US" sz="1150" b="1" dirty="0">
                <a:solidFill>
                  <a:srgbClr val="D97706"/>
                </a:solidFill>
                <a:latin typeface="Calibri" pitchFamily="34" charset="0"/>
                <a:ea typeface="Calibri" pitchFamily="34" charset="-122"/>
                <a:cs typeface="Calibri" pitchFamily="34" charset="-120"/>
              </a:rPr>
              <a:t>Warning triggers  </a:t>
            </a:r>
            <a:endParaRPr lang="en-US" sz="1150" dirty="0"/>
          </a:p>
          <a:p>
            <a:pPr marL="0" indent="0">
              <a:lnSpc>
                <a:spcPts val="1400"/>
              </a:lnSpc>
              <a:buNone/>
            </a:pPr>
            <a:r>
              <a:rPr lang="en-US" sz="1050" dirty="0">
                <a:solidFill>
                  <a:srgbClr val="D6DCF2"/>
                </a:solidFill>
                <a:latin typeface="Calibri" pitchFamily="34" charset="0"/>
                <a:ea typeface="Calibri" pitchFamily="34" charset="-122"/>
                <a:cs typeface="Calibri" pitchFamily="34" charset="-120"/>
              </a:rPr>
              <a:t>Late-payment rate, over-financing, and prior missed-payment dates stay quiet at low/medium levels, then push risk up sharply once a threshold is crossed.</a:t>
            </a:r>
            <a:endParaRPr lang="en-US" sz="1150" dirty="0"/>
          </a:p>
        </p:txBody>
      </p:sp>
      <p:sp>
        <p:nvSpPr>
          <p:cNvPr id="9" name="Text 6"/>
          <p:cNvSpPr txBox="1"/>
          <p:nvPr/>
        </p:nvSpPr>
        <p:spPr>
          <a:xfrm>
            <a:off x="457200" y="4709160"/>
            <a:ext cx="11274552"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Why this matters for a credit officer</a:t>
            </a:r>
            <a:endParaRPr lang="en-US" sz="1250" dirty="0"/>
          </a:p>
        </p:txBody>
      </p:sp>
      <p:sp>
        <p:nvSpPr>
          <p:cNvPr id="10" name="Text 7"/>
          <p:cNvSpPr txBox="1"/>
          <p:nvPr/>
        </p:nvSpPr>
        <p:spPr>
          <a:xfrm>
            <a:off x="457200" y="5001768"/>
            <a:ext cx="11274552" cy="86868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EXT_SOURCE_MEAN remains the single strongest driver (mean |SHAP| = 0.2371) - a low score alone adds +0.274 to predicted risk, a high score removes -0.377. But the "warning trigger" features are just as useful in practice: they tell a reviewer exactly which behaviour crossed the line — recent lateness, over-financing relative to the goods price, or a troubled prior loan -rather than a vague overall score.</a:t>
            </a:r>
            <a:endParaRPr lang="en-US" sz="1050" dirty="0"/>
          </a:p>
        </p:txBody>
      </p:sp>
      <p:sp>
        <p:nvSpPr>
          <p:cNvPr id="12" name="Text 9"/>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BUSINESS IMPACT</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The cost of getting it wrong - and why 0.15 wins</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Final confusion matrix on 61,503 held-out applicants, threshold 0.15 (false positive = 1, false negative = 5)</a:t>
            </a:r>
            <a:endParaRPr lang="en-US" sz="1150" dirty="0"/>
          </a:p>
        </p:txBody>
      </p:sp>
      <p:sp>
        <p:nvSpPr>
          <p:cNvPr id="5" name="Shape 3"/>
          <p:cNvSpPr/>
          <p:nvPr/>
        </p:nvSpPr>
        <p:spPr>
          <a:xfrm>
            <a:off x="457200" y="1508760"/>
            <a:ext cx="1691640" cy="1691640"/>
          </a:xfrm>
          <a:prstGeom prst="roundRect">
            <a:avLst>
              <a:gd name="adj" fmla="val 4324"/>
            </a:avLst>
          </a:prstGeom>
          <a:solidFill>
            <a:srgbClr val="1E2761"/>
          </a:solidFill>
          <a:ln/>
          <a:effectLst>
            <a:outerShdw blurRad="50800" dist="38100" dir="18900000" algn="bl" rotWithShape="0">
              <a:prstClr val="black">
                <a:alpha val="40000"/>
              </a:prstClr>
            </a:outerShdw>
          </a:effectLst>
        </p:spPr>
      </p:sp>
      <p:sp>
        <p:nvSpPr>
          <p:cNvPr id="6" name="Text 4"/>
          <p:cNvSpPr txBox="1"/>
          <p:nvPr/>
        </p:nvSpPr>
        <p:spPr>
          <a:xfrm>
            <a:off x="457200" y="1828800"/>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50,869</a:t>
            </a:r>
            <a:endParaRPr lang="en-US" sz="2600" dirty="0"/>
          </a:p>
        </p:txBody>
      </p:sp>
      <p:sp>
        <p:nvSpPr>
          <p:cNvPr id="7" name="Text 5"/>
          <p:cNvSpPr txBox="1"/>
          <p:nvPr/>
        </p:nvSpPr>
        <p:spPr>
          <a:xfrm>
            <a:off x="566928" y="2423160"/>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True Negatives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Correctly approved</a:t>
            </a:r>
            <a:endParaRPr lang="en-US" sz="1000" dirty="0"/>
          </a:p>
        </p:txBody>
      </p:sp>
      <p:sp>
        <p:nvSpPr>
          <p:cNvPr id="8" name="Shape 6"/>
          <p:cNvSpPr/>
          <p:nvPr/>
        </p:nvSpPr>
        <p:spPr>
          <a:xfrm>
            <a:off x="2258568" y="1508760"/>
            <a:ext cx="1691640" cy="1691640"/>
          </a:xfrm>
          <a:prstGeom prst="roundRect">
            <a:avLst>
              <a:gd name="adj" fmla="val 4324"/>
            </a:avLst>
          </a:prstGeom>
          <a:solidFill>
            <a:srgbClr val="D97706"/>
          </a:solidFill>
          <a:ln/>
          <a:effectLst>
            <a:outerShdw blurRad="50800" dist="38100" dir="18900000" algn="bl" rotWithShape="0">
              <a:prstClr val="black">
                <a:alpha val="40000"/>
              </a:prstClr>
            </a:outerShdw>
          </a:effectLst>
        </p:spPr>
      </p:sp>
      <p:sp>
        <p:nvSpPr>
          <p:cNvPr id="9" name="Text 7"/>
          <p:cNvSpPr txBox="1"/>
          <p:nvPr/>
        </p:nvSpPr>
        <p:spPr>
          <a:xfrm>
            <a:off x="2258568" y="1828800"/>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5,669</a:t>
            </a:r>
            <a:endParaRPr lang="en-US" sz="2600" dirty="0"/>
          </a:p>
        </p:txBody>
      </p:sp>
      <p:sp>
        <p:nvSpPr>
          <p:cNvPr id="10" name="Text 8"/>
          <p:cNvSpPr txBox="1"/>
          <p:nvPr/>
        </p:nvSpPr>
        <p:spPr>
          <a:xfrm>
            <a:off x="2368296" y="2423160"/>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False Positives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Unnecessarily flagged</a:t>
            </a:r>
            <a:endParaRPr lang="en-US" sz="1000" dirty="0"/>
          </a:p>
        </p:txBody>
      </p:sp>
      <p:sp>
        <p:nvSpPr>
          <p:cNvPr id="11" name="Shape 9"/>
          <p:cNvSpPr/>
          <p:nvPr/>
        </p:nvSpPr>
        <p:spPr>
          <a:xfrm>
            <a:off x="457200" y="3310128"/>
            <a:ext cx="1691640" cy="1691640"/>
          </a:xfrm>
          <a:prstGeom prst="roundRect">
            <a:avLst>
              <a:gd name="adj" fmla="val 4324"/>
            </a:avLst>
          </a:prstGeom>
          <a:solidFill>
            <a:srgbClr val="C1440E"/>
          </a:solidFill>
          <a:ln/>
          <a:effectLst>
            <a:outerShdw blurRad="50800" dist="38100" dir="18900000" algn="bl" rotWithShape="0">
              <a:prstClr val="black">
                <a:alpha val="40000"/>
              </a:prstClr>
            </a:outerShdw>
          </a:effectLst>
        </p:spPr>
      </p:sp>
      <p:sp>
        <p:nvSpPr>
          <p:cNvPr id="12" name="Text 10"/>
          <p:cNvSpPr txBox="1"/>
          <p:nvPr/>
        </p:nvSpPr>
        <p:spPr>
          <a:xfrm>
            <a:off x="457200" y="3630168"/>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2,742</a:t>
            </a:r>
            <a:endParaRPr lang="en-US" sz="2600" dirty="0"/>
          </a:p>
        </p:txBody>
      </p:sp>
      <p:sp>
        <p:nvSpPr>
          <p:cNvPr id="13" name="Text 11"/>
          <p:cNvSpPr txBox="1"/>
          <p:nvPr/>
        </p:nvSpPr>
        <p:spPr>
          <a:xfrm>
            <a:off x="566928" y="4224528"/>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False Negatives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Defaulters missed</a:t>
            </a:r>
            <a:endParaRPr lang="en-US" sz="1000" dirty="0"/>
          </a:p>
        </p:txBody>
      </p:sp>
      <p:sp>
        <p:nvSpPr>
          <p:cNvPr id="14" name="Shape 12"/>
          <p:cNvSpPr/>
          <p:nvPr/>
        </p:nvSpPr>
        <p:spPr>
          <a:xfrm>
            <a:off x="2258568" y="3310128"/>
            <a:ext cx="1691640" cy="1691640"/>
          </a:xfrm>
          <a:prstGeom prst="roundRect">
            <a:avLst>
              <a:gd name="adj" fmla="val 4324"/>
            </a:avLst>
          </a:prstGeom>
          <a:solidFill>
            <a:srgbClr val="0F9D8A"/>
          </a:solidFill>
          <a:ln/>
          <a:effectLst>
            <a:outerShdw blurRad="50800" dist="38100" dir="18900000" algn="bl" rotWithShape="0">
              <a:prstClr val="black">
                <a:alpha val="40000"/>
              </a:prstClr>
            </a:outerShdw>
          </a:effectLst>
        </p:spPr>
      </p:sp>
      <p:sp>
        <p:nvSpPr>
          <p:cNvPr id="15" name="Text 13"/>
          <p:cNvSpPr txBox="1"/>
          <p:nvPr/>
        </p:nvSpPr>
        <p:spPr>
          <a:xfrm>
            <a:off x="2258568" y="3630168"/>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2,223</a:t>
            </a:r>
            <a:endParaRPr lang="en-US" sz="2600" dirty="0"/>
          </a:p>
        </p:txBody>
      </p:sp>
      <p:sp>
        <p:nvSpPr>
          <p:cNvPr id="16" name="Text 14"/>
          <p:cNvSpPr txBox="1"/>
          <p:nvPr/>
        </p:nvSpPr>
        <p:spPr>
          <a:xfrm>
            <a:off x="2368296" y="4224528"/>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True Positives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Defaulters caught</a:t>
            </a:r>
            <a:endParaRPr lang="en-US" sz="1000" dirty="0"/>
          </a:p>
        </p:txBody>
      </p:sp>
      <p:sp>
        <p:nvSpPr>
          <p:cNvPr id="17" name="Text 15"/>
          <p:cNvSpPr txBox="1"/>
          <p:nvPr/>
        </p:nvSpPr>
        <p:spPr>
          <a:xfrm>
            <a:off x="457200" y="1252728"/>
            <a:ext cx="1691640" cy="219456"/>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Predicted: Non-Defaulter</a:t>
            </a:r>
            <a:endParaRPr lang="en-US" sz="900" dirty="0"/>
          </a:p>
        </p:txBody>
      </p:sp>
      <p:sp>
        <p:nvSpPr>
          <p:cNvPr id="18" name="Text 16"/>
          <p:cNvSpPr txBox="1"/>
          <p:nvPr/>
        </p:nvSpPr>
        <p:spPr>
          <a:xfrm>
            <a:off x="2258568" y="1252728"/>
            <a:ext cx="1691640" cy="219456"/>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Predicted: Defaulter</a:t>
            </a:r>
            <a:endParaRPr lang="en-US" sz="900" dirty="0"/>
          </a:p>
        </p:txBody>
      </p:sp>
      <p:sp>
        <p:nvSpPr>
          <p:cNvPr id="19" name="Shape 17"/>
          <p:cNvSpPr/>
          <p:nvPr/>
        </p:nvSpPr>
        <p:spPr>
          <a:xfrm>
            <a:off x="3977640" y="1508760"/>
            <a:ext cx="3429000" cy="3493008"/>
          </a:xfrm>
          <a:prstGeom prst="roundRect">
            <a:avLst>
              <a:gd name="adj" fmla="val 2667"/>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20" name="Text 18"/>
          <p:cNvSpPr txBox="1"/>
          <p:nvPr/>
        </p:nvSpPr>
        <p:spPr>
          <a:xfrm>
            <a:off x="4206240" y="1691640"/>
            <a:ext cx="301752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Total business cost</a:t>
            </a:r>
            <a:endParaRPr lang="en-US" sz="1300" dirty="0"/>
          </a:p>
        </p:txBody>
      </p:sp>
      <p:sp>
        <p:nvSpPr>
          <p:cNvPr id="21" name="Text 19"/>
          <p:cNvSpPr txBox="1"/>
          <p:nvPr/>
        </p:nvSpPr>
        <p:spPr>
          <a:xfrm>
            <a:off x="4206240" y="2057400"/>
            <a:ext cx="3017520" cy="274320"/>
          </a:xfrm>
          <a:prstGeom prst="rect">
            <a:avLst/>
          </a:prstGeom>
          <a:noFill/>
          <a:ln/>
        </p:spPr>
        <p:txBody>
          <a:bodyPr wrap="square" lIns="0" tIns="0" rIns="0" bIns="0" rtlCol="0" anchor="ctr"/>
          <a:lstStyle/>
          <a:p>
            <a:pPr marL="0" indent="0">
              <a:buNone/>
            </a:pPr>
            <a:r>
              <a:rPr lang="en-US" sz="1200" b="1" dirty="0">
                <a:solidFill>
                  <a:srgbClr val="D97706"/>
                </a:solidFill>
                <a:latin typeface="Courier New" pitchFamily="34" charset="0"/>
                <a:ea typeface="Courier New" pitchFamily="34" charset="-122"/>
                <a:cs typeface="Courier New" pitchFamily="34" charset="-120"/>
              </a:rPr>
              <a:t>5,669 </a:t>
            </a:r>
            <a:r>
              <a:rPr lang="en-US" sz="1200" dirty="0">
                <a:solidFill>
                  <a:srgbClr val="474747"/>
                </a:solidFill>
                <a:latin typeface="Courier New" pitchFamily="34" charset="0"/>
                <a:ea typeface="Courier New" pitchFamily="34" charset="-122"/>
                <a:cs typeface="Courier New" pitchFamily="34" charset="-120"/>
              </a:rPr>
              <a:t>false positives × 1</a:t>
            </a:r>
            <a:endParaRPr lang="en-US" sz="1200" dirty="0"/>
          </a:p>
        </p:txBody>
      </p:sp>
      <p:sp>
        <p:nvSpPr>
          <p:cNvPr id="22" name="Text 20"/>
          <p:cNvSpPr txBox="1"/>
          <p:nvPr/>
        </p:nvSpPr>
        <p:spPr>
          <a:xfrm>
            <a:off x="4206240" y="2377440"/>
            <a:ext cx="3017520" cy="274320"/>
          </a:xfrm>
          <a:prstGeom prst="rect">
            <a:avLst/>
          </a:prstGeom>
          <a:noFill/>
          <a:ln/>
        </p:spPr>
        <p:txBody>
          <a:bodyPr wrap="square" lIns="0" tIns="0" rIns="0" bIns="0" rtlCol="0" anchor="ctr"/>
          <a:lstStyle/>
          <a:p>
            <a:pPr marL="0" indent="0">
              <a:buNone/>
            </a:pPr>
            <a:r>
              <a:rPr lang="en-US" sz="1200" b="1" dirty="0">
                <a:solidFill>
                  <a:srgbClr val="C1440E"/>
                </a:solidFill>
                <a:latin typeface="Courier New" pitchFamily="34" charset="0"/>
                <a:ea typeface="Courier New" pitchFamily="34" charset="-122"/>
                <a:cs typeface="Courier New" pitchFamily="34" charset="-120"/>
              </a:rPr>
              <a:t>2,742 </a:t>
            </a:r>
            <a:r>
              <a:rPr lang="en-US" sz="1200" dirty="0">
                <a:solidFill>
                  <a:srgbClr val="474747"/>
                </a:solidFill>
                <a:latin typeface="Courier New" pitchFamily="34" charset="0"/>
                <a:ea typeface="Courier New" pitchFamily="34" charset="-122"/>
                <a:cs typeface="Courier New" pitchFamily="34" charset="-120"/>
              </a:rPr>
              <a:t>false negatives × 5</a:t>
            </a:r>
            <a:endParaRPr lang="en-US" sz="1200" dirty="0"/>
          </a:p>
        </p:txBody>
      </p:sp>
      <p:sp>
        <p:nvSpPr>
          <p:cNvPr id="23" name="Shape 21"/>
          <p:cNvSpPr/>
          <p:nvPr/>
        </p:nvSpPr>
        <p:spPr>
          <a:xfrm>
            <a:off x="4206240" y="2743200"/>
            <a:ext cx="2788920" cy="0"/>
          </a:xfrm>
          <a:prstGeom prst="line">
            <a:avLst/>
          </a:prstGeom>
          <a:noFill/>
          <a:ln w="12700">
            <a:solidFill>
              <a:srgbClr val="E3E8F0"/>
            </a:solidFill>
            <a:prstDash val="solid"/>
          </a:ln>
        </p:spPr>
      </p:sp>
      <p:sp>
        <p:nvSpPr>
          <p:cNvPr id="24" name="Text 22"/>
          <p:cNvSpPr txBox="1"/>
          <p:nvPr/>
        </p:nvSpPr>
        <p:spPr>
          <a:xfrm>
            <a:off x="4206240" y="2834640"/>
            <a:ext cx="3017520" cy="41148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 19,379 </a:t>
            </a:r>
            <a:r>
              <a:rPr lang="en-US" sz="1100" dirty="0">
                <a:solidFill>
                  <a:srgbClr val="5B6472"/>
                </a:solidFill>
                <a:latin typeface="Calibri" pitchFamily="34" charset="0"/>
                <a:ea typeface="Calibri" pitchFamily="34" charset="-122"/>
                <a:cs typeface="Calibri" pitchFamily="34" charset="-120"/>
              </a:rPr>
              <a:t>total cost units</a:t>
            </a:r>
            <a:endParaRPr lang="en-US" sz="2000" dirty="0"/>
          </a:p>
        </p:txBody>
      </p:sp>
      <p:sp>
        <p:nvSpPr>
          <p:cNvPr id="25" name="Text 23"/>
          <p:cNvSpPr txBox="1"/>
          <p:nvPr/>
        </p:nvSpPr>
        <p:spPr>
          <a:xfrm>
            <a:off x="4206240" y="3337560"/>
            <a:ext cx="3017520" cy="160020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71% of this cost comes from missed defaulters (2,742 × 5 = 13,710) - that's why threshold selection favoured recall over precision.</a:t>
            </a:r>
            <a:endParaRPr lang="en-US" sz="1050" dirty="0"/>
          </a:p>
        </p:txBody>
      </p:sp>
      <p:sp>
        <p:nvSpPr>
          <p:cNvPr id="26" name="Text 24"/>
          <p:cNvSpPr txBox="1"/>
          <p:nvPr/>
        </p:nvSpPr>
        <p:spPr>
          <a:xfrm>
            <a:off x="7726680" y="1508760"/>
            <a:ext cx="4005072"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Threshold search (12,301-applicant fold)</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113855968"/>
              </p:ext>
            </p:extLst>
          </p:nvPr>
        </p:nvGraphicFramePr>
        <p:xfrm>
          <a:off x="7726680" y="1828800"/>
          <a:ext cx="4005072" cy="1371600"/>
        </p:xfrm>
        <a:graphic>
          <a:graphicData uri="http://schemas.openxmlformats.org/drawingml/2006/table">
            <a:tbl>
              <a:tblPr>
                <a:effectLst>
                  <a:outerShdw blurRad="50800" dist="38100" dir="18900000" algn="bl" rotWithShape="0">
                    <a:prstClr val="black">
                      <a:alpha val="40000"/>
                    </a:prstClr>
                  </a:outerShdw>
                </a:effectLst>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33272">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4290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Threshold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Total Cost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44.81%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28.11%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38.17%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31.07%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3,911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66.36%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20.73%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4,190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8" name="Text 25"/>
          <p:cNvSpPr txBox="1"/>
          <p:nvPr/>
        </p:nvSpPr>
        <p:spPr>
          <a:xfrm>
            <a:off x="7726680" y="3337560"/>
            <a:ext cx="4005072" cy="128016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0.15 gives the lowest cost of all ten thresholds tested (0.01–0.50) on this fold - 0.20 lands within 33 cost units of it, so the model isn't fragile to the exact threshold chosen.</a:t>
            </a:r>
            <a:endParaRPr lang="en-US" sz="1050" dirty="0"/>
          </a:p>
        </p:txBody>
      </p:sp>
      <p:sp>
        <p:nvSpPr>
          <p:cNvPr id="29" name="Text 26"/>
          <p:cNvSpPr txBox="1"/>
          <p:nvPr/>
        </p:nvSpPr>
        <p:spPr>
          <a:xfrm>
            <a:off x="457200" y="5212080"/>
            <a:ext cx="11274552"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The business framing</a:t>
            </a:r>
            <a:endParaRPr lang="en-US" sz="1250" dirty="0"/>
          </a:p>
        </p:txBody>
      </p:sp>
      <p:sp>
        <p:nvSpPr>
          <p:cNvPr id="30" name="Text 27"/>
          <p:cNvSpPr txBox="1"/>
          <p:nvPr/>
        </p:nvSpPr>
        <p:spPr>
          <a:xfrm>
            <a:off x="457200" y="5504688"/>
            <a:ext cx="11274552" cy="86868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Every False Positive means a good customer gets an extra review - a mild inconvenience. Every False Negative means the business extends credit to someone who won't repay -assumed 5× costlier. At threshold 0.15, roughly 1 in 8 applicants (12.83%) gets flagged for enhanced review, in exchange for catching 44.8% of real defaulters at the lowest total cost found during threshold search.</a:t>
            </a:r>
            <a:endParaRPr lang="en-US" sz="1050" dirty="0"/>
          </a:p>
        </p:txBody>
      </p:sp>
      <p:sp>
        <p:nvSpPr>
          <p:cNvPr id="32" name="Text 29"/>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THE APP</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Seeing the model in action: the real app</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Live Streamlit app (localhost:8501) - same trained CatBoost model, calibration, and 0.15 threshold used throughout this project</a:t>
            </a:r>
            <a:endParaRPr lang="en-US" sz="1150" dirty="0"/>
          </a:p>
        </p:txBody>
      </p:sp>
      <p:sp>
        <p:nvSpPr>
          <p:cNvPr id="5" name="Shape 3"/>
          <p:cNvSpPr/>
          <p:nvPr/>
        </p:nvSpPr>
        <p:spPr>
          <a:xfrm>
            <a:off x="402336" y="1426464"/>
            <a:ext cx="6373368" cy="3297977"/>
          </a:xfrm>
          <a:prstGeom prst="roundRect">
            <a:avLst>
              <a:gd name="adj" fmla="val 1664"/>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6" name="Image 0" descr="/home/claude/assets4/app_screen1.png"/>
          <p:cNvPicPr>
            <a:picLocks noChangeAspect="1"/>
          </p:cNvPicPr>
          <p:nvPr/>
        </p:nvPicPr>
        <p:blipFill>
          <a:blip r:embed="rId3"/>
          <a:stretch>
            <a:fillRect/>
          </a:stretch>
        </p:blipFill>
        <p:spPr>
          <a:xfrm>
            <a:off x="457200" y="1481328"/>
            <a:ext cx="6263640" cy="3188249"/>
          </a:xfrm>
          <a:prstGeom prst="rect">
            <a:avLst/>
          </a:prstGeom>
          <a:effectLst>
            <a:outerShdw blurRad="50800" dist="38100" dir="18900000" algn="bl" rotWithShape="0">
              <a:prstClr val="black">
                <a:alpha val="40000"/>
              </a:prstClr>
            </a:outerShdw>
          </a:effectLst>
        </p:spPr>
      </p:pic>
      <p:sp>
        <p:nvSpPr>
          <p:cNvPr id="7" name="Shape 4"/>
          <p:cNvSpPr/>
          <p:nvPr/>
        </p:nvSpPr>
        <p:spPr>
          <a:xfrm>
            <a:off x="6949440" y="1426464"/>
            <a:ext cx="4690872" cy="2283357"/>
          </a:xfrm>
          <a:prstGeom prst="roundRect">
            <a:avLst>
              <a:gd name="adj" fmla="val 2403"/>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8" name="Image 1" descr="/home/claude/assets4/app_screen2_crop.png"/>
          <p:cNvPicPr>
            <a:picLocks noChangeAspect="1"/>
          </p:cNvPicPr>
          <p:nvPr/>
        </p:nvPicPr>
        <p:blipFill>
          <a:blip r:embed="rId4"/>
          <a:stretch>
            <a:fillRect/>
          </a:stretch>
        </p:blipFill>
        <p:spPr>
          <a:xfrm>
            <a:off x="6995160" y="1472184"/>
            <a:ext cx="4599432" cy="2191917"/>
          </a:xfrm>
          <a:prstGeom prst="rect">
            <a:avLst/>
          </a:prstGeom>
          <a:effectLst>
            <a:outerShdw blurRad="50800" dist="38100" dir="18900000" algn="bl" rotWithShape="0">
              <a:prstClr val="black">
                <a:alpha val="40000"/>
              </a:prstClr>
            </a:outerShdw>
          </a:effectLst>
        </p:spPr>
      </p:pic>
      <p:sp>
        <p:nvSpPr>
          <p:cNvPr id="9" name="Shape 5"/>
          <p:cNvSpPr/>
          <p:nvPr/>
        </p:nvSpPr>
        <p:spPr>
          <a:xfrm>
            <a:off x="6949440" y="3837837"/>
            <a:ext cx="4690872" cy="2283357"/>
          </a:xfrm>
          <a:prstGeom prst="roundRect">
            <a:avLst>
              <a:gd name="adj" fmla="val 2403"/>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10" name="Image 2" descr="/home/claude/assets4/app_screen3_crop.png"/>
          <p:cNvPicPr>
            <a:picLocks noChangeAspect="1"/>
          </p:cNvPicPr>
          <p:nvPr/>
        </p:nvPicPr>
        <p:blipFill>
          <a:blip r:embed="rId5"/>
          <a:stretch>
            <a:fillRect/>
          </a:stretch>
        </p:blipFill>
        <p:spPr>
          <a:xfrm>
            <a:off x="6995160" y="3883557"/>
            <a:ext cx="4599432" cy="2191917"/>
          </a:xfrm>
          <a:prstGeom prst="rect">
            <a:avLst/>
          </a:prstGeom>
          <a:effectLst>
            <a:outerShdw blurRad="50800" dist="38100" dir="18900000" algn="bl" rotWithShape="0">
              <a:prstClr val="black">
                <a:alpha val="40000"/>
              </a:prstClr>
            </a:outerShdw>
          </a:effectLst>
        </p:spPr>
      </p:pic>
      <p:sp>
        <p:nvSpPr>
          <p:cNvPr id="11" name="Text 6"/>
          <p:cNvSpPr txBox="1"/>
          <p:nvPr/>
        </p:nvSpPr>
        <p:spPr>
          <a:xfrm>
            <a:off x="457200" y="4943897"/>
            <a:ext cx="626364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What the app walks a credit officer through</a:t>
            </a:r>
            <a:endParaRPr lang="en-US" sz="1250" dirty="0"/>
          </a:p>
        </p:txBody>
      </p:sp>
      <p:sp>
        <p:nvSpPr>
          <p:cNvPr id="12" name="Text 7"/>
          <p:cNvSpPr txBox="1"/>
          <p:nvPr/>
        </p:nvSpPr>
        <p:spPr>
          <a:xfrm>
            <a:off x="457200" y="5236505"/>
            <a:ext cx="6263640" cy="1463040"/>
          </a:xfrm>
          <a:prstGeom prst="rect">
            <a:avLst/>
          </a:prstGeom>
          <a:noFill/>
          <a:ln/>
        </p:spPr>
        <p:txBody>
          <a:bodyPr wrap="square" lIns="0" tIns="0" rIns="0" bIns="0" rtlCol="0" anchor="t"/>
          <a:lstStyle/>
          <a:p>
            <a:pPr marL="0" indent="0">
              <a:lnSpc>
                <a:spcPts val="1300"/>
              </a:lnSpc>
              <a:buNone/>
            </a:pPr>
            <a:r>
              <a:rPr lang="en-US" sz="1050" b="1" dirty="0">
                <a:solidFill>
                  <a:srgbClr val="1E2761"/>
                </a:solidFill>
                <a:latin typeface="Calibri" pitchFamily="34" charset="0"/>
                <a:ea typeface="Calibri" pitchFamily="34" charset="-122"/>
                <a:cs typeface="Calibri" pitchFamily="34" charset="-120"/>
              </a:rPr>
              <a:t>Individual Assessment or Batch Assessment</a:t>
            </a:r>
            <a:endParaRPr lang="en-US" sz="1050" dirty="0"/>
          </a:p>
          <a:p>
            <a:pPr marL="0" indent="0">
              <a:lnSpc>
                <a:spcPts val="1300"/>
              </a:lnSpc>
              <a:spcAft>
                <a:spcPts val="600"/>
              </a:spcAft>
              <a:buNone/>
            </a:pPr>
            <a:r>
              <a:rPr lang="en-US" sz="1050" dirty="0">
                <a:solidFill>
                  <a:srgbClr val="474747"/>
                </a:solidFill>
                <a:latin typeface="Calibri" pitchFamily="34" charset="0"/>
                <a:ea typeface="Calibri" pitchFamily="34" charset="-122"/>
                <a:cs typeface="Calibri" pitchFamily="34" charset="-120"/>
              </a:rPr>
              <a:t> - score one applicant at a time, or upload a file for many at once.</a:t>
            </a:r>
            <a:endParaRPr lang="en-US" sz="1050" dirty="0"/>
          </a:p>
          <a:p>
            <a:pPr marL="0" indent="0">
              <a:lnSpc>
                <a:spcPts val="1300"/>
              </a:lnSpc>
              <a:buNone/>
            </a:pPr>
            <a:r>
              <a:rPr lang="en-US" sz="1050" b="1" dirty="0">
                <a:solidFill>
                  <a:srgbClr val="1E2761"/>
                </a:solidFill>
                <a:latin typeface="Calibri" pitchFamily="34" charset="0"/>
                <a:ea typeface="Calibri" pitchFamily="34" charset="-122"/>
                <a:cs typeface="Calibri" pitchFamily="34" charset="-120"/>
              </a:rPr>
              <a:t>Personal, Loan, Employment &amp; Stability, External Credit Scores, Contact Info</a:t>
            </a:r>
            <a:endParaRPr lang="en-US" sz="1050" dirty="0"/>
          </a:p>
          <a:p>
            <a:pPr marL="0" indent="0">
              <a:lnSpc>
                <a:spcPts val="1300"/>
              </a:lnSpc>
              <a:spcAft>
                <a:spcPts val="600"/>
              </a:spcAft>
              <a:buNone/>
            </a:pPr>
            <a:r>
              <a:rPr lang="en-US" sz="1050" dirty="0">
                <a:solidFill>
                  <a:srgbClr val="474747"/>
                </a:solidFill>
                <a:latin typeface="Calibri" pitchFamily="34" charset="0"/>
                <a:ea typeface="Calibri" pitchFamily="34" charset="-122"/>
                <a:cs typeface="Calibri" pitchFamily="34" charset="-120"/>
              </a:rPr>
              <a:t> -  the same feature groups engineered throughout this project, entered as plain fields and sliders.</a:t>
            </a:r>
            <a:endParaRPr lang="en-US" sz="1050" dirty="0"/>
          </a:p>
          <a:p>
            <a:pPr marL="0" indent="0">
              <a:lnSpc>
                <a:spcPts val="1300"/>
              </a:lnSpc>
              <a:buNone/>
            </a:pPr>
            <a:r>
              <a:rPr lang="en-US" sz="1050" b="1" dirty="0">
                <a:solidFill>
                  <a:srgbClr val="1E2761"/>
                </a:solidFill>
                <a:latin typeface="Calibri" pitchFamily="34" charset="0"/>
                <a:ea typeface="Calibri" pitchFamily="34" charset="-122"/>
                <a:cs typeface="Calibri" pitchFamily="34" charset="-120"/>
              </a:rPr>
              <a:t>Assess Credit Risk</a:t>
            </a:r>
            <a:r>
              <a:rPr lang="en-US" sz="1050" dirty="0">
                <a:solidFill>
                  <a:srgbClr val="474747"/>
                </a:solidFill>
                <a:latin typeface="Calibri" pitchFamily="34" charset="0"/>
                <a:ea typeface="Calibri" pitchFamily="34" charset="-122"/>
                <a:cs typeface="Calibri" pitchFamily="34" charset="-120"/>
              </a:rPr>
              <a:t> - runs the exact preprocessing – </a:t>
            </a:r>
            <a:r>
              <a:rPr lang="en-US" sz="1050" dirty="0" err="1">
                <a:solidFill>
                  <a:srgbClr val="474747"/>
                </a:solidFill>
                <a:latin typeface="Calibri" pitchFamily="34" charset="0"/>
                <a:ea typeface="Calibri" pitchFamily="34" charset="-122"/>
                <a:cs typeface="Calibri" pitchFamily="34" charset="-120"/>
              </a:rPr>
              <a:t>CatBoost</a:t>
            </a:r>
            <a:r>
              <a:rPr lang="en-US" sz="1050" dirty="0">
                <a:solidFill>
                  <a:srgbClr val="474747"/>
                </a:solidFill>
                <a:latin typeface="Calibri" pitchFamily="34" charset="0"/>
                <a:ea typeface="Calibri" pitchFamily="34" charset="-122"/>
                <a:cs typeface="Calibri" pitchFamily="34" charset="-120"/>
              </a:rPr>
              <a:t> - isotonic calibration - 0.15 threshold pipeline from this project.</a:t>
            </a:r>
            <a:endParaRPr lang="en-US" sz="1050" dirty="0"/>
          </a:p>
        </p:txBody>
      </p:sp>
      <p:sp>
        <p:nvSpPr>
          <p:cNvPr id="14" name="Text 9"/>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PUTTING IT TO WORK</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A decision-support tool, not an auto-reject switch</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With 28% precision on flagged applicants, high-risk predictions should trigger extra review - not automatic rejection</a:t>
            </a:r>
            <a:endParaRPr lang="en-US" sz="1150" dirty="0"/>
          </a:p>
        </p:txBody>
      </p:sp>
      <p:sp>
        <p:nvSpPr>
          <p:cNvPr id="5" name="Shape 3"/>
          <p:cNvSpPr/>
          <p:nvPr/>
        </p:nvSpPr>
        <p:spPr>
          <a:xfrm>
            <a:off x="457200" y="1508760"/>
            <a:ext cx="3611880" cy="457200"/>
          </a:xfrm>
          <a:prstGeom prst="roundRect">
            <a:avLst>
              <a:gd name="adj" fmla="val 12000"/>
            </a:avLst>
          </a:prstGeom>
          <a:solidFill>
            <a:srgbClr val="0F9D8A"/>
          </a:solidFill>
          <a:ln/>
        </p:spPr>
      </p:sp>
      <p:sp>
        <p:nvSpPr>
          <p:cNvPr id="6" name="Text 4"/>
          <p:cNvSpPr txBox="1"/>
          <p:nvPr/>
        </p:nvSpPr>
        <p:spPr>
          <a:xfrm>
            <a:off x="457200" y="1508760"/>
            <a:ext cx="3611880" cy="457200"/>
          </a:xfrm>
          <a:prstGeom prst="rect">
            <a:avLst/>
          </a:prstGeom>
          <a:noFill/>
          <a:ln/>
          <a:effectLst>
            <a:outerShdw blurRad="50800" dist="38100" dir="18900000" algn="bl"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Low risk</a:t>
            </a:r>
            <a:endParaRPr lang="en-US" sz="1300" dirty="0"/>
          </a:p>
        </p:txBody>
      </p:sp>
      <p:sp>
        <p:nvSpPr>
          <p:cNvPr id="7" name="Shape 5"/>
          <p:cNvSpPr/>
          <p:nvPr/>
        </p:nvSpPr>
        <p:spPr>
          <a:xfrm>
            <a:off x="457200" y="2002536"/>
            <a:ext cx="3611880" cy="1234440"/>
          </a:xfrm>
          <a:prstGeom prst="roundRect">
            <a:avLst>
              <a:gd name="adj" fmla="val 4444"/>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8" name="Text 6"/>
          <p:cNvSpPr txBox="1"/>
          <p:nvPr/>
        </p:nvSpPr>
        <p:spPr>
          <a:xfrm>
            <a:off x="658368" y="2157984"/>
            <a:ext cx="320954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Standard assessment</a:t>
            </a:r>
            <a:endParaRPr lang="en-US" sz="1200" dirty="0"/>
          </a:p>
        </p:txBody>
      </p:sp>
      <p:sp>
        <p:nvSpPr>
          <p:cNvPr id="9" name="Text 7"/>
          <p:cNvSpPr txBox="1"/>
          <p:nvPr/>
        </p:nvSpPr>
        <p:spPr>
          <a:xfrm>
            <a:off x="658368" y="2450592"/>
            <a:ext cx="3209544" cy="731520"/>
          </a:xfrm>
          <a:prstGeom prst="rect">
            <a:avLst/>
          </a:prstGeom>
          <a:noFill/>
          <a:ln/>
        </p:spPr>
        <p:txBody>
          <a:bodyPr wrap="square" lIns="0" tIns="0" rIns="0" bIns="0" rtlCol="0" anchor="t"/>
          <a:lstStyle/>
          <a:p>
            <a:pPr marL="0" indent="0">
              <a:lnSpc>
                <a:spcPts val="1300"/>
              </a:lnSpc>
              <a:buNone/>
            </a:pPr>
            <a:r>
              <a:rPr lang="en-US" sz="1050" dirty="0">
                <a:solidFill>
                  <a:srgbClr val="474747"/>
                </a:solidFill>
                <a:latin typeface="Calibri" pitchFamily="34" charset="0"/>
                <a:ea typeface="Calibri" pitchFamily="34" charset="-122"/>
                <a:cs typeface="Calibri" pitchFamily="34" charset="-120"/>
              </a:rPr>
              <a:t>Applicant proceeds through the normal approval process.</a:t>
            </a:r>
            <a:endParaRPr lang="en-US" sz="1050" dirty="0"/>
          </a:p>
        </p:txBody>
      </p:sp>
      <p:sp>
        <p:nvSpPr>
          <p:cNvPr id="10" name="Shape 8"/>
          <p:cNvSpPr/>
          <p:nvPr/>
        </p:nvSpPr>
        <p:spPr>
          <a:xfrm>
            <a:off x="4288536" y="1508760"/>
            <a:ext cx="3611880" cy="457200"/>
          </a:xfrm>
          <a:prstGeom prst="roundRect">
            <a:avLst>
              <a:gd name="adj" fmla="val 12000"/>
            </a:avLst>
          </a:prstGeom>
          <a:solidFill>
            <a:srgbClr val="D97706"/>
          </a:solidFill>
          <a:ln/>
        </p:spPr>
      </p:sp>
      <p:sp>
        <p:nvSpPr>
          <p:cNvPr id="11" name="Text 9"/>
          <p:cNvSpPr txBox="1"/>
          <p:nvPr/>
        </p:nvSpPr>
        <p:spPr>
          <a:xfrm>
            <a:off x="4288536" y="1508760"/>
            <a:ext cx="3611880" cy="457200"/>
          </a:xfrm>
          <a:prstGeom prst="rect">
            <a:avLst/>
          </a:prstGeom>
          <a:noFill/>
          <a:ln/>
          <a:effectLst>
            <a:outerShdw blurRad="50800" dist="38100" dir="18900000" algn="bl"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Medium risk</a:t>
            </a:r>
            <a:endParaRPr lang="en-US" sz="1300" dirty="0"/>
          </a:p>
        </p:txBody>
      </p:sp>
      <p:sp>
        <p:nvSpPr>
          <p:cNvPr id="12" name="Shape 10"/>
          <p:cNvSpPr/>
          <p:nvPr/>
        </p:nvSpPr>
        <p:spPr>
          <a:xfrm>
            <a:off x="4288536" y="2002536"/>
            <a:ext cx="3611880" cy="1234440"/>
          </a:xfrm>
          <a:prstGeom prst="roundRect">
            <a:avLst>
              <a:gd name="adj" fmla="val 4444"/>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3" name="Text 11"/>
          <p:cNvSpPr txBox="1"/>
          <p:nvPr/>
        </p:nvSpPr>
        <p:spPr>
          <a:xfrm>
            <a:off x="4489704" y="2157984"/>
            <a:ext cx="320954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Additional verification</a:t>
            </a:r>
            <a:endParaRPr lang="en-US" sz="1200" dirty="0"/>
          </a:p>
        </p:txBody>
      </p:sp>
      <p:sp>
        <p:nvSpPr>
          <p:cNvPr id="14" name="Text 12"/>
          <p:cNvSpPr txBox="1"/>
          <p:nvPr/>
        </p:nvSpPr>
        <p:spPr>
          <a:xfrm>
            <a:off x="4489704" y="2450592"/>
            <a:ext cx="3209544" cy="731520"/>
          </a:xfrm>
          <a:prstGeom prst="rect">
            <a:avLst/>
          </a:prstGeom>
          <a:noFill/>
          <a:ln/>
        </p:spPr>
        <p:txBody>
          <a:bodyPr wrap="square" lIns="0" tIns="0" rIns="0" bIns="0" rtlCol="0" anchor="t"/>
          <a:lstStyle/>
          <a:p>
            <a:pPr marL="0" indent="0">
              <a:lnSpc>
                <a:spcPts val="1300"/>
              </a:lnSpc>
              <a:buNone/>
            </a:pPr>
            <a:r>
              <a:rPr lang="en-US" sz="1050" dirty="0">
                <a:solidFill>
                  <a:srgbClr val="474747"/>
                </a:solidFill>
                <a:latin typeface="Calibri" pitchFamily="34" charset="0"/>
                <a:ea typeface="Calibri" pitchFamily="34" charset="-122"/>
                <a:cs typeface="Calibri" pitchFamily="34" charset="-120"/>
              </a:rPr>
              <a:t>Extra checks on income, existing obligations, or documentation.</a:t>
            </a:r>
            <a:endParaRPr lang="en-US" sz="1050" dirty="0"/>
          </a:p>
        </p:txBody>
      </p:sp>
      <p:sp>
        <p:nvSpPr>
          <p:cNvPr id="15" name="Shape 13"/>
          <p:cNvSpPr/>
          <p:nvPr/>
        </p:nvSpPr>
        <p:spPr>
          <a:xfrm>
            <a:off x="8119872" y="1508760"/>
            <a:ext cx="3611880" cy="457200"/>
          </a:xfrm>
          <a:prstGeom prst="roundRect">
            <a:avLst>
              <a:gd name="adj" fmla="val 12000"/>
            </a:avLst>
          </a:prstGeom>
          <a:solidFill>
            <a:srgbClr val="C1440E"/>
          </a:solidFill>
          <a:ln/>
        </p:spPr>
      </p:sp>
      <p:sp>
        <p:nvSpPr>
          <p:cNvPr id="16" name="Text 14"/>
          <p:cNvSpPr txBox="1"/>
          <p:nvPr/>
        </p:nvSpPr>
        <p:spPr>
          <a:xfrm>
            <a:off x="8119872" y="1508760"/>
            <a:ext cx="3611880" cy="457200"/>
          </a:xfrm>
          <a:prstGeom prst="rect">
            <a:avLst/>
          </a:prstGeom>
          <a:noFill/>
          <a:ln/>
          <a:effectLst>
            <a:outerShdw blurRad="50800" dist="38100" dir="18900000" algn="bl"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High risk</a:t>
            </a:r>
            <a:endParaRPr lang="en-US" sz="1300" dirty="0"/>
          </a:p>
        </p:txBody>
      </p:sp>
      <p:sp>
        <p:nvSpPr>
          <p:cNvPr id="17" name="Shape 15"/>
          <p:cNvSpPr/>
          <p:nvPr/>
        </p:nvSpPr>
        <p:spPr>
          <a:xfrm>
            <a:off x="8119872" y="2002536"/>
            <a:ext cx="3611880" cy="1234440"/>
          </a:xfrm>
          <a:prstGeom prst="roundRect">
            <a:avLst>
              <a:gd name="adj" fmla="val 4444"/>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8" name="Text 16"/>
          <p:cNvSpPr txBox="1"/>
          <p:nvPr/>
        </p:nvSpPr>
        <p:spPr>
          <a:xfrm>
            <a:off x="8321040" y="2157984"/>
            <a:ext cx="320954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Enhanced credit review</a:t>
            </a:r>
            <a:endParaRPr lang="en-US" sz="1200" dirty="0"/>
          </a:p>
        </p:txBody>
      </p:sp>
      <p:sp>
        <p:nvSpPr>
          <p:cNvPr id="19" name="Text 17"/>
          <p:cNvSpPr txBox="1"/>
          <p:nvPr/>
        </p:nvSpPr>
        <p:spPr>
          <a:xfrm>
            <a:off x="8321040" y="2450592"/>
            <a:ext cx="3209544" cy="731520"/>
          </a:xfrm>
          <a:prstGeom prst="rect">
            <a:avLst/>
          </a:prstGeom>
          <a:noFill/>
          <a:ln/>
        </p:spPr>
        <p:txBody>
          <a:bodyPr wrap="square" lIns="0" tIns="0" rIns="0" bIns="0" rtlCol="0" anchor="t"/>
          <a:lstStyle/>
          <a:p>
            <a:pPr marL="0" indent="0">
              <a:lnSpc>
                <a:spcPts val="1300"/>
              </a:lnSpc>
              <a:buNone/>
            </a:pPr>
            <a:r>
              <a:rPr lang="en-US" sz="1050" dirty="0">
                <a:solidFill>
                  <a:srgbClr val="474747"/>
                </a:solidFill>
                <a:latin typeface="Calibri" pitchFamily="34" charset="0"/>
                <a:ea typeface="Calibri" pitchFamily="34" charset="-122"/>
                <a:cs typeface="Calibri" pitchFamily="34" charset="-120"/>
              </a:rPr>
              <a:t>Full manual review by a credit officer before any decision.</a:t>
            </a:r>
            <a:endParaRPr lang="en-US" sz="1050" dirty="0"/>
          </a:p>
        </p:txBody>
      </p:sp>
      <p:sp>
        <p:nvSpPr>
          <p:cNvPr id="20" name="Text 18"/>
          <p:cNvSpPr txBox="1"/>
          <p:nvPr/>
        </p:nvSpPr>
        <p:spPr>
          <a:xfrm>
            <a:off x="457200" y="3520440"/>
            <a:ext cx="548640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Why the threshold is set at 0.15</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3100349435"/>
              </p:ext>
            </p:extLst>
          </p:nvPr>
        </p:nvGraphicFramePr>
        <p:xfrm>
          <a:off x="457200" y="3840480"/>
          <a:ext cx="5577840" cy="1371600"/>
        </p:xfrm>
        <a:graphic>
          <a:graphicData uri="http://schemas.openxmlformats.org/drawingml/2006/table">
            <a:tbl>
              <a:tblPr>
                <a:effectLst>
                  <a:outerShdw blurRad="50800" dist="38100" dir="18900000" algn="bl" rotWithShape="0">
                    <a:prstClr val="black">
                      <a:alpha val="40000"/>
                    </a:prstClr>
                  </a:outerShdw>
                </a:effectLst>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4290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Threshold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Total Cost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0.15 (selected)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44.81%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28.11%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38.17%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31.07%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3,911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66.36%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20.73%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4,190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2" name="Text 19"/>
          <p:cNvSpPr txBox="1"/>
          <p:nvPr/>
        </p:nvSpPr>
        <p:spPr>
          <a:xfrm>
            <a:off x="457200" y="5349240"/>
            <a:ext cx="5577840" cy="822960"/>
          </a:xfrm>
          <a:prstGeom prst="rect">
            <a:avLst/>
          </a:prstGeom>
          <a:noFill/>
          <a:ln/>
        </p:spPr>
        <p:txBody>
          <a:bodyPr wrap="square" lIns="0" tIns="0" rIns="0" bIns="0" rtlCol="0" anchor="ctr"/>
          <a:lstStyle/>
          <a:p>
            <a:pPr marL="0" indent="0">
              <a:lnSpc>
                <a:spcPts val="1300"/>
              </a:lnSpc>
              <a:buNone/>
            </a:pPr>
            <a:r>
              <a:rPr lang="en-US" sz="1000" i="1" dirty="0">
                <a:solidFill>
                  <a:srgbClr val="5B6472"/>
                </a:solidFill>
                <a:latin typeface="Calibri" pitchFamily="34" charset="0"/>
                <a:ea typeface="Calibri" pitchFamily="34" charset="-122"/>
                <a:cs typeface="Calibri" pitchFamily="34" charset="-120"/>
              </a:rPr>
              <a:t>0.15 gives the lowest total business cost (3,878) of all ten thresholds tested from 0.01 to 0.50 on the 12,301-applicant selection fold - 0.20 lands within 33 cost units of it, so the choice isn't hanging on a single fragile number.</a:t>
            </a:r>
            <a:endParaRPr lang="en-US" sz="1000" dirty="0"/>
          </a:p>
        </p:txBody>
      </p:sp>
      <p:sp>
        <p:nvSpPr>
          <p:cNvPr id="23" name="Shape 20"/>
          <p:cNvSpPr/>
          <p:nvPr/>
        </p:nvSpPr>
        <p:spPr>
          <a:xfrm>
            <a:off x="6309360" y="3520440"/>
            <a:ext cx="5422392" cy="2651760"/>
          </a:xfrm>
          <a:prstGeom prst="roundRect">
            <a:avLst>
              <a:gd name="adj" fmla="val 3448"/>
            </a:avLst>
          </a:prstGeom>
          <a:solidFill>
            <a:srgbClr val="1E2761"/>
          </a:solidFill>
          <a:ln/>
          <a:effectLst>
            <a:outerShdw blurRad="50800" dist="38100" dir="18900000" algn="bl" rotWithShape="0">
              <a:prstClr val="black">
                <a:alpha val="40000"/>
              </a:prstClr>
            </a:outerShdw>
          </a:effectLst>
        </p:spPr>
      </p:sp>
      <p:sp>
        <p:nvSpPr>
          <p:cNvPr id="24" name="Text 21"/>
          <p:cNvSpPr txBox="1"/>
          <p:nvPr/>
        </p:nvSpPr>
        <p:spPr>
          <a:xfrm>
            <a:off x="6565392" y="3703320"/>
            <a:ext cx="49377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Other recommendations</a:t>
            </a:r>
            <a:endParaRPr lang="en-US" sz="1300" dirty="0"/>
          </a:p>
        </p:txBody>
      </p:sp>
      <p:sp>
        <p:nvSpPr>
          <p:cNvPr id="25" name="Text 22"/>
          <p:cNvSpPr txBox="1"/>
          <p:nvPr/>
        </p:nvSpPr>
        <p:spPr>
          <a:xfrm>
            <a:off x="6565392" y="4041648"/>
            <a:ext cx="4937760" cy="2057400"/>
          </a:xfrm>
          <a:prstGeom prst="rect">
            <a:avLst/>
          </a:prstGeom>
          <a:noFill/>
          <a:ln/>
        </p:spPr>
        <p:txBody>
          <a:bodyPr wrap="square" lIns="0" tIns="0" rIns="0" bIns="0" rtlCol="0" anchor="t"/>
          <a:lstStyle/>
          <a:p>
            <a:pPr marL="177800" indent="-177800">
              <a:lnSpc>
                <a:spcPts val="1400"/>
              </a:lnSpc>
              <a:spcAft>
                <a:spcPts val="400"/>
              </a:spcAft>
              <a:buSzPct val="100000"/>
              <a:buChar char="●"/>
            </a:pPr>
            <a:r>
              <a:rPr lang="en-US" sz="1050" b="1" dirty="0">
                <a:solidFill>
                  <a:srgbClr val="FFFFFF"/>
                </a:solidFill>
                <a:latin typeface="Calibri" pitchFamily="34" charset="0"/>
                <a:ea typeface="Calibri" pitchFamily="34" charset="-122"/>
                <a:cs typeface="Calibri" pitchFamily="34" charset="-120"/>
              </a:rPr>
              <a:t>Review the 0.15 threshold periodically</a:t>
            </a:r>
            <a:endParaRPr lang="en-US" sz="1050" dirty="0"/>
          </a:p>
          <a:p>
            <a:pPr marL="0" indent="0">
              <a:lnSpc>
                <a:spcPts val="1400"/>
              </a:lnSpc>
              <a:spcAft>
                <a:spcPts val="1200"/>
              </a:spcAft>
              <a:buNone/>
            </a:pPr>
            <a:r>
              <a:rPr lang="en-US" sz="1050" dirty="0">
                <a:solidFill>
                  <a:srgbClr val="D6DCF2"/>
                </a:solidFill>
                <a:latin typeface="Calibri" pitchFamily="34" charset="0"/>
                <a:ea typeface="Calibri" pitchFamily="34" charset="-122"/>
                <a:cs typeface="Calibri" pitchFamily="34" charset="-120"/>
              </a:rPr>
              <a:t>it depends on assumed costs (1 : 5) that may change over time.</a:t>
            </a:r>
            <a:endParaRPr lang="en-US" sz="1050" dirty="0"/>
          </a:p>
          <a:p>
            <a:pPr marL="177800" indent="-177800">
              <a:lnSpc>
                <a:spcPts val="1400"/>
              </a:lnSpc>
              <a:spcAft>
                <a:spcPts val="400"/>
              </a:spcAft>
              <a:buSzPct val="100000"/>
              <a:buChar char="●"/>
            </a:pPr>
            <a:r>
              <a:rPr lang="en-US" sz="1050" b="1" dirty="0">
                <a:solidFill>
                  <a:srgbClr val="FFFFFF"/>
                </a:solidFill>
                <a:latin typeface="Calibri" pitchFamily="34" charset="0"/>
                <a:ea typeface="Calibri" pitchFamily="34" charset="-122"/>
                <a:cs typeface="Calibri" pitchFamily="34" charset="-120"/>
              </a:rPr>
              <a:t>Use SHAP explanations for individual cases</a:t>
            </a:r>
            <a:endParaRPr lang="en-US" sz="1050" dirty="0"/>
          </a:p>
          <a:p>
            <a:pPr marL="0" indent="0">
              <a:lnSpc>
                <a:spcPts val="1400"/>
              </a:lnSpc>
              <a:spcAft>
                <a:spcPts val="1200"/>
              </a:spcAft>
              <a:buNone/>
            </a:pPr>
            <a:r>
              <a:rPr lang="en-US" sz="1050" dirty="0">
                <a:solidFill>
                  <a:srgbClr val="D6DCF2"/>
                </a:solidFill>
                <a:latin typeface="Calibri" pitchFamily="34" charset="0"/>
                <a:ea typeface="Calibri" pitchFamily="34" charset="-122"/>
                <a:cs typeface="Calibri" pitchFamily="34" charset="-120"/>
              </a:rPr>
              <a:t>so credit officers can understand and challenge flagged decisions.</a:t>
            </a:r>
            <a:endParaRPr lang="en-US" sz="1050" dirty="0"/>
          </a:p>
          <a:p>
            <a:pPr marL="177800" indent="-177800">
              <a:lnSpc>
                <a:spcPts val="1400"/>
              </a:lnSpc>
              <a:spcAft>
                <a:spcPts val="400"/>
              </a:spcAft>
              <a:buSzPct val="100000"/>
              <a:buChar char="●"/>
            </a:pPr>
            <a:r>
              <a:rPr lang="en-US" sz="1050" b="1" dirty="0">
                <a:solidFill>
                  <a:srgbClr val="FFFFFF"/>
                </a:solidFill>
                <a:latin typeface="Calibri" pitchFamily="34" charset="0"/>
                <a:ea typeface="Calibri" pitchFamily="34" charset="-122"/>
                <a:cs typeface="Calibri" pitchFamily="34" charset="-120"/>
              </a:rPr>
              <a:t>Monitor recall, precision, and cost post-deployment</a:t>
            </a:r>
            <a:endParaRPr lang="en-US" sz="1050" dirty="0"/>
          </a:p>
          <a:p>
            <a:pPr marL="0" indent="0">
              <a:lnSpc>
                <a:spcPts val="1400"/>
              </a:lnSpc>
              <a:buNone/>
            </a:pPr>
            <a:r>
              <a:rPr lang="en-US" sz="1050" dirty="0">
                <a:solidFill>
                  <a:srgbClr val="D6DCF2"/>
                </a:solidFill>
                <a:latin typeface="Calibri" pitchFamily="34" charset="0"/>
                <a:ea typeface="Calibri" pitchFamily="34" charset="-122"/>
                <a:cs typeface="Calibri" pitchFamily="34" charset="-120"/>
              </a:rPr>
              <a:t>and performance across demographic groups (recall varied by gender and age in testing).</a:t>
            </a:r>
            <a:endParaRPr lang="en-US" sz="1050" dirty="0"/>
          </a:p>
        </p:txBody>
      </p:sp>
      <p:sp>
        <p:nvSpPr>
          <p:cNvPr id="27" name="Text 24"/>
          <p:cNvSpPr txBox="1"/>
          <p:nvPr/>
        </p:nvSpPr>
        <p:spPr>
          <a:xfrm>
            <a:off x="11505895" y="6536628"/>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BEING HONEST ABOUT THE MODEL</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this model doesn't do</a:t>
            </a:r>
            <a:endParaRPr lang="en-US" sz="3000" dirty="0"/>
          </a:p>
        </p:txBody>
      </p:sp>
      <p:sp>
        <p:nvSpPr>
          <p:cNvPr id="4" name="Shape 2"/>
          <p:cNvSpPr/>
          <p:nvPr/>
        </p:nvSpPr>
        <p:spPr>
          <a:xfrm>
            <a:off x="548640" y="1600200"/>
            <a:ext cx="5349240" cy="1508760"/>
          </a:xfrm>
          <a:prstGeom prst="roundRect">
            <a:avLst>
              <a:gd name="adj" fmla="val 5455"/>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6" name="Text 4"/>
          <p:cNvSpPr/>
          <p:nvPr/>
        </p:nvSpPr>
        <p:spPr>
          <a:xfrm>
            <a:off x="777240" y="182880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417320" y="178308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Misses over half of defaulters</a:t>
            </a:r>
            <a:endParaRPr lang="en-US" sz="1300" dirty="0"/>
          </a:p>
        </p:txBody>
      </p:sp>
      <p:sp>
        <p:nvSpPr>
          <p:cNvPr id="8" name="Text 6"/>
          <p:cNvSpPr/>
          <p:nvPr/>
        </p:nvSpPr>
        <p:spPr>
          <a:xfrm>
            <a:off x="777240" y="237744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At the current threshold, recall is 44.8% - meaning about 55% of true defaulters are still missed.</a:t>
            </a:r>
            <a:endParaRPr lang="en-US" sz="1050" dirty="0"/>
          </a:p>
        </p:txBody>
      </p:sp>
      <p:sp>
        <p:nvSpPr>
          <p:cNvPr id="9" name="Shape 7"/>
          <p:cNvSpPr/>
          <p:nvPr/>
        </p:nvSpPr>
        <p:spPr>
          <a:xfrm>
            <a:off x="6080760" y="1600200"/>
            <a:ext cx="5349240" cy="1508760"/>
          </a:xfrm>
          <a:prstGeom prst="roundRect">
            <a:avLst>
              <a:gd name="adj" fmla="val 5455"/>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1" name="Text 9"/>
          <p:cNvSpPr/>
          <p:nvPr/>
        </p:nvSpPr>
        <p:spPr>
          <a:xfrm>
            <a:off x="6309360" y="182880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6949440" y="178308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Flags some good applicants</a:t>
            </a:r>
            <a:endParaRPr lang="en-US" sz="1300" dirty="0"/>
          </a:p>
        </p:txBody>
      </p:sp>
      <p:sp>
        <p:nvSpPr>
          <p:cNvPr id="13" name="Text 11"/>
          <p:cNvSpPr/>
          <p:nvPr/>
        </p:nvSpPr>
        <p:spPr>
          <a:xfrm>
            <a:off x="6309360" y="237744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Precision of 28% means most flagged applicants still turn out to be non-defaulters -  a signal, not a verdict.</a:t>
            </a:r>
            <a:endParaRPr lang="en-US" sz="1050" dirty="0"/>
          </a:p>
        </p:txBody>
      </p:sp>
      <p:sp>
        <p:nvSpPr>
          <p:cNvPr id="14" name="Shape 12"/>
          <p:cNvSpPr/>
          <p:nvPr/>
        </p:nvSpPr>
        <p:spPr>
          <a:xfrm>
            <a:off x="548640" y="3246120"/>
            <a:ext cx="5349240" cy="1508760"/>
          </a:xfrm>
          <a:prstGeom prst="roundRect">
            <a:avLst>
              <a:gd name="adj" fmla="val 545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6" name="Text 14"/>
          <p:cNvSpPr/>
          <p:nvPr/>
        </p:nvSpPr>
        <p:spPr>
          <a:xfrm>
            <a:off x="777240" y="347472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417320" y="342900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Threshold reflects assumed costs</a:t>
            </a:r>
            <a:endParaRPr lang="en-US" sz="1300" dirty="0"/>
          </a:p>
        </p:txBody>
      </p:sp>
      <p:sp>
        <p:nvSpPr>
          <p:cNvPr id="18" name="Text 16"/>
          <p:cNvSpPr/>
          <p:nvPr/>
        </p:nvSpPr>
        <p:spPr>
          <a:xfrm>
            <a:off x="777240" y="402336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The 1:5 cost ratio is a business assumption. Real costs may differ and should be revisited.</a:t>
            </a:r>
            <a:endParaRPr lang="en-US" sz="1050" dirty="0"/>
          </a:p>
        </p:txBody>
      </p:sp>
      <p:sp>
        <p:nvSpPr>
          <p:cNvPr id="19" name="Shape 17"/>
          <p:cNvSpPr/>
          <p:nvPr/>
        </p:nvSpPr>
        <p:spPr>
          <a:xfrm>
            <a:off x="6080760" y="3246120"/>
            <a:ext cx="5349240" cy="1508760"/>
          </a:xfrm>
          <a:prstGeom prst="roundRect">
            <a:avLst>
              <a:gd name="adj" fmla="val 5455"/>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1" name="Text 19"/>
          <p:cNvSpPr/>
          <p:nvPr/>
        </p:nvSpPr>
        <p:spPr>
          <a:xfrm>
            <a:off x="6309360" y="347472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6949440" y="342900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Trained on historical data</a:t>
            </a:r>
            <a:endParaRPr lang="en-US" sz="1300" dirty="0"/>
          </a:p>
        </p:txBody>
      </p:sp>
      <p:sp>
        <p:nvSpPr>
          <p:cNvPr id="23" name="Text 21"/>
          <p:cNvSpPr/>
          <p:nvPr/>
        </p:nvSpPr>
        <p:spPr>
          <a:xfrm>
            <a:off x="6309360" y="402336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Future applicants and economic conditions may not match the patterns in the training data.</a:t>
            </a:r>
            <a:endParaRPr lang="en-US" sz="1050" dirty="0"/>
          </a:p>
        </p:txBody>
      </p:sp>
      <p:sp>
        <p:nvSpPr>
          <p:cNvPr id="26" name="Text 24"/>
          <p:cNvSpPr/>
          <p:nvPr/>
        </p:nvSpPr>
        <p:spPr>
          <a:xfrm>
            <a:off x="777240" y="5120640"/>
            <a:ext cx="457200" cy="457200"/>
          </a:xfrm>
          <a:prstGeom prst="rect">
            <a:avLst/>
          </a:prstGeom>
          <a:noFill/>
          <a:ln/>
        </p:spPr>
        <p:txBody>
          <a:bodyPr wrap="square" rtlCol="0" anchor="ctr"/>
          <a:lstStyle/>
          <a:p>
            <a:pPr marL="0" indent="0" algn="ctr">
              <a:buNone/>
            </a:pPr>
            <a:endParaRPr lang="en-US" sz="2000" dirty="0"/>
          </a:p>
        </p:txBody>
      </p:sp>
      <p:sp>
        <p:nvSpPr>
          <p:cNvPr id="29" name="Shape 27"/>
          <p:cNvSpPr/>
          <p:nvPr/>
        </p:nvSpPr>
        <p:spPr>
          <a:xfrm>
            <a:off x="2834640" y="4983480"/>
            <a:ext cx="5349240" cy="1508760"/>
          </a:xfrm>
          <a:prstGeom prst="roundRect">
            <a:avLst>
              <a:gd name="adj" fmla="val 5455"/>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1" name="Text 29"/>
          <p:cNvSpPr/>
          <p:nvPr/>
        </p:nvSpPr>
        <p:spPr>
          <a:xfrm>
            <a:off x="6309360" y="512064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4321650" y="502920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Explains patterns, not causes</a:t>
            </a:r>
            <a:endParaRPr lang="en-US" sz="1300" dirty="0"/>
          </a:p>
        </p:txBody>
      </p:sp>
      <p:sp>
        <p:nvSpPr>
          <p:cNvPr id="33" name="Text 31"/>
          <p:cNvSpPr/>
          <p:nvPr/>
        </p:nvSpPr>
        <p:spPr>
          <a:xfrm>
            <a:off x="3291840" y="562356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SHAP shows what influences a prediction, not proof that a factor directly causes default.</a:t>
            </a:r>
            <a:endParaRPr lang="en-US" sz="1050" dirty="0"/>
          </a:p>
        </p:txBody>
      </p:sp>
      <p:sp>
        <p:nvSpPr>
          <p:cNvPr id="35" name="Text 3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25</a:t>
            </a:r>
            <a:endParaRPr lang="en-US" sz="900" dirty="0"/>
          </a:p>
        </p:txBody>
      </p:sp>
    </p:spTree>
    <p:extLst>
      <p:ext uri="{BB962C8B-B14F-4D97-AF65-F5344CB8AC3E}">
        <p14:creationId xmlns:p14="http://schemas.microsoft.com/office/powerpoint/2010/main" val="2002354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52543"/>
        </a:solidFill>
        <a:effectLst/>
      </p:bgPr>
    </p:bg>
    <p:spTree>
      <p:nvGrpSpPr>
        <p:cNvPr id="1" name=""/>
        <p:cNvGrpSpPr/>
        <p:nvPr/>
      </p:nvGrpSpPr>
      <p:grpSpPr>
        <a:xfrm>
          <a:off x="0" y="0"/>
          <a:ext cx="0" cy="0"/>
          <a:chOff x="0" y="0"/>
          <a:chExt cx="0" cy="0"/>
        </a:xfrm>
      </p:grpSpPr>
      <p:sp>
        <p:nvSpPr>
          <p:cNvPr id="4" name="Text 2"/>
          <p:cNvSpPr txBox="1"/>
          <p:nvPr/>
        </p:nvSpPr>
        <p:spPr>
          <a:xfrm>
            <a:off x="457200" y="502920"/>
            <a:ext cx="7315200" cy="274320"/>
          </a:xfrm>
          <a:prstGeom prst="rect">
            <a:avLst/>
          </a:prstGeom>
          <a:noFill/>
          <a:ln/>
        </p:spPr>
        <p:txBody>
          <a:bodyPr wrap="square" lIns="0" tIns="0" rIns="0" bIns="0" rtlCol="0" anchor="ctr"/>
          <a:lstStyle/>
          <a:p>
            <a:pPr marL="0" indent="0">
              <a:buNone/>
            </a:pPr>
            <a:r>
              <a:rPr lang="en-US" sz="1150" b="1" kern="0" spc="200" dirty="0">
                <a:solidFill>
                  <a:srgbClr val="8FA6E8"/>
                </a:solidFill>
                <a:latin typeface="Calibri" pitchFamily="34" charset="0"/>
                <a:ea typeface="Calibri" pitchFamily="34" charset="-122"/>
                <a:cs typeface="Calibri" pitchFamily="34" charset="-120"/>
              </a:rPr>
              <a:t>IN SUMMARY</a:t>
            </a:r>
            <a:endParaRPr lang="en-US" sz="1150" dirty="0"/>
          </a:p>
        </p:txBody>
      </p:sp>
      <p:sp>
        <p:nvSpPr>
          <p:cNvPr id="5" name="Text 3"/>
          <p:cNvSpPr txBox="1"/>
          <p:nvPr/>
        </p:nvSpPr>
        <p:spPr>
          <a:xfrm>
            <a:off x="457200" y="822960"/>
            <a:ext cx="8686800" cy="1188720"/>
          </a:xfrm>
          <a:prstGeom prst="rect">
            <a:avLst/>
          </a:prstGeom>
          <a:noFill/>
          <a:ln/>
        </p:spPr>
        <p:txBody>
          <a:bodyPr wrap="square" lIns="0" tIns="0" rIns="0" bIns="0" rtlCol="0" anchor="ctr"/>
          <a:lstStyle/>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A model that catches real risk -</a:t>
            </a:r>
            <a:endParaRPr lang="en-US" sz="3000" dirty="0"/>
          </a:p>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and explains its reasoning</a:t>
            </a:r>
            <a:endParaRPr lang="en-US" sz="3000" dirty="0"/>
          </a:p>
        </p:txBody>
      </p:sp>
      <p:sp>
        <p:nvSpPr>
          <p:cNvPr id="6" name="Shape 4"/>
          <p:cNvSpPr/>
          <p:nvPr/>
        </p:nvSpPr>
        <p:spPr>
          <a:xfrm>
            <a:off x="457200" y="2331720"/>
            <a:ext cx="2606040" cy="1600200"/>
          </a:xfrm>
          <a:prstGeom prst="roundRect">
            <a:avLst>
              <a:gd name="adj" fmla="val 4571"/>
            </a:avLst>
          </a:prstGeom>
          <a:solidFill>
            <a:srgbClr val="16204F"/>
          </a:solidFill>
          <a:ln w="12700">
            <a:solidFill>
              <a:srgbClr val="2E3970"/>
            </a:solidFill>
            <a:prstDash val="solid"/>
          </a:ln>
          <a:effectLst>
            <a:outerShdw blurRad="50800" dist="38100" dir="18900000" algn="bl" rotWithShape="0">
              <a:prstClr val="black">
                <a:alpha val="40000"/>
              </a:prstClr>
            </a:outerShdw>
          </a:effectLst>
        </p:spPr>
      </p:sp>
      <p:sp>
        <p:nvSpPr>
          <p:cNvPr id="7" name="Text 5"/>
          <p:cNvSpPr txBox="1"/>
          <p:nvPr/>
        </p:nvSpPr>
        <p:spPr>
          <a:xfrm>
            <a:off x="64008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ROC-AUC 0.79</a:t>
            </a:r>
            <a:endParaRPr lang="en-US" sz="1500" dirty="0"/>
          </a:p>
        </p:txBody>
      </p:sp>
      <p:sp>
        <p:nvSpPr>
          <p:cNvPr id="8" name="Text 6"/>
          <p:cNvSpPr txBox="1"/>
          <p:nvPr/>
        </p:nvSpPr>
        <p:spPr>
          <a:xfrm>
            <a:off x="64008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Solid ability to separate risky from safe applicants</a:t>
            </a:r>
            <a:endParaRPr lang="en-US" sz="1000" dirty="0"/>
          </a:p>
        </p:txBody>
      </p:sp>
      <p:sp>
        <p:nvSpPr>
          <p:cNvPr id="9" name="Shape 7"/>
          <p:cNvSpPr/>
          <p:nvPr/>
        </p:nvSpPr>
        <p:spPr>
          <a:xfrm>
            <a:off x="3246120" y="2331720"/>
            <a:ext cx="2606040" cy="1600200"/>
          </a:xfrm>
          <a:prstGeom prst="roundRect">
            <a:avLst>
              <a:gd name="adj" fmla="val 4571"/>
            </a:avLst>
          </a:prstGeom>
          <a:solidFill>
            <a:srgbClr val="16204F"/>
          </a:solidFill>
          <a:ln w="12700">
            <a:solidFill>
              <a:srgbClr val="2E3970"/>
            </a:solidFill>
            <a:prstDash val="solid"/>
          </a:ln>
          <a:effectLst>
            <a:outerShdw blurRad="50800" dist="38100" dir="18900000" algn="bl" rotWithShape="0">
              <a:prstClr val="black">
                <a:alpha val="40000"/>
              </a:prstClr>
            </a:outerShdw>
          </a:effectLst>
        </p:spPr>
      </p:sp>
      <p:sp>
        <p:nvSpPr>
          <p:cNvPr id="10" name="Text 8"/>
          <p:cNvSpPr txBox="1"/>
          <p:nvPr/>
        </p:nvSpPr>
        <p:spPr>
          <a:xfrm>
            <a:off x="342900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44.8% recall</a:t>
            </a:r>
            <a:endParaRPr lang="en-US" sz="1500" dirty="0"/>
          </a:p>
        </p:txBody>
      </p:sp>
      <p:sp>
        <p:nvSpPr>
          <p:cNvPr id="11" name="Text 9"/>
          <p:cNvSpPr txBox="1"/>
          <p:nvPr/>
        </p:nvSpPr>
        <p:spPr>
          <a:xfrm>
            <a:off x="342900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Nearly half of all true defaulters correctly flagged</a:t>
            </a:r>
            <a:endParaRPr lang="en-US" sz="1000" dirty="0"/>
          </a:p>
        </p:txBody>
      </p:sp>
      <p:sp>
        <p:nvSpPr>
          <p:cNvPr id="12" name="Shape 10"/>
          <p:cNvSpPr/>
          <p:nvPr/>
        </p:nvSpPr>
        <p:spPr>
          <a:xfrm>
            <a:off x="6035040" y="2331720"/>
            <a:ext cx="2606040" cy="1600200"/>
          </a:xfrm>
          <a:prstGeom prst="roundRect">
            <a:avLst>
              <a:gd name="adj" fmla="val 4571"/>
            </a:avLst>
          </a:prstGeom>
          <a:solidFill>
            <a:srgbClr val="16204F"/>
          </a:solidFill>
          <a:ln w="12700">
            <a:solidFill>
              <a:srgbClr val="2E3970"/>
            </a:solidFill>
            <a:prstDash val="solid"/>
          </a:ln>
          <a:effectLst>
            <a:outerShdw blurRad="50800" dist="38100" dir="18900000" algn="bl" rotWithShape="0">
              <a:prstClr val="black">
                <a:alpha val="40000"/>
              </a:prstClr>
            </a:outerShdw>
          </a:effectLst>
        </p:spPr>
      </p:sp>
      <p:sp>
        <p:nvSpPr>
          <p:cNvPr id="13" name="Text 11"/>
          <p:cNvSpPr txBox="1"/>
          <p:nvPr/>
        </p:nvSpPr>
        <p:spPr>
          <a:xfrm>
            <a:off x="621792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Fully explainable</a:t>
            </a:r>
            <a:endParaRPr lang="en-US" sz="1500" dirty="0"/>
          </a:p>
        </p:txBody>
      </p:sp>
      <p:sp>
        <p:nvSpPr>
          <p:cNvPr id="14" name="Text 12"/>
          <p:cNvSpPr txBox="1"/>
          <p:nvPr/>
        </p:nvSpPr>
        <p:spPr>
          <a:xfrm>
            <a:off x="621792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Every score traces back to concrete SHAP factors</a:t>
            </a:r>
            <a:endParaRPr lang="en-US" sz="1000" dirty="0"/>
          </a:p>
        </p:txBody>
      </p:sp>
      <p:sp>
        <p:nvSpPr>
          <p:cNvPr id="15" name="Shape 13"/>
          <p:cNvSpPr/>
          <p:nvPr/>
        </p:nvSpPr>
        <p:spPr>
          <a:xfrm>
            <a:off x="8823960" y="2331720"/>
            <a:ext cx="2606040" cy="1600200"/>
          </a:xfrm>
          <a:prstGeom prst="roundRect">
            <a:avLst>
              <a:gd name="adj" fmla="val 4571"/>
            </a:avLst>
          </a:prstGeom>
          <a:solidFill>
            <a:srgbClr val="16204F"/>
          </a:solidFill>
          <a:ln w="12700">
            <a:solidFill>
              <a:srgbClr val="2E3970"/>
            </a:solidFill>
            <a:prstDash val="solid"/>
          </a:ln>
          <a:effectLst>
            <a:outerShdw blurRad="50800" dist="38100" dir="18900000" algn="bl" rotWithShape="0">
              <a:prstClr val="black">
                <a:alpha val="40000"/>
              </a:prstClr>
            </a:outerShdw>
          </a:effectLst>
        </p:spPr>
      </p:sp>
      <p:sp>
        <p:nvSpPr>
          <p:cNvPr id="16" name="Text 14"/>
          <p:cNvSpPr txBox="1"/>
          <p:nvPr/>
        </p:nvSpPr>
        <p:spPr>
          <a:xfrm>
            <a:off x="900684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Live in the app</a:t>
            </a:r>
            <a:endParaRPr lang="en-US" sz="1500" dirty="0"/>
          </a:p>
        </p:txBody>
      </p:sp>
      <p:sp>
        <p:nvSpPr>
          <p:cNvPr id="17" name="Text 15"/>
          <p:cNvSpPr txBox="1"/>
          <p:nvPr/>
        </p:nvSpPr>
        <p:spPr>
          <a:xfrm>
            <a:off x="900684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Same model &amp; threshold power the Streamlit demo</a:t>
            </a:r>
            <a:endParaRPr lang="en-US" sz="1000" dirty="0"/>
          </a:p>
        </p:txBody>
      </p:sp>
      <p:sp>
        <p:nvSpPr>
          <p:cNvPr id="18" name="Text 16"/>
          <p:cNvSpPr txBox="1"/>
          <p:nvPr/>
        </p:nvSpPr>
        <p:spPr>
          <a:xfrm>
            <a:off x="457200" y="4160520"/>
            <a:ext cx="11274552" cy="457200"/>
          </a:xfrm>
          <a:prstGeom prst="rect">
            <a:avLst/>
          </a:prstGeom>
          <a:noFill/>
          <a:ln/>
        </p:spPr>
        <p:txBody>
          <a:bodyPr wrap="square" lIns="0" tIns="0" rIns="0" bIns="0" rtlCol="0" anchor="ctr"/>
          <a:lstStyle/>
          <a:p>
            <a:pPr marL="0" indent="0">
              <a:lnSpc>
                <a:spcPts val="1500"/>
              </a:lnSpc>
              <a:buNone/>
            </a:pPr>
            <a:r>
              <a:rPr lang="en-US" sz="1250" b="1" dirty="0">
                <a:solidFill>
                  <a:srgbClr val="FFFFFF"/>
                </a:solidFill>
                <a:latin typeface="Calibri" pitchFamily="34" charset="0"/>
                <a:ea typeface="Calibri" pitchFamily="34" charset="-122"/>
                <a:cs typeface="Calibri" pitchFamily="34" charset="-120"/>
              </a:rPr>
              <a:t>Business cost at 0.15:  </a:t>
            </a:r>
            <a:r>
              <a:rPr lang="en-US" sz="1250" dirty="0">
                <a:solidFill>
                  <a:srgbClr val="C7CEEA"/>
                </a:solidFill>
                <a:latin typeface="Calibri" pitchFamily="34" charset="0"/>
                <a:ea typeface="Calibri" pitchFamily="34" charset="-122"/>
                <a:cs typeface="Calibri" pitchFamily="34" charset="-120"/>
              </a:rPr>
              <a:t>19,379 total cost units on 61,503 applicants - 0.15 was chosen as the lowest-cost of ten thresholds tested (0.01-0.50) on the calibration fold.</a:t>
            </a:r>
            <a:endParaRPr lang="en-US" sz="1250" dirty="0"/>
          </a:p>
        </p:txBody>
      </p:sp>
      <p:sp>
        <p:nvSpPr>
          <p:cNvPr id="20" name="Shape 18"/>
          <p:cNvSpPr/>
          <p:nvPr/>
        </p:nvSpPr>
        <p:spPr>
          <a:xfrm>
            <a:off x="457200" y="5349240"/>
            <a:ext cx="2377440" cy="0"/>
          </a:xfrm>
          <a:prstGeom prst="line">
            <a:avLst/>
          </a:prstGeom>
          <a:noFill/>
          <a:ln w="25400">
            <a:solidFill>
              <a:srgbClr val="0F9D8A"/>
            </a:solidFill>
            <a:prstDash val="solid"/>
          </a:ln>
        </p:spPr>
      </p:sp>
      <p:sp>
        <p:nvSpPr>
          <p:cNvPr id="21" name="Text 19"/>
          <p:cNvSpPr txBox="1"/>
          <p:nvPr/>
        </p:nvSpPr>
        <p:spPr>
          <a:xfrm>
            <a:off x="457200" y="548640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Thank you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1237</TotalTime>
  <Words>4427</Words>
  <Application>Microsoft Office PowerPoint</Application>
  <PresentationFormat>Widescreen</PresentationFormat>
  <Paragraphs>709</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Prisca Mutua</cp:lastModifiedBy>
  <cp:revision>34</cp:revision>
  <dcterms:created xsi:type="dcterms:W3CDTF">2026-08-27T14:32:27Z</dcterms:created>
  <dcterms:modified xsi:type="dcterms:W3CDTF">2026-09-12T07:21:51Z</dcterms:modified>
</cp:coreProperties>
</file>